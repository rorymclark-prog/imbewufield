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M-D2-S0. Short circle: register, 3 voices, Pass the Clap, today's route sheet and any host changes.</a:t>
            </a:r>
          </a:p>
          <a:p/>
          <a:p>
            <a:r>
              <a:t>Picture M-IMG-01 (coming) — Mentor and farmer at the gate: Cover image for all decks. Early morning; the mentor greets the farmer at a wire-and- dropper garden gate, both smiling, a vegetable garden behind with mulched beds and a JoJo-style tank beside a corrugated-iron roof. Sun low in the north-east, long shadows falling south-west. 16:9, 1920 × 1080, space on the left third for the slide title.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M-D2-S1 steps 1–2. "Hold up your hand — what are the five steps?" The thumb goes first: it shows respect for what the farmer planned.</a:t>
            </a:r>
          </a:p>
          <a:p/>
          <a:p>
            <a:r>
              <a:t>Poster: M-P07</a:t>
            </a:r>
          </a:p>
          <a:p>
            <a:r>
              <a:t>Picture M-P07-ART (coming) — Artwork for M-P07 · The Visit Hand: A large open hand (brown skin tone, palm towards viewer, fingers spread). In each fingertip a small round scene: thumb — mentor and farmer looking at a mulched bed together (look back); pointing finger — the pair walking between beds, farmer pointing; middle finger (tallest) — the pair sitting in shade talking; ring finger — both kneeling, farmer's hands planting; little finger — handshake with a notebook. Palm: a simple garden seen from above.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M-D2-S1 step 2 table. Opening words for each finger are on the A5 card. 45-minute version: 5 · 10 · 5 · 15 · 10.</a:t>
            </a:r>
          </a:p>
          <a:p/>
          <a:p>
            <a:r>
              <a:t>Poster: M-P07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M-D2-S1 step 3. Timekeeper calls each finger. The "farmer" uses a real memory of a garden.</a:t>
            </a:r>
          </a:p>
          <a:p/>
          <a:p>
            <a:r>
              <a:t>Poster: M-P07</a:t>
            </a:r>
          </a:p>
          <a:p>
            <a:r>
              <a:t>Clip M-ANI-07: public/course-media/mentor-3day/M-ANI-07.mp4</a:t>
            </a:r>
          </a:p>
          <a:p>
            <a:r>
              <a:t>Picture M-ANI-07 (coming) — Looking at soil: Hands dig a spade-deep square of garden soil, lift it and crumble it: dark crumbs, fine roots, an earthworm, fungus threads. Beside it a pale hard lump from a path cracks apart with nothing living in it. Slow side-by-side comparison. (Replaces the withdrawn clip `soil-health/tour-soil-observation.mp4`.)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M-D2-S1 step 4. Point to the spacing check (F-P15) and the Course 1 skills (★). Full list: visit-playbook.md §5.</a:t>
            </a:r>
          </a:p>
          <a:p/>
          <a:p>
            <a:r>
              <a:t>Poster: M-P08</a:t>
            </a:r>
          </a:p>
          <a:p>
            <a:r>
              <a:t>Also: M-IMG-14, M-IMG-12, M-IMG-15, M-ANI-06, M-ANI-08</a:t>
            </a:r>
          </a:p>
          <a:p>
            <a:r>
              <a:t>Picture M-P08-ART (coming) — Artwork for M-P08 · What to look at, stage by stage: One garden drawn six times in a row, left to right, as it changes over a season: (1) boundary pegged, beds marked, drum at the roof; (2) beds planted with a spacing string laid along one row, seedlings in a tray, mulch; (3) plants growing, a person checking under leaves, a bucket of liquid manure; (4) harvest basket on a hanging scale, a family plate; (5) a bunch of spinach being handed to a buyer at a spaza counter, a notebook; (6) seed drying on a sack, jars, the mentor photographing the garden from the same spot as panel 1. Sun in the north in every panel.</a:t>
            </a:r>
          </a:p>
          <a:p>
            <a:r>
              <a:t>Clip M-ANI-06: public/course-media/mentor-3day/M-ANI-06.mp4</a:t>
            </a:r>
          </a:p>
          <a:p>
            <a:r>
              <a:t>Picture M-ANI-06 (coming) — Where surplus goes: A basket of harvested vegetables at a homestead; paths lead to three destinations one by one: the family table, a neighbour at the fence, and a small roadside table where a buyer hands over plain generic money (no real currency). (Replaces the withdrawn clip `market-community/watch-09-surplus-routes.mp4`.)</a:t>
            </a:r>
          </a:p>
          <a:p>
            <a:r>
              <a:t>Clip M-ANI-08: public/course-animations/seeds-sovereignty/seed-selecting-parents.mp4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M-D2-S1 [APP] block, 25 min. Thumb → Completed on + Completion evidence. Pointing → Observations and issues, photos, site location. Middle → Support requested + support area. Ring → Skill observed + Observation result. Little → Agreed action, Responsible person, Follow-up date. Practice records only.</a:t>
            </a:r>
          </a:p>
          <a:p/>
          <a:p>
            <a:r>
              <a:t>Poster: M-P14</a:t>
            </a:r>
          </a:p>
          <a:p>
            <a:r>
              <a:t>Picture M-P14-ART (coming) — Artwork for M-P14 · Two tracks, same records: A path that splits around a tree into two lanes and joins again. Left lane: the youth holds a smartphone (screen blank), showing it to the gogo farmer. Right lane: the gogo writes in an exercise book with a pencil; an envelope of slips and a carbon invoice book beside her. Both lanes pass the same four objects: a hanging scale with a bunch of spinach, a till slip, a bunch handed to a buyer, a small bar chart shape. They meet at a garden gate where the mentor waits.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M-D2-S1 [PAPER] block, 25 min, same time as the app block. Pairs fill the form from the rehearsal; copy the bottom box onto the farmer's card; swap forms — could a stranger understand it?</a:t>
            </a:r>
          </a:p>
          <a:p/>
          <a:p>
            <a:r>
              <a:t>Poster: M-P14</a:t>
            </a:r>
          </a:p>
          <a:p>
            <a:r>
              <a:t>Picture M-P14-ART (coming) — Artwork for M-P14 · Two tracks, same records: A path that splits around a tree into two lanes and joins again. Left lane: the youth holds a smartphone (screen blank), showing it to the gogo farmer. Right lane: the gogo writes in an exercise book with a pencil; an envelope of slips and a carbon invoice book beside her. Both lanes pass the same four objects: a hanging scale with a bunch of spinach, a till slip, a bunch handed to a buyer, a small bar chart shape. They meet at a garden gate where the mentor waits.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M-D2-S1 step 6, the trio briefing card. Arrive 10:35–10:40, leave by 11:40, huddle away from the house, pick-up 11:45. Anything worrying: leave politely and phone the lead.</a:t>
            </a:r>
          </a:p>
          <a:p/>
          <a:p>
            <a:r>
              <a:t>Poster: M-P07</a:t>
            </a:r>
          </a:p>
          <a:p>
            <a:r>
              <a:t>Also: M-IMG-05</a:t>
            </a:r>
          </a:p>
          <a:p>
            <a:r>
              <a:t>Picture M-IMG-04 (coming) — A trio arrives at a farm: Three mentors-in-training (a young woman, an older man, a young man) waiting politely at a farmer's gate; one waves; the farmer walks towards them from the garden; a dog sits calmly by the gate. 16:9.</a:t>
            </a:r>
          </a:p>
          <a:p>
            <a:r>
              <a:t>Picture M-IMG-05 (coming) — The observer stands back: In a garden: the mentor and the gogo kneel planting seedlings together (the gogo's hands on the plant); a recorder writes in a notebook nearby; an observer stands 3 m back with a clipboard, watching the gogo's face. 16:9.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M-D2-S2. Facilitators visit 3–4 trios each, stand back, tick their own checklist, hand over the programme's thank-you pack. Host cancels: spare host → join another trio → role-play garden.</a:t>
            </a:r>
          </a:p>
          <a:p/>
          <a:p>
            <a:r>
              <a:t>Poster: M-P07</a:t>
            </a:r>
          </a:p>
          <a:p>
            <a:r>
              <a:t>Also: M-PHO-01</a:t>
            </a:r>
          </a:p>
          <a:p>
            <a:r>
              <a:t>Picture M-IMG-04 (coming) — A trio arrives at a farm: Three mentors-in-training (a young woman, an older man, a young man) waiting politely at a farmer's gate; one waves; the farmer walks towards them from the garden; a dog sits calmly by the gate. 16:9.</a:t>
            </a:r>
          </a:p>
          <a:p>
            <a:r>
              <a:t>Picture M-PHO-01 (coming) — A real observed farm visit: On a Day 2 farm visit (host and trainees consent in writing): a wide shot of a trio at work in a host garden — the farmer's hands on the task, the observer standing back. No children. Landscape, natural light, faces optional (backs and hands are fine). Replaces M-IMG-05 when available.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M-D2-S3. Trainee teams: 1 welcome &amp; register, 2–4 stations, 5 the share circle. The host teaches first — positive deviance: same soil, same rain, doing well. Find out how.</a:t>
            </a:r>
          </a:p>
          <a:p/>
          <a:p>
            <a:r>
              <a:t>Poster: M-P11</a:t>
            </a:r>
          </a:p>
          <a:p>
            <a:r>
              <a:t>Also: M-ANI-04</a:t>
            </a:r>
          </a:p>
          <a:p>
            <a:r>
              <a:t>Picture M-P11-ART (coming) — Artwork for M-P11 · The cluster visit: A host farmer's garden with 10 farmers of mixed ages and genders. In one corner the host gogo leads a tour, pointing at a mulched bed; in the middle, three small groups of 3–4 kneeling at different stations (spacing string, seedling tray, a bucket); at the front, everyone sitting in a circle in the shade of a tree; the mentor sits in the circle, not standing. A cable-tied poster shape on the fence (blank).</a:t>
            </a:r>
          </a:p>
          <a:p>
            <a:r>
              <a:t>Clip M-ANI-04: public/course-media/mentor-3day/M-ANI-04.mp4</a:t>
            </a:r>
          </a:p>
          <a:p>
            <a:r>
              <a:t>Picture M-ANI-04 (coming) — Farmers linked in a network: Several homestead gardens on a hillside light up one by one and are joined by footpaths; people walk between them carrying seed packets, seedlings and tools; a group gathers in a circle at one host garden. (Replaces the withdrawn clip `market-community/watch-14-community-network.mp4`.)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M-D2-S3 steps 4–6. Farmers rotate in 3s–4s. In the circle, ask "Who has tried something for that?" before you answer. Each farmer says one action aloud; agree the next host.</a:t>
            </a:r>
          </a:p>
          <a:p/>
          <a:p>
            <a:r>
              <a:t>Poster: M-P11</a:t>
            </a:r>
          </a:p>
          <a:p>
            <a:r>
              <a:t>Also: M-PHO-02</a:t>
            </a:r>
          </a:p>
          <a:p>
            <a:r>
              <a:t>Clip M-ANI-09: public/course-animations/market-community/flow-seed-sharing.mp4</a:t>
            </a:r>
          </a:p>
          <a:p>
            <a:r>
              <a:t>Picture M-PHO-02 (coming) — A real cluster visit circle: The share circle at a cluster visit, taken from outside the circle, all participants consenting (green-sticker holders out of frame). Landscape. Replaces M-P11-ART on the slide when available.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M-D2-S3 debrief at the site, 3 minutes, trainees only.</a:t>
            </a:r>
          </a:p>
          <a:p/>
          <a:p>
            <a:r>
              <a:t>Poster: M-P11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M-D2-S4 step 1. Rain Storm energiser first. Talk privately about any visit that went badly; nothing distressing is discussed in the room.</a:t>
            </a:r>
          </a:p>
          <a:p/>
          <a:p>
            <a:r>
              <a:t>Poster: M-P07</a:t>
            </a:r>
          </a:p>
          <a:p>
            <a:r>
              <a:t>Picture M-IMG-05 (coming) — The observer stands back: In a garden: the mentor and the gogo kneel planting seedlings together (the gogo's hands on the plant); a recorder writes in a notebook nearby; an observer stands 3 m back with a clipboard, watching the gogo's face. 16:9.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M-D2-S4 steps 2–3. Usually the ring finger (coaching) and the middle (advice too soon) get ochre dots. "I don't know — let's find out together" is a strong answer.</a:t>
            </a:r>
          </a:p>
          <a:p/>
          <a:p>
            <a:r>
              <a:t>Poster: M-P07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M-D2-S4 steps 4–5 and key messages. Review 3 action agreements. Then the closing circle: bring your farmer list and a rough map tomorrow.</a:t>
            </a:r>
          </a:p>
          <a:p/>
          <a:p>
            <a:r>
              <a:t>Poster: M-P06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34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457200"/>
            <a:ext cx="11003280" cy="10972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530352"/>
            <a:ext cx="11003280" cy="10972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94360" y="6291072"/>
            <a:ext cx="11003280" cy="10972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" y="6364224"/>
            <a:ext cx="11003280" cy="10972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A8A9AA"/>
                </a:solidFill>
                <a:latin typeface="Calibri"/>
              </a:rPr>
              <a:t>Walking With Farmers  ·  M-D2-01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A8A9AA"/>
                </a:solidFill>
                <a:latin typeface="Calibri"/>
              </a:rPr>
              <a:t>1 / 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960120"/>
            <a:ext cx="6400800" cy="3657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C7C6C4"/>
                </a:solidFill>
                <a:latin typeface="Calibri"/>
              </a:rPr>
              <a:t>DAY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371600"/>
            <a:ext cx="6400800" cy="2103120"/>
          </a:xfrm>
          <a:prstGeom prst="rect">
            <a:avLst/>
          </a:prstGeom>
          <a:noFill/>
        </p:spPr>
        <p:txBody>
          <a:bodyPr wrap="square" anchor="b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5400" b="1">
                <a:solidFill>
                  <a:srgbClr val="FAF7F0"/>
                </a:solidFill>
                <a:latin typeface="Georgia"/>
              </a:rPr>
              <a:t>Day 2: the farm visit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3639312"/>
            <a:ext cx="1463040" cy="91440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931920"/>
            <a:ext cx="6400800" cy="16459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0">
                <a:solidFill>
                  <a:srgbClr val="DBDAD6"/>
                </a:solidFill>
                <a:latin typeface="Calibri"/>
              </a:rPr>
              <a:t>Walking With Farmers</a:t>
            </a:r>
          </a:p>
          <a:p>
            <a:pPr algn="l">
              <a:spcAft>
                <a:spcPts val="800"/>
              </a:spcAft>
            </a:pPr>
            <a:r>
              <a:rPr sz="2400" b="0">
                <a:solidFill>
                  <a:srgbClr val="DBDAD6"/>
                </a:solidFill>
                <a:latin typeface="Calibri"/>
              </a:rPr>
              <a:t>Day 2 of 3: the farm visit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34656" y="1014984"/>
            <a:ext cx="4114800" cy="4206240"/>
          </a:xfrm>
          <a:prstGeom prst="rect">
            <a:avLst/>
          </a:prstGeom>
          <a:solidFill>
            <a:srgbClr val="C4C2BD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452360" y="914400"/>
            <a:ext cx="4114800" cy="4206240"/>
          </a:xfrm>
          <a:prstGeom prst="rect">
            <a:avLst/>
          </a:prstGeom>
          <a:solidFill>
            <a:srgbClr val="FFFFFF"/>
          </a:solidFill>
          <a:ln w="9525">
            <a:solidFill>
              <a:srgbClr val="CFCD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098280" y="1947672"/>
            <a:ext cx="822960" cy="822960"/>
          </a:xfrm>
          <a:prstGeom prst="rect">
            <a:avLst/>
          </a:prstGeom>
          <a:noFill/>
          <a:ln w="25400">
            <a:solidFill>
              <a:srgbClr val="E698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98280" y="1947672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E08154"/>
                </a:solidFill>
                <a:latin typeface="Calibri"/>
              </a:rPr>
              <a:t>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72984" y="2953512"/>
            <a:ext cx="3273552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444343"/>
                </a:solidFill>
                <a:latin typeface="Georgia"/>
              </a:rPr>
              <a:t>Mentor and farmer at the gate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72984" y="4297680"/>
            <a:ext cx="3273552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PICTURE · M-IMG-01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6272784"/>
            <a:ext cx="123748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6E9C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272784"/>
            <a:ext cx="123748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6E9CC4"/>
                </a:solidFill>
                <a:latin typeface="Calibri"/>
              </a:rPr>
              <a:t>POSTER M-P07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900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Walking With Farmers  ·  M-D2-02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2 /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572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D9622B"/>
                </a:solidFill>
                <a:latin typeface="Calibri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804672"/>
            <a:ext cx="1100328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232323"/>
                </a:solidFill>
                <a:latin typeface="Georgia"/>
              </a:rPr>
              <a:t>The Visit Hand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539240"/>
            <a:ext cx="11003280" cy="10972"/>
          </a:xfrm>
          <a:prstGeom prst="rect">
            <a:avLst/>
          </a:prstGeom>
          <a:solidFill>
            <a:srgbClr val="BAB7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905000"/>
            <a:ext cx="5074920" cy="408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9622B"/>
                </a:solidFill>
                <a:latin typeface="Calibri"/>
              </a:rPr>
              <a:t>—  </a:t>
            </a:r>
            <a:r>
              <a:rPr sz="2600" b="0">
                <a:solidFill>
                  <a:srgbClr val="232323"/>
                </a:solidFill>
                <a:latin typeface="Calibri"/>
              </a:rPr>
              <a:t>Look back · Walk &amp; look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9622B"/>
                </a:solidFill>
                <a:latin typeface="Calibri"/>
              </a:rPr>
              <a:t>—  </a:t>
            </a:r>
            <a:r>
              <a:rPr sz="2600" b="0">
                <a:solidFill>
                  <a:srgbClr val="232323"/>
                </a:solidFill>
                <a:latin typeface="Calibri"/>
              </a:rPr>
              <a:t>Listen &amp; ask · Try it together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9622B"/>
                </a:solidFill>
                <a:latin typeface="Calibri"/>
              </a:rPr>
              <a:t>—  </a:t>
            </a:r>
            <a:r>
              <a:rPr sz="2600" b="0">
                <a:solidFill>
                  <a:srgbClr val="232323"/>
                </a:solidFill>
                <a:latin typeface="Calibri"/>
              </a:rPr>
              <a:t>Agree &amp; record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71616" y="1914144"/>
            <a:ext cx="5608320" cy="4130040"/>
          </a:xfrm>
          <a:prstGeom prst="rect">
            <a:avLst/>
          </a:prstGeom>
          <a:solidFill>
            <a:srgbClr val="C4C2BD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89320" y="1813560"/>
            <a:ext cx="5608320" cy="4130040"/>
          </a:xfrm>
          <a:prstGeom prst="rect">
            <a:avLst/>
          </a:prstGeom>
          <a:solidFill>
            <a:srgbClr val="FFFFFF"/>
          </a:solidFill>
          <a:ln w="9525">
            <a:solidFill>
              <a:srgbClr val="CFCD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382000" y="2808732"/>
            <a:ext cx="822960" cy="822960"/>
          </a:xfrm>
          <a:prstGeom prst="rect">
            <a:avLst/>
          </a:prstGeom>
          <a:noFill/>
          <a:ln w="25400">
            <a:solidFill>
              <a:srgbClr val="E698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82000" y="2808732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E08154"/>
                </a:solidFill>
                <a:latin typeface="Calibri"/>
              </a:rPr>
              <a:t>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9944" y="3814572"/>
            <a:ext cx="4767072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444343"/>
                </a:solidFill>
                <a:latin typeface="Georgia"/>
              </a:rPr>
              <a:t>Artwork for M-P07 · The Visit Hand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9944" y="5120640"/>
            <a:ext cx="4767072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POSTER ART · M-P07-ART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6272784"/>
            <a:ext cx="123748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6E9C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272784"/>
            <a:ext cx="123748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6E9CC4"/>
                </a:solidFill>
                <a:latin typeface="Calibri"/>
              </a:rPr>
              <a:t>POSTER M-P07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900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Walking With Farmers  ·  M-D2-03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3 /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572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D9622B"/>
                </a:solidFill>
                <a:latin typeface="Calibri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804672"/>
            <a:ext cx="1100328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232323"/>
                </a:solidFill>
                <a:latin typeface="Georgia"/>
              </a:rPr>
              <a:t>Sixty minutes, five fingers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539240"/>
            <a:ext cx="11003280" cy="10972"/>
          </a:xfrm>
          <a:prstGeom prst="rect">
            <a:avLst/>
          </a:prstGeom>
          <a:solidFill>
            <a:srgbClr val="BAB7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905000"/>
            <a:ext cx="11003280" cy="408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 marL="508000" indent="-508000">
              <a:spcAft>
                <a:spcPts val="1800"/>
              </a:spcAft>
            </a:pPr>
            <a:r>
              <a:rPr sz="3200" b="1">
                <a:solidFill>
                  <a:srgbClr val="D9622B"/>
                </a:solidFill>
                <a:latin typeface="Calibri"/>
              </a:rPr>
              <a:t>—  </a:t>
            </a:r>
            <a:r>
              <a:rPr sz="3200" b="0">
                <a:solidFill>
                  <a:srgbClr val="232323"/>
                </a:solidFill>
                <a:latin typeface="Calibri"/>
              </a:rPr>
              <a:t>10 · 15 · 10 · 15 · 10 minutes</a:t>
            </a:r>
          </a:p>
          <a:p>
            <a:pPr algn="l" marL="508000" indent="-508000">
              <a:spcAft>
                <a:spcPts val="1800"/>
              </a:spcAft>
            </a:pPr>
            <a:r>
              <a:rPr sz="3200" b="1">
                <a:solidFill>
                  <a:srgbClr val="D9622B"/>
                </a:solidFill>
                <a:latin typeface="Calibri"/>
              </a:rPr>
              <a:t>—  </a:t>
            </a:r>
            <a:r>
              <a:rPr sz="3200" b="0">
                <a:solidFill>
                  <a:srgbClr val="232323"/>
                </a:solidFill>
                <a:latin typeface="Calibri"/>
              </a:rPr>
              <a:t>Never cut ring or little finger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6272784"/>
            <a:ext cx="123748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6E9C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272784"/>
            <a:ext cx="123748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6E9CC4"/>
                </a:solidFill>
                <a:latin typeface="Calibri"/>
              </a:rPr>
              <a:t>POSTER M-P07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900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Walking With Farmers  ·  M-D2-04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4 / 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57200"/>
            <a:ext cx="1213866" cy="346710"/>
          </a:xfrm>
          <a:prstGeom prst="roundRect">
            <a:avLst>
              <a:gd name="adj" fmla="val 50000"/>
            </a:avLst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57200"/>
            <a:ext cx="1213866" cy="34671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YOUR TURN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960120"/>
            <a:ext cx="1086612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232323"/>
                </a:solidFill>
                <a:latin typeface="Georgia"/>
              </a:rPr>
              <a:t>Speed rehearsal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1694688"/>
            <a:ext cx="10866120" cy="10972"/>
          </a:xfrm>
          <a:prstGeom prst="rect">
            <a:avLst/>
          </a:prstGeom>
          <a:solidFill>
            <a:srgbClr val="BAB7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31520" y="2060448"/>
            <a:ext cx="566928" cy="566928"/>
          </a:xfrm>
          <a:prstGeom prst="ellipse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06044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Georg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2106168"/>
            <a:ext cx="4160520" cy="621792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232323"/>
                </a:solidFill>
                <a:latin typeface="Calibri"/>
              </a:rPr>
              <a:t>Pairs · 10 minutes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2773680"/>
            <a:ext cx="566928" cy="566928"/>
          </a:xfrm>
          <a:prstGeom prst="ellipse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773680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Georgia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2819400"/>
            <a:ext cx="4160520" cy="9042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232323"/>
                </a:solidFill>
                <a:latin typeface="Calibri"/>
              </a:rPr>
              <a:t>2 minutes per finger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71616" y="2069592"/>
            <a:ext cx="5608320" cy="3974592"/>
          </a:xfrm>
          <a:prstGeom prst="rect">
            <a:avLst/>
          </a:prstGeom>
          <a:solidFill>
            <a:srgbClr val="C4C2BD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989320" y="1969008"/>
            <a:ext cx="5608320" cy="3974592"/>
          </a:xfrm>
          <a:prstGeom prst="rect">
            <a:avLst/>
          </a:prstGeom>
          <a:solidFill>
            <a:srgbClr val="FFFFFF"/>
          </a:solidFill>
          <a:ln w="9525">
            <a:solidFill>
              <a:srgbClr val="CFCD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382000" y="2886456"/>
            <a:ext cx="822960" cy="822960"/>
          </a:xfrm>
          <a:prstGeom prst="ellipse">
            <a:avLst/>
          </a:prstGeom>
          <a:noFill/>
          <a:ln w="25400">
            <a:solidFill>
              <a:srgbClr val="E698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82000" y="2886456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E08154"/>
                </a:solidFill>
                <a:latin typeface="Calibri"/>
              </a:rPr>
              <a:t>▶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9944" y="3892296"/>
            <a:ext cx="4767072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444343"/>
                </a:solidFill>
                <a:latin typeface="Georgia"/>
              </a:rPr>
              <a:t>Looking at soil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9944" y="5120640"/>
            <a:ext cx="4767072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CLIP · M-ANI-07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6272784"/>
            <a:ext cx="123748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6E9C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272784"/>
            <a:ext cx="123748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6E9CC4"/>
                </a:solidFill>
                <a:latin typeface="Calibri"/>
              </a:rPr>
              <a:t>POSTER M-P08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900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Walking With Farmers  ·  M-D2-05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5 /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572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D9622B"/>
                </a:solidFill>
                <a:latin typeface="Calibri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804672"/>
            <a:ext cx="1100328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232323"/>
                </a:solidFill>
                <a:latin typeface="Georgia"/>
              </a:rPr>
              <a:t>What to look at, stage by stage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539240"/>
            <a:ext cx="11003280" cy="10972"/>
          </a:xfrm>
          <a:prstGeom prst="rect">
            <a:avLst/>
          </a:prstGeom>
          <a:solidFill>
            <a:srgbClr val="BAB7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905000"/>
            <a:ext cx="5074920" cy="408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9622B"/>
                </a:solidFill>
                <a:latin typeface="Calibri"/>
              </a:rPr>
              <a:t>—  </a:t>
            </a:r>
            <a:r>
              <a:rPr sz="2600" b="0">
                <a:solidFill>
                  <a:srgbClr val="232323"/>
                </a:solidFill>
                <a:latin typeface="Calibri"/>
              </a:rPr>
              <a:t>Baseline · planting · growth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9622B"/>
                </a:solidFill>
                <a:latin typeface="Calibri"/>
              </a:rPr>
              <a:t>—  </a:t>
            </a:r>
            <a:r>
              <a:rPr sz="2600" b="0">
                <a:solidFill>
                  <a:srgbClr val="232323"/>
                </a:solidFill>
                <a:latin typeface="Calibri"/>
              </a:rPr>
              <a:t>Harvest · selling · review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9622B"/>
                </a:solidFill>
                <a:latin typeface="Calibri"/>
              </a:rPr>
              <a:t>—  </a:t>
            </a:r>
            <a:r>
              <a:rPr sz="2600" b="0">
                <a:solidFill>
                  <a:srgbClr val="232323"/>
                </a:solidFill>
                <a:latin typeface="Calibri"/>
              </a:rPr>
              <a:t>Pick 3–5 checks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71616" y="1914144"/>
            <a:ext cx="5608320" cy="4130040"/>
          </a:xfrm>
          <a:prstGeom prst="rect">
            <a:avLst/>
          </a:prstGeom>
          <a:solidFill>
            <a:srgbClr val="C4C2BD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89320" y="1813560"/>
            <a:ext cx="5608320" cy="4130040"/>
          </a:xfrm>
          <a:prstGeom prst="rect">
            <a:avLst/>
          </a:prstGeom>
          <a:solidFill>
            <a:srgbClr val="FFFFFF"/>
          </a:solidFill>
          <a:ln w="9525">
            <a:solidFill>
              <a:srgbClr val="CFCD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382000" y="2808732"/>
            <a:ext cx="822960" cy="822960"/>
          </a:xfrm>
          <a:prstGeom prst="rect">
            <a:avLst/>
          </a:prstGeom>
          <a:noFill/>
          <a:ln w="25400">
            <a:solidFill>
              <a:srgbClr val="E698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82000" y="2808732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E08154"/>
                </a:solidFill>
                <a:latin typeface="Calibri"/>
              </a:rPr>
              <a:t>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9944" y="3814572"/>
            <a:ext cx="4767072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444343"/>
                </a:solidFill>
                <a:latin typeface="Georgia"/>
              </a:rPr>
              <a:t>Artwork for M-P08 · What to look at, stage by stage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9944" y="5120640"/>
            <a:ext cx="4767072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POSTER ART · M-P08-ART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6272784"/>
            <a:ext cx="123748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6E9C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272784"/>
            <a:ext cx="123748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6E9CC4"/>
                </a:solidFill>
                <a:latin typeface="Calibri"/>
              </a:rPr>
              <a:t>POSTER M-P14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900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Walking With Farmers  ·  M-D2-06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6 / 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454640" y="411480"/>
            <a:ext cx="1143000" cy="320040"/>
          </a:xfrm>
          <a:prstGeom prst="roundRect">
            <a:avLst>
              <a:gd name="adj" fmla="val 50000"/>
            </a:avLst>
          </a:prstGeom>
          <a:solidFill>
            <a:srgbClr val="6E9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54640" y="411480"/>
            <a:ext cx="1143000" cy="32004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APP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4572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D9622B"/>
                </a:solidFill>
                <a:latin typeface="Calibri"/>
              </a:rPr>
              <a:t>DAY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804672"/>
            <a:ext cx="972312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232323"/>
                </a:solidFill>
                <a:latin typeface="Georgia"/>
              </a:rPr>
              <a:t>Record visit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539240"/>
            <a:ext cx="9723120" cy="10972"/>
          </a:xfrm>
          <a:prstGeom prst="rect">
            <a:avLst/>
          </a:prstGeom>
          <a:solidFill>
            <a:srgbClr val="BAB7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905000"/>
            <a:ext cx="5074920" cy="408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9622B"/>
                </a:solidFill>
                <a:latin typeface="Calibri"/>
              </a:rPr>
              <a:t>—  </a:t>
            </a:r>
            <a:r>
              <a:rPr sz="2600" b="0">
                <a:solidFill>
                  <a:srgbClr val="232323"/>
                </a:solidFill>
                <a:latin typeface="Calibri"/>
              </a:rPr>
              <a:t>Mentor workspace → People &amp; gardens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9622B"/>
                </a:solidFill>
                <a:latin typeface="Calibri"/>
              </a:rPr>
              <a:t>—  </a:t>
            </a:r>
            <a:r>
              <a:rPr sz="2600" b="0">
                <a:solidFill>
                  <a:srgbClr val="232323"/>
                </a:solidFill>
                <a:latin typeface="Calibri"/>
              </a:rPr>
              <a:t>Record visit → five fingers, five fields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9622B"/>
                </a:solidFill>
                <a:latin typeface="Calibri"/>
              </a:rPr>
              <a:t>—  </a:t>
            </a:r>
            <a:r>
              <a:rPr sz="2600" b="0">
                <a:solidFill>
                  <a:srgbClr val="232323"/>
                </a:solidFill>
                <a:latin typeface="Calibri"/>
              </a:rPr>
              <a:t>Save offline · it syncs later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71616" y="1914144"/>
            <a:ext cx="5608320" cy="4130040"/>
          </a:xfrm>
          <a:prstGeom prst="rect">
            <a:avLst/>
          </a:prstGeom>
          <a:solidFill>
            <a:srgbClr val="C4C2BD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89320" y="1813560"/>
            <a:ext cx="5608320" cy="4130040"/>
          </a:xfrm>
          <a:prstGeom prst="rect">
            <a:avLst/>
          </a:prstGeom>
          <a:solidFill>
            <a:srgbClr val="FFFFFF"/>
          </a:solidFill>
          <a:ln w="9525">
            <a:solidFill>
              <a:srgbClr val="CFCD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382000" y="2808732"/>
            <a:ext cx="822960" cy="822960"/>
          </a:xfrm>
          <a:prstGeom prst="rect">
            <a:avLst/>
          </a:prstGeom>
          <a:noFill/>
          <a:ln w="25400">
            <a:solidFill>
              <a:srgbClr val="E698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82000" y="2808732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E08154"/>
                </a:solidFill>
                <a:latin typeface="Calibri"/>
              </a:rPr>
              <a:t>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9944" y="3814572"/>
            <a:ext cx="4767072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444343"/>
                </a:solidFill>
                <a:latin typeface="Georgia"/>
              </a:rPr>
              <a:t>Artwork for M-P14 · Two tracks, same records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9944" y="5120640"/>
            <a:ext cx="4767072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POSTER ART · M-P14-ART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6272784"/>
            <a:ext cx="123748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6E9C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272784"/>
            <a:ext cx="123748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6E9CC4"/>
                </a:solidFill>
                <a:latin typeface="Calibri"/>
              </a:rPr>
              <a:t>POSTER M-P14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900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Walking With Farmers  ·  M-D2-07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7 / 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454640" y="411480"/>
            <a:ext cx="1143000" cy="32004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6E9C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54640" y="411480"/>
            <a:ext cx="1143000" cy="32004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200" b="1">
                <a:solidFill>
                  <a:srgbClr val="6E9CC4"/>
                </a:solidFill>
                <a:latin typeface="Calibri"/>
              </a:rPr>
              <a:t>PAPER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4572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D9622B"/>
                </a:solidFill>
                <a:latin typeface="Calibri"/>
              </a:rPr>
              <a:t>DAY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804672"/>
            <a:ext cx="972312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232323"/>
                </a:solidFill>
                <a:latin typeface="Georgia"/>
              </a:rPr>
              <a:t>The visit form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539240"/>
            <a:ext cx="9723120" cy="10972"/>
          </a:xfrm>
          <a:prstGeom prst="rect">
            <a:avLst/>
          </a:prstGeom>
          <a:solidFill>
            <a:srgbClr val="BAB7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905000"/>
            <a:ext cx="5074920" cy="408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9622B"/>
                </a:solidFill>
                <a:latin typeface="Calibri"/>
              </a:rPr>
              <a:t>—  </a:t>
            </a:r>
            <a:r>
              <a:rPr sz="2600" b="0">
                <a:solidFill>
                  <a:srgbClr val="232323"/>
                </a:solidFill>
                <a:latin typeface="Calibri"/>
              </a:rPr>
              <a:t>Five boxes = five fingers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9622B"/>
                </a:solidFill>
                <a:latin typeface="Calibri"/>
              </a:rPr>
              <a:t>—  </a:t>
            </a:r>
            <a:r>
              <a:rPr sz="2600" b="0">
                <a:solidFill>
                  <a:srgbClr val="232323"/>
                </a:solidFill>
                <a:latin typeface="Calibri"/>
              </a:rPr>
              <a:t>Fill it at the farm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9622B"/>
                </a:solidFill>
                <a:latin typeface="Calibri"/>
              </a:rPr>
              <a:t>—  </a:t>
            </a:r>
            <a:r>
              <a:rPr sz="2600" b="0">
                <a:solidFill>
                  <a:srgbClr val="232323"/>
                </a:solidFill>
                <a:latin typeface="Calibri"/>
              </a:rPr>
              <a:t>Read it back · leave the card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71616" y="1914144"/>
            <a:ext cx="5608320" cy="4130040"/>
          </a:xfrm>
          <a:prstGeom prst="rect">
            <a:avLst/>
          </a:prstGeom>
          <a:solidFill>
            <a:srgbClr val="C4C2BD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89320" y="1813560"/>
            <a:ext cx="5608320" cy="4130040"/>
          </a:xfrm>
          <a:prstGeom prst="rect">
            <a:avLst/>
          </a:prstGeom>
          <a:solidFill>
            <a:srgbClr val="FFFFFF"/>
          </a:solidFill>
          <a:ln w="9525">
            <a:solidFill>
              <a:srgbClr val="CFCD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382000" y="2808732"/>
            <a:ext cx="822960" cy="822960"/>
          </a:xfrm>
          <a:prstGeom prst="rect">
            <a:avLst/>
          </a:prstGeom>
          <a:noFill/>
          <a:ln w="25400">
            <a:solidFill>
              <a:srgbClr val="E698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82000" y="2808732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E08154"/>
                </a:solidFill>
                <a:latin typeface="Calibri"/>
              </a:rPr>
              <a:t>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9944" y="3814572"/>
            <a:ext cx="4767072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444343"/>
                </a:solidFill>
                <a:latin typeface="Georgia"/>
              </a:rPr>
              <a:t>Artwork for M-P14 · Two tracks, same records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9944" y="5120640"/>
            <a:ext cx="4767072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POSTER ART · M-P14-ART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6272784"/>
            <a:ext cx="123748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6E9C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272784"/>
            <a:ext cx="123748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6E9CC4"/>
                </a:solidFill>
                <a:latin typeface="Calibri"/>
              </a:rPr>
              <a:t>POSTER M-P07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900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Walking With Farmers  ·  M-D2-08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8 /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572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D9622B"/>
                </a:solidFill>
                <a:latin typeface="Calibri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804672"/>
            <a:ext cx="1100328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232323"/>
                </a:solidFill>
                <a:latin typeface="Georgia"/>
              </a:rPr>
              <a:t>Your trio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539240"/>
            <a:ext cx="11003280" cy="10972"/>
          </a:xfrm>
          <a:prstGeom prst="rect">
            <a:avLst/>
          </a:prstGeom>
          <a:solidFill>
            <a:srgbClr val="BAB7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905000"/>
            <a:ext cx="5074920" cy="408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9622B"/>
                </a:solidFill>
                <a:latin typeface="Calibri"/>
              </a:rPr>
              <a:t>—  </a:t>
            </a:r>
            <a:r>
              <a:rPr sz="2600" b="0">
                <a:solidFill>
                  <a:srgbClr val="232323"/>
                </a:solidFill>
                <a:latin typeface="Calibri"/>
              </a:rPr>
              <a:t>Mentor leads · Recorder writes and times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9622B"/>
                </a:solidFill>
                <a:latin typeface="Calibri"/>
              </a:rPr>
              <a:t>—  </a:t>
            </a:r>
            <a:r>
              <a:rPr sz="2600" b="0">
                <a:solidFill>
                  <a:srgbClr val="232323"/>
                </a:solidFill>
                <a:latin typeface="Calibri"/>
              </a:rPr>
              <a:t>Observer watches, says nothing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9622B"/>
                </a:solidFill>
                <a:latin typeface="Calibri"/>
              </a:rPr>
              <a:t>—  </a:t>
            </a:r>
            <a:r>
              <a:rPr sz="2600" b="0">
                <a:solidFill>
                  <a:srgbClr val="232323"/>
                </a:solidFill>
                <a:latin typeface="Calibri"/>
              </a:rPr>
              <a:t>No promises · no gifts · consent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71616" y="1914144"/>
            <a:ext cx="5608320" cy="4130040"/>
          </a:xfrm>
          <a:prstGeom prst="rect">
            <a:avLst/>
          </a:prstGeom>
          <a:solidFill>
            <a:srgbClr val="C4C2BD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89320" y="1813560"/>
            <a:ext cx="5608320" cy="4130040"/>
          </a:xfrm>
          <a:prstGeom prst="rect">
            <a:avLst/>
          </a:prstGeom>
          <a:solidFill>
            <a:srgbClr val="FFFFFF"/>
          </a:solidFill>
          <a:ln w="9525">
            <a:solidFill>
              <a:srgbClr val="CFCD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382000" y="2808732"/>
            <a:ext cx="822960" cy="822960"/>
          </a:xfrm>
          <a:prstGeom prst="rect">
            <a:avLst/>
          </a:prstGeom>
          <a:noFill/>
          <a:ln w="25400">
            <a:solidFill>
              <a:srgbClr val="E698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82000" y="2808732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E08154"/>
                </a:solidFill>
                <a:latin typeface="Calibri"/>
              </a:rPr>
              <a:t>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9944" y="3814572"/>
            <a:ext cx="4767072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444343"/>
                </a:solidFill>
                <a:latin typeface="Georgia"/>
              </a:rPr>
              <a:t>A trio arrives at a farm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9944" y="5120640"/>
            <a:ext cx="4767072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PICTURE · M-IMG-04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6272784"/>
            <a:ext cx="123748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6E9C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272784"/>
            <a:ext cx="123748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6E9CC4"/>
                </a:solidFill>
                <a:latin typeface="Calibri"/>
              </a:rPr>
              <a:t>POSTER M-P07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900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Walking With Farmers  ·  M-D2-09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9 / 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57200"/>
            <a:ext cx="1213866" cy="346710"/>
          </a:xfrm>
          <a:prstGeom prst="roundRect">
            <a:avLst>
              <a:gd name="adj" fmla="val 50000"/>
            </a:avLst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57200"/>
            <a:ext cx="1213866" cy="34671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YOUR TURN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960120"/>
            <a:ext cx="1086612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232323"/>
                </a:solidFill>
                <a:latin typeface="Georgia"/>
              </a:rPr>
              <a:t>The farm visit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1694688"/>
            <a:ext cx="10866120" cy="10972"/>
          </a:xfrm>
          <a:prstGeom prst="rect">
            <a:avLst/>
          </a:prstGeom>
          <a:solidFill>
            <a:srgbClr val="BAB7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31520" y="2060448"/>
            <a:ext cx="566928" cy="566928"/>
          </a:xfrm>
          <a:prstGeom prst="ellipse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06044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Georg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2106168"/>
            <a:ext cx="4160520" cy="9042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232323"/>
                </a:solidFill>
                <a:latin typeface="Calibri"/>
              </a:rPr>
              <a:t>60 minutes with a real farmer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3056128"/>
            <a:ext cx="566928" cy="566928"/>
          </a:xfrm>
          <a:prstGeom prst="ellipse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05612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Georgia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3101848"/>
            <a:ext cx="4160520" cy="9042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232323"/>
                </a:solidFill>
                <a:latin typeface="Calibri"/>
              </a:rPr>
              <a:t>5 minutes huddle: two stars, a wish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4051808"/>
            <a:ext cx="566928" cy="566928"/>
          </a:xfrm>
          <a:prstGeom prst="ellipse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05180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Georgi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097528"/>
            <a:ext cx="4160520" cy="621792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232323"/>
                </a:solidFill>
                <a:latin typeface="Calibri"/>
              </a:rPr>
              <a:t>Pick-up 11:45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71616" y="2069592"/>
            <a:ext cx="5608320" cy="3974592"/>
          </a:xfrm>
          <a:prstGeom prst="rect">
            <a:avLst/>
          </a:prstGeom>
          <a:solidFill>
            <a:srgbClr val="C4C2BD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989320" y="1969008"/>
            <a:ext cx="5608320" cy="3974592"/>
          </a:xfrm>
          <a:prstGeom prst="rect">
            <a:avLst/>
          </a:prstGeom>
          <a:solidFill>
            <a:srgbClr val="FFFFFF"/>
          </a:solidFill>
          <a:ln w="9525">
            <a:solidFill>
              <a:srgbClr val="CFCD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382000" y="2886456"/>
            <a:ext cx="822960" cy="822960"/>
          </a:xfrm>
          <a:prstGeom prst="rect">
            <a:avLst/>
          </a:prstGeom>
          <a:noFill/>
          <a:ln w="25400">
            <a:solidFill>
              <a:srgbClr val="E698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82000" y="2886456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E08154"/>
                </a:solidFill>
                <a:latin typeface="Calibri"/>
              </a:rPr>
              <a:t>✦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9944" y="3892296"/>
            <a:ext cx="4767072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444343"/>
                </a:solidFill>
                <a:latin typeface="Georgia"/>
              </a:rPr>
              <a:t>A trio arrives at a farm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9944" y="5120640"/>
            <a:ext cx="4767072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PICTURE · M-IMG-04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6272784"/>
            <a:ext cx="123748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6E9C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272784"/>
            <a:ext cx="123748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6E9CC4"/>
                </a:solidFill>
                <a:latin typeface="Calibri"/>
              </a:rPr>
              <a:t>POSTER M-P11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900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Walking With Farmers  ·  M-D2-10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10 /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572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D9622B"/>
                </a:solidFill>
                <a:latin typeface="Calibri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804672"/>
            <a:ext cx="1100328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232323"/>
                </a:solidFill>
                <a:latin typeface="Georgia"/>
              </a:rPr>
              <a:t>The cluster visit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539240"/>
            <a:ext cx="11003280" cy="10972"/>
          </a:xfrm>
          <a:prstGeom prst="rect">
            <a:avLst/>
          </a:prstGeom>
          <a:solidFill>
            <a:srgbClr val="BAB7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905000"/>
            <a:ext cx="5074920" cy="408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9622B"/>
                </a:solidFill>
                <a:latin typeface="Calibri"/>
              </a:rPr>
              <a:t>—  </a:t>
            </a:r>
            <a:r>
              <a:rPr sz="2600" b="0">
                <a:solidFill>
                  <a:srgbClr val="232323"/>
                </a:solidFill>
                <a:latin typeface="Calibri"/>
              </a:rPr>
              <a:t>Welcome · Host's tour · Try it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9622B"/>
                </a:solidFill>
                <a:latin typeface="Calibri"/>
              </a:rPr>
              <a:t>—  </a:t>
            </a:r>
            <a:r>
              <a:rPr sz="2600" b="0">
                <a:solidFill>
                  <a:srgbClr val="232323"/>
                </a:solidFill>
                <a:latin typeface="Calibri"/>
              </a:rPr>
              <a:t>Share circle · Everyone agrees one action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71616" y="1914144"/>
            <a:ext cx="5608320" cy="4130040"/>
          </a:xfrm>
          <a:prstGeom prst="rect">
            <a:avLst/>
          </a:prstGeom>
          <a:solidFill>
            <a:srgbClr val="C4C2BD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89320" y="1813560"/>
            <a:ext cx="5608320" cy="4130040"/>
          </a:xfrm>
          <a:prstGeom prst="rect">
            <a:avLst/>
          </a:prstGeom>
          <a:solidFill>
            <a:srgbClr val="FFFFFF"/>
          </a:solidFill>
          <a:ln w="9525">
            <a:solidFill>
              <a:srgbClr val="CFCD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382000" y="2808732"/>
            <a:ext cx="822960" cy="822960"/>
          </a:xfrm>
          <a:prstGeom prst="rect">
            <a:avLst/>
          </a:prstGeom>
          <a:noFill/>
          <a:ln w="25400">
            <a:solidFill>
              <a:srgbClr val="E698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82000" y="2808732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E08154"/>
                </a:solidFill>
                <a:latin typeface="Calibri"/>
              </a:rPr>
              <a:t>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9944" y="3814572"/>
            <a:ext cx="4767072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444343"/>
                </a:solidFill>
                <a:latin typeface="Georgia"/>
              </a:rPr>
              <a:t>Artwork for M-P11 · The cluster visit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9944" y="5120640"/>
            <a:ext cx="4767072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POSTER ART · M-P11-ART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6272784"/>
            <a:ext cx="123748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6E9C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272784"/>
            <a:ext cx="123748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6E9CC4"/>
                </a:solidFill>
                <a:latin typeface="Calibri"/>
              </a:rPr>
              <a:t>POSTER M-P11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900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Walking With Farmers  ·  M-D2-11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11 / 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57200"/>
            <a:ext cx="1213866" cy="346710"/>
          </a:xfrm>
          <a:prstGeom prst="roundRect">
            <a:avLst>
              <a:gd name="adj" fmla="val 50000"/>
            </a:avLst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57200"/>
            <a:ext cx="1213866" cy="34671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YOUR TURN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960120"/>
            <a:ext cx="1086612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232323"/>
                </a:solidFill>
                <a:latin typeface="Georgia"/>
              </a:rPr>
              <a:t>Stations and share circle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1694688"/>
            <a:ext cx="10866120" cy="10972"/>
          </a:xfrm>
          <a:prstGeom prst="rect">
            <a:avLst/>
          </a:prstGeom>
          <a:solidFill>
            <a:srgbClr val="BAB7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31520" y="2060448"/>
            <a:ext cx="566928" cy="566928"/>
          </a:xfrm>
          <a:prstGeom prst="ellipse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06044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Georg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2106168"/>
            <a:ext cx="4160520" cy="9042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232323"/>
                </a:solidFill>
                <a:latin typeface="Calibri"/>
              </a:rPr>
              <a:t>3 stations · 8 minutes each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3056128"/>
            <a:ext cx="566928" cy="566928"/>
          </a:xfrm>
          <a:prstGeom prst="ellipse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05612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Georgia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3101848"/>
            <a:ext cx="4160520" cy="9042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232323"/>
                </a:solidFill>
                <a:latin typeface="Calibri"/>
              </a:rPr>
              <a:t>Farmers answer farmers first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71616" y="2069592"/>
            <a:ext cx="5608320" cy="3974592"/>
          </a:xfrm>
          <a:prstGeom prst="rect">
            <a:avLst/>
          </a:prstGeom>
          <a:solidFill>
            <a:srgbClr val="C4C2BD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989320" y="1969008"/>
            <a:ext cx="5608320" cy="3974592"/>
          </a:xfrm>
          <a:prstGeom prst="rect">
            <a:avLst/>
          </a:prstGeom>
          <a:solidFill>
            <a:srgbClr val="FFFFFF"/>
          </a:solidFill>
          <a:ln w="9525">
            <a:solidFill>
              <a:srgbClr val="CFCD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flow-seed-shari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5624" y="2351532"/>
            <a:ext cx="5315712" cy="2990087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6135624" y="5166360"/>
            <a:ext cx="5315712" cy="411480"/>
          </a:xfrm>
          <a:prstGeom prst="rect">
            <a:avLst/>
          </a:prstGeom>
          <a:solidFill>
            <a:srgbClr val="232323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45352" y="5166360"/>
            <a:ext cx="5096256" cy="41148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▶  Play clip · flow-seed-sharing.mp4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6272784"/>
            <a:ext cx="123748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6E9C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272784"/>
            <a:ext cx="123748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6E9CC4"/>
                </a:solidFill>
                <a:latin typeface="Calibri"/>
              </a:rPr>
              <a:t>POSTER M-P11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900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Walking With Farmers  ·  M-D2-12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12 /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572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D9622B"/>
                </a:solidFill>
                <a:latin typeface="Calibri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804672"/>
            <a:ext cx="1100328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232323"/>
                </a:solidFill>
                <a:latin typeface="Georgia"/>
              </a:rPr>
              <a:t>Farmers learn from farmers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539240"/>
            <a:ext cx="11003280" cy="10972"/>
          </a:xfrm>
          <a:prstGeom prst="rect">
            <a:avLst/>
          </a:prstGeom>
          <a:solidFill>
            <a:srgbClr val="BAB7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905000"/>
            <a:ext cx="11003280" cy="408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 marL="508000" indent="-508000">
              <a:spcAft>
                <a:spcPts val="1800"/>
              </a:spcAft>
            </a:pPr>
            <a:r>
              <a:rPr sz="3200" b="1">
                <a:solidFill>
                  <a:srgbClr val="D9622B"/>
                </a:solidFill>
                <a:latin typeface="Calibri"/>
              </a:rPr>
              <a:t>—  </a:t>
            </a:r>
            <a:r>
              <a:rPr sz="3200" b="0">
                <a:solidFill>
                  <a:srgbClr val="232323"/>
                </a:solidFill>
                <a:latin typeface="Calibri"/>
              </a:rPr>
              <a:t>Same soil, same rain</a:t>
            </a:r>
          </a:p>
          <a:p>
            <a:pPr algn="l" marL="508000" indent="-508000">
              <a:spcAft>
                <a:spcPts val="1800"/>
              </a:spcAft>
            </a:pPr>
            <a:r>
              <a:rPr sz="3200" b="1">
                <a:solidFill>
                  <a:srgbClr val="D9622B"/>
                </a:solidFill>
                <a:latin typeface="Calibri"/>
              </a:rPr>
              <a:t>—  </a:t>
            </a:r>
            <a:r>
              <a:rPr sz="3200" b="0">
                <a:solidFill>
                  <a:srgbClr val="232323"/>
                </a:solidFill>
                <a:latin typeface="Calibri"/>
              </a:rPr>
              <a:t>Seeing is believing</a:t>
            </a:r>
          </a:p>
          <a:p>
            <a:pPr algn="l" marL="508000" indent="-508000">
              <a:spcAft>
                <a:spcPts val="1800"/>
              </a:spcAft>
            </a:pPr>
            <a:r>
              <a:rPr sz="3200" b="1">
                <a:solidFill>
                  <a:srgbClr val="D9622B"/>
                </a:solidFill>
                <a:latin typeface="Calibri"/>
              </a:rPr>
              <a:t>—  </a:t>
            </a:r>
            <a:r>
              <a:rPr sz="3200" b="0">
                <a:solidFill>
                  <a:srgbClr val="232323"/>
                </a:solidFill>
                <a:latin typeface="Calibri"/>
              </a:rPr>
              <a:t>Rotate the host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6272784"/>
            <a:ext cx="123748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6E9C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272784"/>
            <a:ext cx="123748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6E9CC4"/>
                </a:solidFill>
                <a:latin typeface="Calibri"/>
              </a:rPr>
              <a:t>POSTER M-P07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900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Walking With Farmers  ·  M-D2-13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13 / 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57200"/>
            <a:ext cx="1213866" cy="346710"/>
          </a:xfrm>
          <a:prstGeom prst="roundRect">
            <a:avLst>
              <a:gd name="adj" fmla="val 50000"/>
            </a:avLst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57200"/>
            <a:ext cx="1213866" cy="34671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YOUR TURN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960120"/>
            <a:ext cx="1086612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232323"/>
                </a:solidFill>
                <a:latin typeface="Georgia"/>
              </a:rPr>
              <a:t>Visit debrief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1694688"/>
            <a:ext cx="10866120" cy="10972"/>
          </a:xfrm>
          <a:prstGeom prst="rect">
            <a:avLst/>
          </a:prstGeom>
          <a:solidFill>
            <a:srgbClr val="BAB7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31520" y="2060448"/>
            <a:ext cx="566928" cy="566928"/>
          </a:xfrm>
          <a:prstGeom prst="ellipse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06044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Georg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2106168"/>
            <a:ext cx="4160520" cy="1274064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232323"/>
                </a:solidFill>
                <a:latin typeface="Calibri"/>
              </a:rPr>
              <a:t>Mentor first · then Observer · then Recorder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3425952"/>
            <a:ext cx="566928" cy="566928"/>
          </a:xfrm>
          <a:prstGeom prst="ellipse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425952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Georgia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3471672"/>
            <a:ext cx="4160520" cy="9042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232323"/>
                </a:solidFill>
                <a:latin typeface="Calibri"/>
              </a:rPr>
              <a:t>Two stars and a wish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71616" y="2069592"/>
            <a:ext cx="5608320" cy="3974592"/>
          </a:xfrm>
          <a:prstGeom prst="rect">
            <a:avLst/>
          </a:prstGeom>
          <a:solidFill>
            <a:srgbClr val="C4C2BD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989320" y="1969008"/>
            <a:ext cx="5608320" cy="3974592"/>
          </a:xfrm>
          <a:prstGeom prst="rect">
            <a:avLst/>
          </a:prstGeom>
          <a:solidFill>
            <a:srgbClr val="FFFFFF"/>
          </a:solidFill>
          <a:ln w="9525">
            <a:solidFill>
              <a:srgbClr val="CFCD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382000" y="2886456"/>
            <a:ext cx="822960" cy="822960"/>
          </a:xfrm>
          <a:prstGeom prst="rect">
            <a:avLst/>
          </a:prstGeom>
          <a:noFill/>
          <a:ln w="25400">
            <a:solidFill>
              <a:srgbClr val="E698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82000" y="2886456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E08154"/>
                </a:solidFill>
                <a:latin typeface="Calibri"/>
              </a:rPr>
              <a:t>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9944" y="3892296"/>
            <a:ext cx="4767072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444343"/>
                </a:solidFill>
                <a:latin typeface="Georgia"/>
              </a:rPr>
              <a:t>The observer stands back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9944" y="5120640"/>
            <a:ext cx="4767072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PICTURE · M-IMG-05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6272784"/>
            <a:ext cx="123748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6E9C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272784"/>
            <a:ext cx="123748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6E9CC4"/>
                </a:solidFill>
                <a:latin typeface="Calibri"/>
              </a:rPr>
              <a:t>POSTER M-P07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900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Walking With Farmers  ·  M-D2-14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14 / 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57200"/>
            <a:ext cx="1213866" cy="346710"/>
          </a:xfrm>
          <a:prstGeom prst="roundRect">
            <a:avLst>
              <a:gd name="adj" fmla="val 50000"/>
            </a:avLst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57200"/>
            <a:ext cx="1213866" cy="34671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YOUR TURN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960120"/>
            <a:ext cx="1086612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232323"/>
                </a:solidFill>
                <a:latin typeface="Georgia"/>
              </a:rPr>
              <a:t>The hand map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1694688"/>
            <a:ext cx="10866120" cy="10972"/>
          </a:xfrm>
          <a:prstGeom prst="rect">
            <a:avLst/>
          </a:prstGeom>
          <a:solidFill>
            <a:srgbClr val="BAB7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31520" y="2060448"/>
            <a:ext cx="566928" cy="566928"/>
          </a:xfrm>
          <a:prstGeom prst="ellipse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06044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Georg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2106168"/>
            <a:ext cx="9951720" cy="621792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3000" b="1">
                <a:solidFill>
                  <a:srgbClr val="232323"/>
                </a:solidFill>
                <a:latin typeface="Calibri"/>
              </a:rPr>
              <a:t>Green dot: our best finger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2773680"/>
            <a:ext cx="566928" cy="566928"/>
          </a:xfrm>
          <a:prstGeom prst="ellipse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773680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Georgia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2819400"/>
            <a:ext cx="9951720" cy="621792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3000" b="1">
                <a:solidFill>
                  <a:srgbClr val="232323"/>
                </a:solidFill>
                <a:latin typeface="Calibri"/>
              </a:rPr>
              <a:t>Ochre dot: our hardest finger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6272784"/>
            <a:ext cx="123748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6E9C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272784"/>
            <a:ext cx="123748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6E9CC4"/>
                </a:solidFill>
                <a:latin typeface="Calibri"/>
              </a:rPr>
              <a:t>POSTER M-P06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900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Walking With Farmers  ·  M-D2-15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15 /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572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D9622B"/>
                </a:solidFill>
                <a:latin typeface="Calibri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804672"/>
            <a:ext cx="1100328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232323"/>
                </a:solidFill>
                <a:latin typeface="Georgia"/>
              </a:rPr>
              <a:t>Who talked more?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539240"/>
            <a:ext cx="11003280" cy="10972"/>
          </a:xfrm>
          <a:prstGeom prst="rect">
            <a:avLst/>
          </a:prstGeom>
          <a:solidFill>
            <a:srgbClr val="BAB7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905000"/>
            <a:ext cx="11003280" cy="408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 marL="508000" indent="-508000">
              <a:spcAft>
                <a:spcPts val="1800"/>
              </a:spcAft>
            </a:pPr>
            <a:r>
              <a:rPr sz="3200" b="1">
                <a:solidFill>
                  <a:srgbClr val="D9622B"/>
                </a:solidFill>
                <a:latin typeface="Calibri"/>
              </a:rPr>
              <a:t>—  </a:t>
            </a:r>
            <a:r>
              <a:rPr sz="3200" b="0">
                <a:solidFill>
                  <a:srgbClr val="232323"/>
                </a:solidFill>
                <a:latin typeface="Calibri"/>
              </a:rPr>
              <a:t>The farmer talks more than half</a:t>
            </a:r>
          </a:p>
          <a:p>
            <a:pPr algn="l" marL="508000" indent="-508000">
              <a:spcAft>
                <a:spcPts val="1800"/>
              </a:spcAft>
            </a:pPr>
            <a:r>
              <a:rPr sz="3200" b="1">
                <a:solidFill>
                  <a:srgbClr val="D9622B"/>
                </a:solidFill>
                <a:latin typeface="Calibri"/>
              </a:rPr>
              <a:t>—  </a:t>
            </a:r>
            <a:r>
              <a:rPr sz="3200" b="0">
                <a:solidFill>
                  <a:srgbClr val="232323"/>
                </a:solidFill>
                <a:latin typeface="Calibri"/>
              </a:rPr>
              <a:t>Ask a buddy to observe you monthly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