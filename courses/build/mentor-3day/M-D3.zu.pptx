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M-D3-S0. Register, Seed Swap, one thing from a farm visit. Promise: "You leave with a plan that reaches every farmer."</a:t>
            </a:r>
          </a:p>
          <a:p/>
          <a:p>
            <a:r>
              <a:t>Also: M-P07-ART</a:t>
            </a:r>
          </a:p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steps 1–2. "40 farmers, 20 days — can you see all every week?" Re-sort every month. The colour is private. Nobody goes a month without a contact.</a:t>
            </a:r>
          </a:p>
          <a:p/>
          <a:p>
            <a:r>
              <a:t>Poster: M-P09</a:t>
            </a:r>
          </a:p>
          <a:p>
            <a:r>
              <a:t>Picture M-P09-ART (coming) — Artwork for M-P09 · Traffic light: who needs me most?: A tall traffic light made from three stacked round shapes, each with a small scene beside it. Top (Red, with a triangle pattern for B&amp;W): a bare, dry garden and a worried farmer — the mentor walking towards them. Middle (Amber/Ochre, with dots): a half-planted garden, farmer working. Bottom (Green/Leaf, with stripes): a lush garden and a farmer showing neighbours around. A small calendar icon next to each (two marks, one mark, one mark + a phone).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 3. Expect about 8 red, 16 amber, 16 green; any split is fine with a reason.</a:t>
            </a:r>
          </a:p>
          <a:p/>
          <a:p>
            <a:r>
              <a:t>Poster: M-P09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 4. Worked example: 16 + 16 = 32 needed; 11 a week × 4 = 44 available; ~12 spare. Too many farmers? Bigger clusters, more phone, tell your supervisor with the sum.</a:t>
            </a:r>
          </a:p>
          <a:p/>
          <a:p>
            <a:r>
              <a:t>Poster: M-P10</a:t>
            </a:r>
          </a:p>
          <a:p>
            <a:r>
              <a:t>Picture M-P10-ART (coming) — Artwork for M-P10 · A mentor's week: A simple map of four villages (A, B, C, D drawn as four clusters of houses with gardens — letters typeset on the layout, not in the art) around a small town with a taxi rank. Five columns below the map, one per weekday, each showing a small figure of the mentor: Monday under a tree with a group of 10 farmers (cluster visit) then walking to 2 houses; Tuesday to Thursday walking a curved route to 3 houses in one cluster; Friday at a table with a phone and a notebook. Dotted route lines on the map from the farthest house back to the taxi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steps 5–6. Groups draw a week on the A3 grid. Then each mentor starts their own caseload sheet: track A / P / A+P, cluster, colour.</a:t>
            </a:r>
          </a:p>
          <a:p/>
          <a:p>
            <a:r>
              <a:t>Poster: M-P10</a:t>
            </a:r>
          </a:p>
          <a:p>
            <a:r>
              <a:t>Picture M-P10-ART (coming) — Artwork for M-P10 · A mentor's week: A simple map of four villages (A, B, C, D drawn as four clusters of houses with gardens — letters typeset on the layout, not in the art) around a small town with a taxi rank. Five columns below the map, one per weekday, each showing a small figure of the mentor: Monday under a tree with a group of 10 farmers (cluster visit) then walking to 2 houses; Tuesday to Thursday walking a curved route to 3 houses in one cluster; Friday at a table with a phone and a notebook. Dotted route lines on the map from the farthest house back to the taxi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steps 1–2. Welcome, host's tour, try it together, share circle, agree, individual moments with red and amber farmers.</a:t>
            </a:r>
          </a:p>
          <a:p/>
          <a:p>
            <a:r>
              <a:t>Poster: M-P11</a:t>
            </a:r>
          </a:p>
          <a:p>
            <a:r>
              <a:t>Also: M-IMG-13, M-ANI-04</a:t>
            </a:r>
          </a:p>
          <a:p>
            <a:r>
              <a:t>Picture M-P11-ART (coming) — Artwork for M-P11 · The cluster visit: A host farmer's garden with 10 farmers of mixed ages and genders. In one corner the host gogo leads a tour, pointing at a mulched bed; in the middle, three small groups of 3–4 kneeling at different stations (spacing string, seedling tray, a bucket); at the front, everyone sitting in a circle in the shade of a tree; the mentor sits in the circle, not standing. A cable-tied poster shape on the fence (blank).</a:t>
            </a:r>
          </a:p>
          <a:p>
            <a:r>
              <a:t>Clip M-ANI-04: public/course-media/mentor-3day/M-ANI-04.mp4</a:t>
            </a:r>
          </a:p>
          <a:p>
            <a:r>
              <a:t>Picture M-ANI-04 (coming) — Farmers linked in a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steps 3–4. Groups 1–5 take months 1–5. Ask: "Where are the farmers' hands in your plan?"</a:t>
            </a:r>
          </a:p>
          <a:p/>
          <a:p>
            <a:r>
              <a:t>Poster: M-P11</a:t>
            </a:r>
          </a:p>
          <a:p>
            <a:r>
              <a:t>Picture M-PHO-02 (coming) — A real cluster visit circle: The share circle at a cluster visit, taken from outside the circle, all participants consenting (green-sticker holders out of frame). Landscape. Replaces M-P11-ART on the slide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5. Invite councillor, extension office, school, buyers. Avoid SASSA pay days and funeral Saturdays. Planner in visit-playbook.md §4.</a:t>
            </a:r>
          </a:p>
          <a:p/>
          <a:p>
            <a:r>
              <a:t>Poster: M-P13</a:t>
            </a:r>
          </a:p>
          <a:p>
            <a:r>
              <a:t>Picture M-IMG-07 (coming) — Farmer field day: A lively half-day event in a community garden: 30–40 people; a farmer presenting at a bed with a spacing string; a table of produce with a hanging scale; elders on chairs in shade; a few children with adults; a buyer (spaza owner in an apron) talking with a farmer.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6. Pairs sit back to back, 4 minutes each way. Record it: phone log or Record visit with "phone check-in".</a:t>
            </a:r>
          </a:p>
          <a:p/>
          <a:p>
            <a:r>
              <a:t>Poster: M-P12</a:t>
            </a:r>
          </a:p>
          <a:p>
            <a:r>
              <a:t>Picture M-P12-ART (coming) — Artwork for M-P12 · Phone check-in: Split scene. Left: the mentor at a table with a basic phone to her ear and a notebook. Right: the farmer in his garden, phone to ear, looking at a mulched bed; a second small inset shows him taking a photo of the bed with a smartphone. A thin line (like a sound wave) connects the two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7. One sentence per month from visit-playbook.md §7. Shift the months to the local planting calendar.</a:t>
            </a:r>
          </a:p>
          <a:p/>
          <a:p>
            <a:r>
              <a:t>Poster: M-P13</a:t>
            </a:r>
          </a:p>
          <a:p>
            <a:r>
              <a:t>Picture M-P13-ART (coming) — Artwork for M-P13 · The season journey: A winding path across the poster through six "stops", each a small garden scene matching M-P08's stages, from bare ground (left) to harvest and seed jars (right). Along the path, small symbols show contact types: a single pair walking (individual visit), a circle of people under a tree (cluster visit), a phone (check-in), and at stops 4 and 6 a big gathering with a table of produce (field day). Sky changes from spring to high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7 and debrief. Which contact will you use most in month 1?</a:t>
            </a:r>
          </a:p>
          <a:p/>
          <a:p>
            <a:r>
              <a:t>Poster: M-P13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M-D3-S3. Energiser first. Hook: "She sold spinach for a month. Did she make money? How would she know?" Split into [APP] and [PAPER] groups if the class is mixed. Sequence: app-track.md §3.</a:t>
            </a:r>
          </a:p>
          <a:p/>
          <a:p>
            <a:r>
              <a:t>Poster: M-P14</a:t>
            </a:r>
          </a:p>
          <a:p>
            <a:r>
              <a:t>Also: M-ANI-05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  <a:p>
            <a:r>
              <a:t>Clip M-ANI-05: public/course-media/mentor-3day/M-ANI-05.mp4</a:t>
            </a:r>
          </a:p>
          <a:p>
            <a:r>
              <a:t>Picture M-ANI-05 (coming) — Keeping a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[APP] rounds 1–2. Scripts in app-track.md §4 E5–E7. A bunch count is not a weight. Use Edit to correct, don't add a copy. Compare Lima's reading with the slip line by line.</a:t>
            </a:r>
          </a:p>
          <a:p/>
          <a:p>
            <a:r>
              <a:t>Poster: M-P14</a:t>
            </a:r>
          </a:p>
          <a:p>
            <a:r>
              <a:t>Picture M-IMG-08 (coming) — Weighing a harvest: Close view: the gogo hangs a bunch of spinach on a hand-held hanging scale; the youth beside her holds a phone (blank screen) and she holds an exercise book open (blank ruled lines).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[PAPER] rounds 1–2. Same time and checks as the app rounds. Slips numbered in the envelope inside the back cover.</a:t>
            </a:r>
          </a:p>
          <a:p/>
          <a:p>
            <a:r>
              <a:t>Poster: F-P20</a:t>
            </a:r>
          </a:p>
          <a:p>
            <a:r>
              <a:t>Also: M-IMG-11</a:t>
            </a:r>
          </a:p>
          <a:p>
            <a:r>
              <a:t>Picture M-IMG-08 (coming) — Weighing a harvest: Close view: the gogo hangs a bunch of spinach on a hand-held hanging scale; the youth beside her holds a phone (blank screen) and she holds an exercise book open (blank ruled lines).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round 3 (both tracks). Another copy is not another sale. Mark paid only when the money arrives. Sample buyer: crèche kitchen, 10 bunches at R10, pays month end.</a:t>
            </a:r>
          </a:p>
          <a:p/>
          <a:p>
            <a:r>
              <a:t>Poster: M-P14</a:t>
            </a:r>
          </a:p>
          <a:p>
            <a:r>
              <a:t>Picture M-IMG-09 (coming) — Invoice handed to a buyer: At a spaza counter (shelves of generic tins and bags, no brands), a farmer hands a bundle of bunches and a paper invoice (blank lines) to the shop owner; a carbon invoice book lies open on the counter.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M-D3-S4 steps 1–2. Case clinic: drought, theft, conflict, drop-out, dependency (spare: safety). Danger now: SAPS 10111, Childline 116, GBV Command Centre 0800 428 428.</a:t>
            </a:r>
          </a:p>
          <a:p/>
          <a:p>
            <a:r>
              <a:t>Poster: M-P15</a:t>
            </a:r>
          </a:p>
          <a:p>
            <a:r>
              <a:t>Picture M-P15-ART (coming) — Artwork for M-P15 · When it gets hard: A dry garden with wilting plants and an empty drum. The farmer sits on the ground, head in hands. Four steps shown as footprints leading to him: the mentor breathing calmly; the mentor sitting beside him listening; the farmer standing, pointing at one small bed he can save; a small group of neighbours arriving with a wheelbarrow of grass mulch. No clinic or police imagery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M-D3-S4 steps 3–4. Use the real caseload. Buddy uses the observer checklist.</a:t>
            </a:r>
          </a:p>
          <a:p/>
          <a:p>
            <a:r>
              <a:t>Poster: M-P13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M-D3-SC. Fingers 1–5 on the six questions; sticker lists; three open questions; certificates by name with a handshake; photo only with consent.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200" b="1">
                <a:solidFill>
                  <a:srgbClr val="FAF7F0"/>
                </a:solidFill>
                <a:latin typeface="Georgia"/>
              </a:rPr>
              <a:t>Usuku 3: fikelela wonke umlimi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Usuku 3 kwezi-3: isizini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Ubani ongidinga kakhulu?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Obomvu: njalo emavikini ama-2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Ophuzi: njalo ngenyanga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Oluhlaza: umhlangano weqembu + iselula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M-P09 · Traffic light: who needs me most?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M-P09-ART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Hlelani amakhadi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Amakhadi angama-40 · R, A, 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Imizuzu eyi-10 · shonini ukuthi kungani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Yenza isibalo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Obomvu × 2 + Ophuzi = ukuvakasha okudingekayo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Izinsuku zokuphuma × ukuvakasha ngosuku = okutholakalayo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Shiya isikhathi esingeziwe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M-P10 · A mentor's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M-P10-ART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lomeluleki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Iqembu elilodwa ngosuku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Qalani kude, nibuyele emuva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NgoLwesihlanu: iselula, amarekhodi, icebo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M-P10 · A mentor's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M-P10-ART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32323"/>
                </a:solidFill>
                <a:latin typeface="Georgia"/>
              </a:rPr>
              <a:t>Umhlangano weqembu, izingxenye eziyisi-6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3256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Amahora angu-2–3 · abalimi abangu-8–12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Umsingathi uyafundisa, abalimi bayazama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Shintsha umsingathi njalo ngenyanga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07464"/>
            <a:ext cx="5608320" cy="423672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6123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M-P11 · The cluster 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M-P11-ART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Lihleleni, nenze ingxenye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Hlelani umhlangano weqembu wenyanga yenu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Wenzeni imizuzu eyi-10 kwelinye iqembu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real cluster visit circle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M-PHO-02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Usuku lwensimu lwabalimi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Abalimi bakhombisa abalimi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Isivuno sokuqala · ukubuyekeza isizini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Abantu abangu-20 kuya ku-60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Farmer field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Imizuzu eli-10 ocingweni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Bingelela · Bheka okwedlule · Ngikhombise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Yini elandelayo? · Usuku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M-P12 · Phone 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M-P12-ART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Izinyanga eziyisi-6 nabalimi bethu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Isiqalo · ukuqalisa · ukukhula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Ukuvuna · ukuthengisa · ukubuyekeza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60804"/>
            <a:ext cx="5608320" cy="418338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8790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M-P13 · The season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M-P13-ART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Amaqembu enu ebalazweni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Fakani umhlangano weqembu enyangeni yawo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6992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699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564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Bekani uphawu ezinsukwini zensimu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Qeqesha amarekhodi nemali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Iselula noma iphepha: amarekhodi afanayo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owodwa ngokuvakasha, imizuzu eyi-10–15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Izandla zomlimi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6E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Isivuno, imali, irisidi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Kala → Picked (kg)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Sold no-Spent · hlola ngaphambi kokufaka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Irisidi: Lima iyayifunda, wena uyahlola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Weighing a 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F-P20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6E9CC4"/>
                </a:solidFill>
                <a:latin typeface="Calibri"/>
              </a:rPr>
              <a:t>IPHEPHA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Ikhasi lesivuno, incwadi yemali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8590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Usuku · isitshalo · kg · kuyephi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Imali engenayo · imali ephumayo · inombolo yerisidi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860804"/>
            <a:ext cx="5608320" cy="418338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78790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Weighing a 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Nika umthengi i-invoyisi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I-app: Invoice builder · Saved · Share PDF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Iphepha: incwadi yamakhophi · ikhophi iyasala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I-invoyisi akuyona inkokhelo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Invoice handed to a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Uma kunzima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Hlala uzolile · Lalela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Yini angayenza?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Ubani omunye ongasiza?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M-P15 · When it gets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M-P15-ART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Icebo lami lesizini nomngane wami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4134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5282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Hlelani inyanga 1 nesonto 1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6606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Shintshanani izinombolo nomngane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3357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3357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79292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Ukuvakasha okukodwa okubukwayo enyangeni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M-D3-18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Siyabonga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Hambani eceleni kwabalimi benu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Ukuhlola · izitifiketi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