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M-D2-S0. Short circle: register, 3 voices, Pass the Clap, today's route sheet and any host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steps 1–2. "Hold up your hand — what are the five steps?" The thumb goes first: it shows respect for what the farmer planned.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2 table. Opening words for each finger are on the A5 card. 45-minute version: 5 · 10 · 5 · 15 · 10.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3. Timekeeper calls each finger. The "farmer" uses a real memory of a garden.</a:t>
            </a:r>
          </a:p>
          <a:p/>
          <a:p>
            <a:r>
              <a:t>Poster: M-P07</a:t>
            </a:r>
          </a:p>
          <a:p>
            <a:r>
              <a:t>Clip M-ANI-07: public/course-animations/soil-health/tour-soil-observation.mp4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4. Point to the spacing check (F-P15) and the Course 1 skills (★). Full list: visit-playbook.md §5.</a:t>
            </a:r>
          </a:p>
          <a:p/>
          <a:p>
            <a:r>
              <a:t>Poster: M-P08</a:t>
            </a:r>
          </a:p>
          <a:p>
            <a:r>
              <a:t>Also: M-IMG-14, M-IMG-12, M-IMG-15, M-ANI-06, M-ANI-08</a:t>
            </a:r>
          </a:p>
          <a:p>
            <a:r>
              <a:t>Clip M-ANI-06: public/course-animations/market-community/watch-09-surplus-routes.mp4</a:t>
            </a:r>
          </a:p>
          <a:p>
            <a:r>
              <a:t>Clip M-ANI-08: public/course-animations/seeds-sovereignty/seed-selecting-parents.mp4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[APP] block, 25 min. Thumb → Completed on + Completion evidence. Pointing → Observations and issues, photos, site location. Middle → Support requested + support area. Ring → Skill observed + Observation result. Little → Agreed action, Responsible person, Follow-up date. Practice records only.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[PAPER] block, 25 min, same time as the app block. Pairs fill the form from the rehearsal; copy the bottom box onto the farmer's card; swap forms — could a stranger understand it?</a:t>
            </a:r>
          </a:p>
          <a:p/>
          <a:p>
            <a:r>
              <a:t>Poster: M-P14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M-D2-S1 step 6, the trio briefing card. Arrive 10:35–10:40, leave by 11:40, huddle away from the house, pick-up 11:45. Anything worrying: leave politely and phone the lead.</a:t>
            </a:r>
          </a:p>
          <a:p/>
          <a:p>
            <a:r>
              <a:t>Poster: M-P07</a:t>
            </a:r>
          </a:p>
          <a:p>
            <a:r>
              <a:t>Also: M-IMG-05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M-D2-S2. Facilitators visit 3–4 trios each, stand back, tick their own checklist, hand over the programme's thank-you pack. Host cancels: spare host → join another trio → role-play garden.</a:t>
            </a:r>
          </a:p>
          <a:p/>
          <a:p>
            <a:r>
              <a:t>Poster: M-P07</a:t>
            </a:r>
          </a:p>
          <a:p>
            <a:r>
              <a:t>Also: M-PHO-01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M-D2-S3. Trainee teams: 1 welcome &amp; register, 2–4 stations, 5 the share circle. The host teaches first — positive deviance: same soil, same rain, doing well. Find out how.</a:t>
            </a:r>
          </a:p>
          <a:p/>
          <a:p>
            <a:r>
              <a:t>Poster: M-P11</a:t>
            </a:r>
          </a:p>
          <a:p>
            <a:r>
              <a:t>Also: M-ANI-04</a:t>
            </a:r>
          </a:p>
          <a:p>
            <a:r>
              <a:t>Clip M-ANI-04: public/course-animations/market-community/watch-14-community-network.mp4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 steps 4–6. Farmers rotate in 3s–4s. In the circle, ask "Who has tried something for that?" before you answer. Each farmer says one action aloud; agree the next host.</a:t>
            </a:r>
          </a:p>
          <a:p/>
          <a:p>
            <a:r>
              <a:t>Poster: M-P11</a:t>
            </a:r>
          </a:p>
          <a:p>
            <a:r>
              <a:t>Also: M-PHO-02</a:t>
            </a:r>
          </a:p>
          <a:p>
            <a:r>
              <a:t>Clip M-ANI-09: public/course-animations/market-community/flow-seed-sharing.mp4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M-D2-S3 debrief at the site, 3 minutes, trainees only.</a:t>
            </a:r>
          </a:p>
          <a:p/>
          <a:p>
            <a:r>
              <a:t>Poster: M-P11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 1. Rain Storm energiser first. Talk privately about any visit that went badly; nothing distressing is discussed in the room.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steps 2–3. Usually the ring finger (coaching) and the middle (advice too soon) get ochre dots. "I don't know — let's find out together" is a strong answer.</a:t>
            </a:r>
          </a:p>
          <a:p/>
          <a:p>
            <a:r>
              <a:t>Poster: M-P07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M-D2-S4 steps 4–5 and key messages. Review 3 action agreements. Then the closing circle: bring your farmer list and a rough map tomorrow.</a:t>
            </a:r>
          </a:p>
          <a:p/>
          <a:p>
            <a:r>
              <a:t>Poster: M-P06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34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M-D2-01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AF7F0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AF7F0"/>
                </a:solidFill>
                <a:latin typeface="Georgia"/>
              </a:rPr>
              <a:t>Usuku 2: ukuvakasha epulazini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Walking With Farmers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AF7F0"/>
                </a:solidFill>
                <a:latin typeface="Calibri"/>
              </a:rPr>
              <a:t>Usuku 2 kwezi-3: ukuvakasha epulazini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M-IMG-01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Mentor and farmer at the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Cover image for all decks. Early morning; the mentor greets the farmer at a wire-and- dropper garden gate, both smiling, a vegetable garden behind with mulched beds and a JoJo-style tank beside a corrugated-iron roof. Sun low in the north-east, long shadows falling south-west. 16:9, 1920 × 1080, space on the left third for the slide title.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M-D2-02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Isandla Sokuvakasha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Bheka okwedlule · Hamba ubheke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Lalela ubuze · Zama ndawonye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Vumelana ubhale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M-P07-ART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M-P07 · The Visit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large open hand (brown skin tone, palm towards viewer, fingers spread). In each fingertip a small round scene: thumb — mentor and farmer looking at a mulched bed together (look back); pointing finger — the pair walking between beds, farmer pointing; middle finger (tallest) — the pair sitting in shade talking; ring finger — both kneeling, farmer's hands…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M-D2-03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Imizuzu engama-60, iminwe emihlanu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Imizuzu eyi-10 · 15 · 10 · 15 · 10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Ungalokothi unqamule umunwe weringi noma ucikicane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M-D2-04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Ukuzilolonga ngokushesha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Ngababili · imizuzu eyi-10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Imizuzu emi-2 umunwe ngamunye</a:t>
            </a:r>
          </a:p>
        </p:txBody>
      </p:sp>
      <p:pic>
        <p:nvPicPr>
          <p:cNvPr id="9" name="Picture 8" descr="tour-soil-observ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148840"/>
            <a:ext cx="5852160" cy="402336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AF7F0"/>
                </a:solidFill>
                <a:latin typeface="Calibri"/>
              </a:rPr>
              <a:t>▶  Clip M-ANI-07 · play from the tablet: tour-soil-observation.mp4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M-D2-05   ·   Poster M-P08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Okufanele ukubheke, isigaba ngesigaba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Isiqalo · ukutshala · ukukhula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Ukuvuna · ukuthengisa · ukubuyekeza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Khetha izinto ezi-3–5 zokuhlola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M-P08-ART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M-P08 · What to look at, stage by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One garden drawn six times in a row, left to right, as it changes over a season: (1) boundary pegged, beds marked, drum at the roof; (2) beds planted with a spacing string laid along one row, seedlings in a tray, mulch; (3) plants growing, a person checking under leaves, a bucket of liquid manure; (4) harvest basket on a hanging scale, a family plate;…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M-D2-06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FAF7F0"/>
                </a:solidFill>
                <a:latin typeface="Calibri"/>
              </a:rPr>
              <a:t>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[APP] Record visit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Mentor workspace → People &amp; gardens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Record visit → iminwe emi-5, izikhala ezi-5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Londoloza ungekho ku-inthanethi · kuzongena kamuva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M-D2-07   ·   Poster M-P14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[PAPER] Ifomu lokuvakasha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Amabhokisi ama-5 = iminwe emi-5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Yigcwalise epulazini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Mfundele · shiya ikhadi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M-P14-ART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M-P14 · Two tracks, same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path that splits around a tree into two lanes and joins again. Left lane: the youth holds a smartphone (screen blank), showing it to the gogo farmer. Right lane: the gogo writes in an exercise book with a pencil; an envelope of slips and a carbon invoice book beside her. Both lanes pass the same four objects: a hanging scale with a bunch of spinach, a…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M-D2-08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Iqembu lenu labathathu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Umeluleki uyahola · Obhalayo ubhala agcine isikhathi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Obukayo uyabuka, akasho lutho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Azikho izethembiso · azikho izipho · imvume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M-IMG-04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trio arrives at a farm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mentors-in-training (a young woman, an older man, a young man) waiting politely at a farmer's gate; one waves; the farmer walks towards them from the garden; a dog sits calmly by the gate. 16:9.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M-D2-09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Ukuvakasha epulazini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Imizuzu engama-60 nomlimi wangempela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Imizuzu emi-5 yokuxoxa: izinkanyezi ezimbili, isifiso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Ukulandwa ngo-11:45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 trio arrives at a farm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Three mentors-in-training (a young woman, an older man, a young man) waiting politely at a farmer's gate; one waves; the farmer walks towards them from the garden; a dog sits calmly by the gate. 16:9.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M-D2-10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Umhlangano weqembu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Ukwamukela · Uhambo lomsingathi · Zama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232323"/>
                </a:solidFill>
                <a:latin typeface="Calibri"/>
              </a:rPr>
              <a:t>•  Isiyingi sokuxoxa · Wonke umuntu uvuma umsebenzi owodwa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POSTER ART · M-P11-ART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Artwork for M-P11 · The cluster visit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A host farmer's garden with 10 farmers of mixed ages and genders. In one corner the host gogo leads a tour, pointing at a mulched bed; in the middle, three small groups of 3–4 kneeling at different stations (spacing string, seedling tray, a bucket); at the front, everyone sitting in a circle in the shade of a tree; the mentor sits in the circle, not…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M-D2-11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Iziteshi nesiyingi sokuxoxa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Iziteshi ezi-3 · imizuzu engu-8 lilinye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Abalimi baphendula abalimi kuqala</a:t>
            </a:r>
          </a:p>
        </p:txBody>
      </p:sp>
      <p:pic>
        <p:nvPicPr>
          <p:cNvPr id="9" name="Picture 8" descr="flow-seed-shar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4600"/>
            <a:ext cx="5852160" cy="329184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232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FAF7F0"/>
                </a:solidFill>
                <a:latin typeface="Calibri"/>
              </a:rPr>
              <a:t>▶  Clip M-ANI-09 · play from the tablet: flow-seed-sharing.mp4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M-D2-12   ·   Poster M-P11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Abalimi bafunda kubalimi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Inhlabathi efanayo, imvula efanayo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Ukubona kuwukukholwa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Shintshanisa umsingathi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M-D2-13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Ukuxoxa ngemuva kokuvakasha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Umeluleki kuqala · bese Obukayo · bese Obhalayo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232323"/>
                </a:solidFill>
                <a:latin typeface="Calibri"/>
              </a:rPr>
              <a:t>•  Izinkanyezi ezimbili nesifiso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FAF7F0"/>
          </a:solidFill>
          <a:ln w="15875">
            <a:solidFill>
              <a:srgbClr val="6E9C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9622B"/>
                </a:solidFill>
                <a:latin typeface="Calibri"/>
              </a:rPr>
              <a:t>IMAGE · M-IMG-05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32323"/>
                </a:solidFill>
                <a:latin typeface="Georgia"/>
              </a:rPr>
              <a:t>The observer stands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232323"/>
                </a:solidFill>
                <a:latin typeface="Calibri"/>
              </a:rPr>
              <a:t>In a garden: the mentor and the gogo kneel planting seedlings together (the gogo's hands on the plant); a recorder writes in a notebook nearby; an observer stands 3 m back with a clipboard, watching the gogo's face. 16:9.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M-D2-14   ·   Poster M-P07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96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FAF7F0"/>
                </a:solidFill>
                <a:latin typeface="Calibri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Ibalazwe lesandla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1124712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Ichashaza eliluhlaza: umunwe wethu ongcono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232323"/>
                </a:solidFill>
                <a:latin typeface="Calibri"/>
              </a:rPr>
              <a:t>•  Ichashaza le-ochre: umunwe wethu onzima kakhulu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M-D2-15   ·   Poster M-P06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232323"/>
                </a:solidFill>
                <a:latin typeface="Calibri"/>
              </a:rPr>
              <a:t>Walking With Farmers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232323"/>
                </a:solidFill>
                <a:latin typeface="Georgia"/>
              </a:rPr>
              <a:t>Ubani okhulume kakhulu?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6E9C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Umlimi ukhuluma ngaphezu kwengxenye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232323"/>
                </a:solidFill>
                <a:latin typeface="Calibri"/>
              </a:rPr>
              <a:t>•  Cela umngane akubuke njalo ngenyanga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