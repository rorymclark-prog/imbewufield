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M-D3-S0. Register, Seed Swap, one thing from a farm visit. Promise: "You leave with a plan that reaches every farmer."</a:t>
            </a:r>
          </a:p>
          <a:p/>
          <a:p>
            <a:r>
              <a:t>Also: M-P07-ART</a:t>
            </a:r>
          </a:p>
          <a:p>
            <a:r>
              <a:t>Picture M-IMG-01 (coming) — Mentor and farmer at the gate: Cover image for all decks. Early morning; the mentor greets the farmer at a wire-and- dropper garden gate, both smiling, a vegetable garden behind with mulched beds and a JoJo-style tank beside a corrugated-iron roof. Sun low in the north-east, long shadows falling south-west. 16:9, 1920 × 1080, space on the left third for the slide title.</a:t>
            </a:r>
          </a:p>
          <a:p>
            <a:r>
              <a:t>Picture M-P07-ART (coming) — Artwork for M-P07 · The Visit Hand: A large open hand (brown skin tone, palm towards viewer, fingers spread). In each fingertip a small round scene: thumb — mentor and farmer looking at a mulched bed together (look back); pointing finger — the pair walking between beds, farmer pointing; middle finger (tallest) — the pair sitting in shade talking; ring finger — both kneeling, farmer's hands planting; little finger — handshake with a notebook. Palm: a simple garden seen from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M-D3-S1 steps 1–2. "40 farmers, 20 days — can you see all every week?" Re-sort every month. The colour is private. Nobody goes a month without a contact.</a:t>
            </a:r>
          </a:p>
          <a:p/>
          <a:p>
            <a:r>
              <a:t>Poster: M-P09</a:t>
            </a:r>
          </a:p>
          <a:p>
            <a:r>
              <a:t>Picture M-P09-ART (coming) — Artwork for M-P09 · Traffic light: who needs me most?: A tall traffic light made from three stacked round shapes, each with a small scene beside it. Top (Red, with a triangle pattern for B&amp;W): a bare, dry garden and a worried farmer — the mentor walking towards them. Middle (Amber/Ochre, with dots): a half-planted garden, farmer working. Bottom (Green/Leaf, with stripes): a lush garden and a farmer showing neighbours around. A small calendar icon next to each (two marks, one mark, one mark + a phone).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M-D3-S1 step 3. Expect about 8 red, 16 amber, 16 green; any split is fine with a reason.</a:t>
            </a:r>
          </a:p>
          <a:p/>
          <a:p>
            <a:r>
              <a:t>Poster: M-P09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M-D3-S1 step 4. Worked example: 16 + 16 = 32 needed; 11 a week × 4 = 44 available; ~12 spare. Too many farmers? Bigger clusters, more phone, tell your supervisor with the sum.</a:t>
            </a:r>
          </a:p>
          <a:p/>
          <a:p>
            <a:r>
              <a:t>Poster: M-P10</a:t>
            </a:r>
          </a:p>
          <a:p>
            <a:r>
              <a:t>Picture M-P10-ART (coming) — Artwork for M-P10 · A mentor's week: A simple map of four villages (A, B, C, D drawn as four clusters of houses with gardens — letters typeset on the layout, not in the art) around a small town with a taxi rank. Five columns below the map, one per weekday, each showing a small figure of the mentor: Monday under a tree with a group of 10 farmers (cluster visit) then walking to 2 houses; Tuesday to Thursday walking a curved route to 3 houses in one cluster; Friday at a table with a phone and a notebook. Dotted route lines on the map from the farthest house back to the taxi rank.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M-D3-S1 steps 5–6. Groups draw a week on the A3 grid. Then each mentor starts their own caseload sheet: track A / P / A+P, cluster, colour.</a:t>
            </a:r>
          </a:p>
          <a:p/>
          <a:p>
            <a:r>
              <a:t>Poster: M-P10</a:t>
            </a:r>
          </a:p>
          <a:p>
            <a:r>
              <a:t>Picture M-P10-ART (coming) — Artwork for M-P10 · A mentor's week: A simple map of four villages (A, B, C, D drawn as four clusters of houses with gardens — letters typeset on the layout, not in the art) around a small town with a taxi rank. Five columns below the map, one per weekday, each showing a small figure of the mentor: Monday under a tree with a group of 10 farmers (cluster visit) then walking to 2 houses; Tuesday to Thursday walking a curved route to 3 houses in one cluster; Friday at a table with a phone and a notebook. Dotted route lines on the map from the farthest house back to the taxi rank.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M-D3-S2 steps 1–2. Welcome, host's tour, try it together, share circle, agree, individual moments with red and amber farmers.</a:t>
            </a:r>
          </a:p>
          <a:p/>
          <a:p>
            <a:r>
              <a:t>Poster: M-P11</a:t>
            </a:r>
          </a:p>
          <a:p>
            <a:r>
              <a:t>Also: M-IMG-13, M-ANI-04</a:t>
            </a:r>
          </a:p>
          <a:p>
            <a:r>
              <a:t>Picture M-P11-ART (coming) — Artwork for M-P11 · The cluster visit: A host farmer's garden with 10 farmers of mixed ages and genders. In one corner the host gogo leads a tour, pointing at a mulched bed; in the middle, three small groups of 3–4 kneeling at different stations (spacing string, seedling tray, a bucket); at the front, everyone sitting in a circle in the shade of a tree; the mentor sits in the circle, not standing. A cable-tied poster shape on the fence (blank).</a:t>
            </a:r>
          </a:p>
          <a:p>
            <a:r>
              <a:t>Clip M-ANI-04: public/course-media/mentor-3day/M-ANI-04.mp4</a:t>
            </a:r>
          </a:p>
          <a:p>
            <a:r>
              <a:t>Picture M-ANI-04 (coming) — Farmers linked in a network: Several homestead gardens on a hillside light up one by one and are joined by footpaths; people walk between them carrying seed packets, seedlings and tools; a group gathers in a circle at one host garden. (Replaces the withdrawn clip `market-community/watch-14-community-network.mp4`.)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M-D3-S2 steps 3–4. Groups 1–5 take months 1–5. Ask: "Where are the farmers' hands in your plan?"</a:t>
            </a:r>
          </a:p>
          <a:p/>
          <a:p>
            <a:r>
              <a:t>Poster: M-P11</a:t>
            </a:r>
          </a:p>
          <a:p>
            <a:r>
              <a:t>Picture M-PHO-02 (coming) — A real cluster visit circle: The share circle at a cluster visit, taken from outside the circle, all participants consenting (green-sticker holders out of frame). Landscape. Replaces M-P11-ART on the slide when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M-D3-S2 step 5. Invite councillor, extension office, school, buyers. Avoid SASSA pay days and funeral Saturdays. Planner in visit-playbook.md §4.</a:t>
            </a:r>
          </a:p>
          <a:p/>
          <a:p>
            <a:r>
              <a:t>Poster: M-P13</a:t>
            </a:r>
          </a:p>
          <a:p>
            <a:r>
              <a:t>Picture M-IMG-07 (coming) — Farmer field day: A lively half-day event in a community garden: 30–40 people; a farmer presenting at a bed with a spacing string; a table of produce with a hanging scale; elders on chairs in shade; a few children with adults; a buyer (spaza owner in an apron) talking with a farmer. 16:9.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M-D3-S2 step 6. Pairs sit back to back, 4 minutes each way. Record it: phone log or Record visit with "phone check-in".</a:t>
            </a:r>
          </a:p>
          <a:p/>
          <a:p>
            <a:r>
              <a:t>Poster: M-P12</a:t>
            </a:r>
          </a:p>
          <a:p>
            <a:r>
              <a:t>Picture M-P12-ART (coming) — Artwork for M-P12 · Phone check-in: Split scene. Left: the mentor at a table with a basic phone to her ear and a notebook. Right: the farmer in his garden, phone to ear, looking at a mulched bed; a second small inset shows him taking a photo of the bed with a smartphone. A thin line (like a sound wave) connects the two phones.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M-D3-S2 step 7. One sentence per month from visit-playbook.md §7. Shift the months to the local planting calendar.</a:t>
            </a:r>
          </a:p>
          <a:p/>
          <a:p>
            <a:r>
              <a:t>Poster: M-P13</a:t>
            </a:r>
          </a:p>
          <a:p>
            <a:r>
              <a:t>Picture M-P13-ART (coming) — Artwork for M-P13 · The season journey: A winding path across the poster through six "stops", each a small garden scene matching M-P08's stages, from bare ground (left) to harvest and seed jars (right). Along the path, small symbols show contact types: a single pair walking (individual visit), a circle of people under a tree (cluster visit), a phone (check-in), and at stops 4 and 6 a big gathering with a table of produce (field day). Sky changes from spring to high summer.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M-D3-S2 step 7 and debrief. Which contact will you use most in month 1?</a:t>
            </a:r>
          </a:p>
          <a:p/>
          <a:p>
            <a:r>
              <a:t>Poster: M-P13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M-D3-S3. Energiser first. Hook: "She sold spinach for a month. Did she make money? How would she know?" Split into [APP] and [PAPER] groups if the class is mixed. Sequence: app-track.md §3.</a:t>
            </a:r>
          </a:p>
          <a:p/>
          <a:p>
            <a:r>
              <a:t>Poster: M-P14</a:t>
            </a:r>
          </a:p>
          <a:p>
            <a:r>
              <a:t>Also: M-ANI-05</a:t>
            </a:r>
          </a:p>
          <a:p>
            <a:r>
              <a:t>Picture M-P14-ART (coming) — Artwork for M-P14 · Two tracks, same records: A path that splits around a tree into two lanes and joins again. Left lane: the youth holds a smartphone (screen blank), showing it to the gogo farmer. Right lane: the gogo writes in an exercise book with a pencil; an envelope of slips and a carbon invoice book beside her. Both lanes pass the same four objects: a hanging scale with a bunch of spinach, a till slip, a bunch handed to a buyer, a small bar chart shape. They meet at a garden gate where the mentor waits.</a:t>
            </a:r>
          </a:p>
          <a:p>
            <a:r>
              <a:t>Clip M-ANI-05: public/course-media/mentor-3day/M-ANI-05.mp4</a:t>
            </a:r>
          </a:p>
          <a:p>
            <a:r>
              <a:t>Picture M-ANI-05 (coming) — Keeping a farm record: A hand makes tally marks in two columns of a simple exercise book beside a basket of harvested greens and a hanging scale; bunches move from the basket into three piles (eat, share, sell) as marks appear. Marks are simple strokes, never readable writing. (Replaces the withdrawn clip `market-community/watch-04-farm-record.mp4`.)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M-D3-S3 [APP] rounds 1–2. Scripts in app-track.md §4 E5–E7. A bunch count is not a weight. Use Edit to correct, don't add a copy. Compare Lima's reading with the slip line by line.</a:t>
            </a:r>
          </a:p>
          <a:p/>
          <a:p>
            <a:r>
              <a:t>Poster: M-P14</a:t>
            </a:r>
          </a:p>
          <a:p>
            <a:r>
              <a:t>Picture M-IMG-08 (coming) — Weighing a harvest: Close view: the gogo hangs a bunch of spinach on a hand-held hanging scale; the youth beside her holds a phone (blank screen) and she holds an exercise book open (blank ruled lines). 16:9.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M-D3-S3 [PAPER] rounds 1–2. Same time and checks as the app rounds. Slips numbered in the envelope inside the back cover.</a:t>
            </a:r>
          </a:p>
          <a:p/>
          <a:p>
            <a:r>
              <a:t>Poster: F-P20</a:t>
            </a:r>
          </a:p>
          <a:p>
            <a:r>
              <a:t>Also: M-IMG-11</a:t>
            </a:r>
          </a:p>
          <a:p>
            <a:r>
              <a:t>Picture M-IMG-08 (coming) — Weighing a harvest: Close view: the gogo hangs a bunch of spinach on a hand-held hanging scale; the youth beside her holds a phone (blank screen) and she holds an exercise book open (blank ruled lines). 16:9.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M-D3-S3 round 3 (both tracks). Another copy is not another sale. Mark paid only when the money arrives. Sample buyer: crèche kitchen, 10 bunches at R10, pays month end.</a:t>
            </a:r>
          </a:p>
          <a:p/>
          <a:p>
            <a:r>
              <a:t>Poster: M-P14</a:t>
            </a:r>
          </a:p>
          <a:p>
            <a:r>
              <a:t>Picture M-IMG-09 (coming) — Invoice handed to a buyer: At a spaza counter (shelves of generic tins and bags, no brands), a farmer hands a bundle of bunches and a paper invoice (blank lines) to the shop owner; a carbon invoice book lies open on the counter. 16:9.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M-D3-S4 steps 1–2. Case clinic: drought, theft, conflict, drop-out, dependency (spare: safety). Danger now: SAPS 10111, Childline 116, GBV Command Centre 0800 428 428.</a:t>
            </a:r>
          </a:p>
          <a:p/>
          <a:p>
            <a:r>
              <a:t>Poster: M-P15</a:t>
            </a:r>
          </a:p>
          <a:p>
            <a:r>
              <a:t>Picture M-P15-ART (coming) — Artwork for M-P15 · When it gets hard: A dry garden with wilting plants and an empty drum. The farmer sits on the ground, head in hands. Four steps shown as footprints leading to him: the mentor breathing calmly; the mentor sitting beside him listening; the farmer standing, pointing at one small bed he can save; a small group of neighbours arriving with a wheelbarrow of grass mulch. No clinic or police imagery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M-D3-S4 steps 3–4. Use the real caseload. Buddy uses the observer checklist.</a:t>
            </a:r>
          </a:p>
          <a:p/>
          <a:p>
            <a:r>
              <a:t>Poster: M-P13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M-D3-SC. Fingers 1–5 on the six questions; sticker lists; three open questions; certificates by name with a handshake; photo only with consent.</a:t>
            </a:r>
          </a:p>
          <a:p/>
          <a:p>
            <a:r>
              <a:t>Picture M-IMG-01 (coming) — Mentor and farmer at the gate: Cover image for all decks. Early morning; the mentor greets the farmer at a wire-and- dropper garden gate, both smiling, a vegetable garden behind with mulched beds and a JoJo-style tank beside a corrugated-iron roof. Sun low in the north-east, long shadows falling south-west. 16:9, 1920 × 1080, space on the left third for the slide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8A9AA"/>
                </a:solidFill>
                <a:latin typeface="Calibri"/>
              </a:rPr>
              <a:t>Walking With Farmers  ·  M-D3-01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8A9AA"/>
                </a:solidFill>
                <a:latin typeface="Calibri"/>
              </a:rPr>
              <a:t>1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7C6C4"/>
                </a:solidFill>
                <a:latin typeface="Calibri"/>
              </a:rPr>
              <a:t>DAY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AF7F0"/>
                </a:solidFill>
                <a:latin typeface="Georgia"/>
              </a:rPr>
              <a:t>Day 3: reach every farmer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Walking With Farmers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Day 3 of 3: the season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34656" y="1014984"/>
            <a:ext cx="4114800" cy="42062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98280" y="194767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94767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2984" y="2953512"/>
            <a:ext cx="327355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Mentor and farmer at the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2984" y="4297680"/>
            <a:ext cx="327355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PICTURE · M-IMG-01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Who needs me most?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Red: every 2 weeks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Amber: every month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Green: cluster visit + phone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M-P09 · Traffic light: who needs me most?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M-P09-ART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3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Sort the case cards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40 cards · R, A, G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19400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10 minutes · say why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4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Do the sum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Red × 2 + Amber = visits needed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Field days × visits a day = available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Leave spare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M-P10 · A mentor's week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M-P10-ART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5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A mentor's week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One cluster a day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1940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Farthest first, work back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769360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6936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815080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Friday: phone, records, plan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71616" y="2069592"/>
            <a:ext cx="5608320" cy="3974592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82000" y="2886456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2000" y="2886456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3892296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M-P10 · A mentor's 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M-P10-ART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The cluster visit, six parts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2–3 hours · 8–12 farmers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Host teaches, farmers try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Rotate the host monthly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M-P11 · The cluster visit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M-P11-ART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7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Plan it, run a slice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Plan a cluster visit for your month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25952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2595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47167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232323"/>
                </a:solidFill>
                <a:latin typeface="Calibri"/>
              </a:rPr>
              <a:t>Run 10 minutes on another group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1616" y="2069592"/>
            <a:ext cx="5608320" cy="3974592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1969008"/>
            <a:ext cx="5608320" cy="3974592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82000" y="2886456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2000" y="2886456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3892296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 real cluster visit circle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PHOTO · M-PHO-02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The farmer field 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Farmers show farmers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First harvest · season review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20 to 60 people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Farmer field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PICTURE · M-IMG-07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9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Ten minutes on the phone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Greet · Look back · Show me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What's next? · 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M-P12 · Phone check-in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M-P12-ART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10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Six months with our farmers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Baseline · establish · grow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Harvest · sell ·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M-P13 · The season journey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M-P13-ART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11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Your clusters on the 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Add your cluster visit to its month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19400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Mark your field days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Coach records and money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Phone or paper: same records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One exercise per visit, 10–15 min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The farmer's hands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M-P14 · Two tracks, same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M-P14-ART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13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54640" y="411480"/>
            <a:ext cx="1143000" cy="320040"/>
          </a:xfrm>
          <a:prstGeom prst="roundRect">
            <a:avLst>
              <a:gd name="adj" fmla="val 50000"/>
            </a:avLst>
          </a:prstGeom>
          <a:solidFill>
            <a:srgbClr val="6E9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04672"/>
            <a:ext cx="9723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Harvest, money, till slip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39240"/>
            <a:ext cx="9723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Weigh → Picked (kg)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Sold and Spent · check before adding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Till slip: Lima reads, you check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Weighing a harvest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PICTURE · M-IMG-08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F-P20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14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54640" y="411480"/>
            <a:ext cx="1143000" cy="32004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6E9CC4"/>
                </a:solidFill>
                <a:latin typeface="Calibri"/>
              </a:rPr>
              <a:t>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04672"/>
            <a:ext cx="9723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Harvest page, money book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39240"/>
            <a:ext cx="9723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Date · crop · kg · where it went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Money in · money out · slip number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Weighing a harvest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PICTURE · M-IMG-08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15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Invoice the buyer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App: Invoice builder · Saved · Share PDF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Paper: duplicate book · copy stays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An invoice is not a payment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Invoice handed to a buyer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PICTURE · M-IMG-09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16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622B"/>
                </a:solidFill>
                <a:latin typeface="Calibri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When it gets hard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539240"/>
            <a:ext cx="1100328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Stay calm · Listen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What can they do?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9622B"/>
                </a:solidFill>
                <a:latin typeface="Calibri"/>
              </a:rPr>
              <a:t>—  </a:t>
            </a:r>
            <a:r>
              <a:rPr sz="2600" b="0">
                <a:solidFill>
                  <a:srgbClr val="232323"/>
                </a:solidFill>
                <a:latin typeface="Calibri"/>
              </a:rPr>
              <a:t>Who else can help?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1914144"/>
            <a:ext cx="5608320" cy="41300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813560"/>
            <a:ext cx="5608320" cy="41300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2000" y="280873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3814572"/>
            <a:ext cx="476707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Artwork for M-P15 · When it gets hard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5120640"/>
            <a:ext cx="476707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POSTER ART · M-P15-ART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23748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6E9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23748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6E9CC4"/>
                </a:solidFill>
                <a:latin typeface="Calibri"/>
              </a:rPr>
              <a:t>POSTER M-P13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900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Walking With Farmers  ·  M-D3-17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17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YOUR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232323"/>
                </a:solidFill>
                <a:latin typeface="Georgia"/>
              </a:rPr>
              <a:t>My season plan and my buddy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694688"/>
            <a:ext cx="10866120" cy="10972"/>
          </a:xfrm>
          <a:prstGeom prst="rect">
            <a:avLst/>
          </a:prstGeom>
          <a:solidFill>
            <a:srgbClr val="BAB7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106168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Plan month 1 and week 1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773680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73680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19400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Swap numbers with a buddy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486912"/>
            <a:ext cx="566928" cy="56692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8691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532632"/>
            <a:ext cx="99517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000" b="1">
                <a:solidFill>
                  <a:srgbClr val="232323"/>
                </a:solidFill>
                <a:latin typeface="Calibri"/>
              </a:rPr>
              <a:t>One observed visit in month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457200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30352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6291072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364224"/>
            <a:ext cx="11003280" cy="109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8A9AA"/>
                </a:solidFill>
                <a:latin typeface="Calibri"/>
              </a:rPr>
              <a:t>Walking With Farmers  ·  M-D3-18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8A9AA"/>
                </a:solidFill>
                <a:latin typeface="Calibri"/>
              </a:rPr>
              <a:t>18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7C6C4"/>
                </a:solidFill>
                <a:latin typeface="Calibri"/>
              </a:rPr>
              <a:t>DAY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AF7F0"/>
                </a:solidFill>
                <a:latin typeface="Georgia"/>
              </a:rPr>
              <a:t>Thank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39312"/>
            <a:ext cx="14630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Walk beside your farmers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BDAD6"/>
                </a:solidFill>
                <a:latin typeface="Calibri"/>
              </a:rPr>
              <a:t>Evaluation · certificates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34656" y="1014984"/>
            <a:ext cx="4114800" cy="4206240"/>
          </a:xfrm>
          <a:prstGeom prst="rect">
            <a:avLst/>
          </a:prstGeom>
          <a:solidFill>
            <a:srgbClr val="C4C2BD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914400"/>
            <a:ext cx="411480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D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98280" y="1947672"/>
            <a:ext cx="822960" cy="822960"/>
          </a:xfrm>
          <a:prstGeom prst="rect">
            <a:avLst/>
          </a:prstGeom>
          <a:noFill/>
          <a:ln w="25400">
            <a:solidFill>
              <a:srgbClr val="E698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947672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E08154"/>
                </a:solidFill>
                <a:latin typeface="Calibri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2984" y="2953512"/>
            <a:ext cx="3273552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444343"/>
                </a:solidFill>
                <a:latin typeface="Georgia"/>
              </a:rPr>
              <a:t>Mentor and farmer at the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2984" y="4297680"/>
            <a:ext cx="3273552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84827F"/>
                </a:solidFill>
                <a:latin typeface="Calibri"/>
              </a:rPr>
              <a:t>PICTURE · M-IMG-01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