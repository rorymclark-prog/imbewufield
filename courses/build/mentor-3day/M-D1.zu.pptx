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M-D1-S0. Register at the door. Read the consent form aloud. Say: "You already help farmers. This course is about helping well." Agree the call and response.</a:t>
            </a:r>
          </a:p>
          <a:p/>
          <a:p>
            <a:r>
              <a:t>Picture M-IMG-01 (coming) — Mentor and farmer at the gate: Cover image for all decks. Early morning; the mentor greets the farmer at a wire-and- dropper garden gate, both smiling, a vegetable garden behind with mulched beds and a JoJo-style tank beside a corrugated-iron roof. Sun low in the north-east, long shadows falling south-west. 16:9, 1920 × 1080, space on the left third for the slide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M-D1-S0 steps 5–7. Mirror energiser first. Name round with number of farmers; add them up and keep the total for Day 3. Class agreement: add "What a farmer tells us stays in this room" if missing.</a:t>
            </a:r>
          </a:p>
          <a:p/>
          <a:p>
            <a:r>
              <a:t>Poster: F-P01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M-D1-S1 step 1–2. Act both visits live (2 min each) before showing this slide. Ask which visit makes a farmer want to try again, and which one we often do.</a:t>
            </a:r>
          </a:p>
          <a:p/>
          <a:p>
            <a:r>
              <a:t>Poster: M-P01</a:t>
            </a:r>
          </a:p>
          <a:p>
            <a:r>
              <a:t>Picture M-IMG-02 (coming) — The inspector and the mentor: Split 16:9. Left: a person in a cap with a clipboard standing over a seated farmer, pointing at a dry bed; farmer looks down. Right: the mentor kneeling beside the same bed with the farmer, both looking at the soil, farmer talking. Same garden in both halves.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M-D1-S1 steps 3–5. Pairs tell "the best helper I ever had". Groups sort sticky notes under in front / beside / behind. Ask when "in front" is right (a new skill, danger).</a:t>
            </a:r>
          </a:p>
          <a:p/>
          <a:p>
            <a:r>
              <a:t>Poster: M-P01</a:t>
            </a:r>
          </a:p>
          <a:p>
            <a:r>
              <a:t>Picture M-P01-ART (coming) — Artwork for M-P01 · Walk beside: Three small scenes stacked on a dirt path between vegetable beds. Top: a person with a clipboard striding ahead, farmer trailing behind, head down (in front). Middle: the same person behind the farmer, pointing and pushing (behind). Bottom, largest and in full colour: mentor and farmer walking side by side, the farmer pointing at a healthy bed, the mentor listening, both smiling. Top two scenes muted (Hairline/grey), bottom in full palette. Sun in the north; shadows fall south.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M-D1-S1 step 6. Read the five promises with the room. Tea is hospitality; a chicken is a gift that binds. No promises of inputs, money, jobs or stipends.</a:t>
            </a:r>
          </a:p>
          <a:p/>
          <a:p>
            <a:r>
              <a:t>Poster: M-P02</a:t>
            </a:r>
          </a:p>
          <a:p>
            <a:r>
              <a:t>Picture M-P02-ART (coming) — Artwork for M-P02 · The mentor's promise: An open hand (palm facing viewer) drawn large, each finger with a small round picture above it: an ear; a hand pushing away a box of goods; closed lips with a finger (privacy); a hand politely refusing a live chicken while accepting a cup of tea; a shield over a child and a woman. Warm Paper background, Ochre circles.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M-D1-S1 step 7. Cards: JoJo tank request; a chicken gift; a nosy neighbour; a child with bruises; a farmer asking you to over-report. Expected answers are in day-1.md. Safeguarding: supervisor same day; SAPS 10111, Childline 116.</a:t>
            </a:r>
          </a:p>
          <a:p/>
          <a:p>
            <a:r>
              <a:t>Poster: M-P02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M-D1-S2 steps 1–2. Start with the 1-minute bad-listening game in pairs. Play M-ANI-01 on a tablet if you have one. "Say it back, then ask. Don't jump to advice."</a:t>
            </a:r>
          </a:p>
          <a:p/>
          <a:p>
            <a:r>
              <a:t>Poster: M-P03</a:t>
            </a:r>
          </a:p>
          <a:p>
            <a:r>
              <a:t>Also: M-ANI-01</a:t>
            </a:r>
          </a:p>
          <a:p>
            <a:r>
              <a:t>Picture M-P03-ART (coming) — Artwork for M-P03 · Listen with ears, eyes and heart: The mentor squatting at the same level as the gogo farmer who sits on an upturned 20 ℓ drum beside a bed. The mentor's phone is in her bag (visible, put away). The gogo is talking with open hands; the mentor nods. Three soft Ochre circles highlight the mentor's ear, her eyes (looking at the bed the gogo points to), and her hand on her chest.</a:t>
            </a:r>
          </a:p>
          <a:p>
            <a:r>
              <a:t>Clip M-ANI-01: public/course-media/mentor-3day/M-ANI-01.mp4</a:t>
            </a:r>
          </a:p>
          <a:p>
            <a:r>
              <a:t>Picture M-ANI-01 (coming) — Two ways to listen: 0–7 s: the farmer talks with open hands; the mentor stands, looks at her phone, glances at her watch; the farmer's gestures slow and stop, shoulders drop. 7–8 s: soft wipe. 8–15 s: same farmer; the mentor puts the phone in her bag, squats to his level, nods; the farmer straightens, gestures more, points to a bed. 15–16 s: hold,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M-D1-S2 step 3–4. Observer ticks the strip: let them finish, said back, open question, no advice, body. Hardest part: no advice. Never cut the triads.</a:t>
            </a:r>
          </a:p>
          <a:p/>
          <a:p>
            <a:r>
              <a:t>Poster: M-P03</a:t>
            </a:r>
          </a:p>
          <a:p>
            <a:r>
              <a:t>Picture M-IMG-03 (coming) — A listening triad: Three adults sitting on plastic chairs under a tree: one talking with open hands, one leaning in listening, one a little apart with a clipboard (blank sheet) watching. Mixed ages and genders. 16:9.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M-D1-S2 steps 5–6. Climb "Are your seedlings healthy?" with the room. Open questions start with What, How, Where, When, Who, Tell me about. Soften "why". Groups climb 10 closed-question cards.</a:t>
            </a:r>
          </a:p>
          <a:p/>
          <a:p>
            <a:r>
              <a:t>Poster: M-P04</a:t>
            </a:r>
          </a:p>
          <a:p>
            <a:r>
              <a:t>Picture M-P04-ART (coming) — Artwork for M-P04 · The question ladder: A wooden ladder leaning against a fruit tree. On the bottom rung the farmer stands with arms folded; on each higher rung the farmer climbs higher, looking more engaged; at the top the farmer is reaching for a ripe fruit with a smile. The mentor steadies the ladder at the bottom. Four rungs highlighted with Ochre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M-D1-S2 step 7. Two volunteers, 3 minutes each opening. Ask what changed in the farmer. Name it: a strength-based start. Take home: ask three open questions at home tonight.</a:t>
            </a:r>
          </a:p>
          <a:p/>
          <a:p>
            <a:r>
              <a:t>Poster: M-P04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M-D1-S3 steps 1–3. Energiser first. Hook: explain the A-frame by talking only, then ask a volunteer to build it. Adults learn by doing, reflecting and trying again.</a:t>
            </a:r>
          </a:p>
          <a:p/>
          <a:p>
            <a:r>
              <a:t>Poster: M-P05</a:t>
            </a:r>
          </a:p>
          <a:p>
            <a:r>
              <a:t>Also: M-ANI-02</a:t>
            </a:r>
          </a:p>
          <a:p>
            <a:r>
              <a:t>Picture M-P05-ART (coming) — Artwork for M-P05 · I do · We do · You do: Three panels left to right on one strip of garden, the same pair each time, laying a knotted spacing string along a bed and planting seedlings. Panel 1: mentor plants, farmer watches. Panel 2: both kneeling, the farmer's hands on the seedling, the mentor's hand guiding. Panel 3: the farmer planting alone; the mentor standing back with hands in pockets, watching. A small fourth panel: both sitting, talking (speech-shape without words).</a:t>
            </a:r>
          </a:p>
          <a:p>
            <a:r>
              <a:t>Clip M-ANI-02: public/course-media/mentor-3day/M-ANI-02.mp4</a:t>
            </a:r>
          </a:p>
          <a:p>
            <a:r>
              <a:t>Picture M-ANI-02 (coming) — I do · We do · You do: Spacing string along a bed. 0–7 s: the mentor plants two seedlings at the knots while the farmer watches. 7–15 s: the farmer plants with the mentor's hand guiding hers. 15–22 s: the farmer plants three alone; the mentor steps back, hands in pockets. 22–24 s: they sit and talk (no speech bubbles); loop. --- **Animations (REUSE)**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M-D1-S3 steps 4–5. Stations: A-frame (F-P06), spacing string (F-P15), seedling tray (F-P14), record book. Only one kit? Carousel, never demo-only.</a:t>
            </a:r>
          </a:p>
          <a:p/>
          <a:p>
            <a:r>
              <a:t>Poster: F-P06</a:t>
            </a:r>
          </a:p>
          <a:p>
            <a:r>
              <a:t>Also: M-ANI-02</a:t>
            </a:r>
          </a:p>
          <a:p>
            <a:r>
              <a:t>Clip M-ANI-03: public/course-animations/reading-landscape/flow-a-frame.mp4</a:t>
            </a:r>
          </a:p>
          <a:p>
            <a:r>
              <a:t>Clip M-ANI-02: public/course-media/mentor-3day/M-ANI-02.mp4</a:t>
            </a:r>
          </a:p>
          <a:p>
            <a:r>
              <a:t>Picture M-ANI-02 (coming) — I do · We do · You do: Spacing string along a bed. 0–7 s: the mentor plants two seedlings at the knots while the farmer watches. 7–15 s: the farmer plants with the mentor's hand guiding hers. 15–22 s: the farmer plants three alone; the mentor steps back, hands in pockets. 22–24 s: they sit and talk (no speech bubbles); loop. --- **Animations (REUSE)**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M-D1-S3 step 6. Same idea as the Course 1 skills checklist (✔ ◐ ✘). In the app: Skill observed and Observation result.</a:t>
            </a:r>
          </a:p>
          <a:p/>
          <a:p>
            <a:r>
              <a:t>Poster: M-P05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M-D1-S4 steps 1–4. "I'll try to mulch" vs "I will mulch the 2 front beds by Friday". Groups fix two weak agreements; pairs write a real one from the triad problem. App: Agreed action, Responsible person, Follow-up date.</a:t>
            </a:r>
          </a:p>
          <a:p/>
          <a:p>
            <a:r>
              <a:t>Poster: M-P06</a:t>
            </a:r>
          </a:p>
          <a:p>
            <a:r>
              <a:t>Picture M-P06-ART (coming) — Artwork for M-P06 · The action agreement: The mentor and farmer shaking hands over a garden bed at the end of a visit. Around them, four corner vignettes: a bundle of dry grass mulch on a bed (what); the farmer's grandson carrying grass (who); a wall calendar with one square circled (by when — no numbers); the same bed later, covered in mulch, with the mentor looking and the farmer pointing (how we'll know).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M-D1-S4 steps 5–6. Photo-pair game: which pair proves the action? App: Completed on + Completion evidence. Paper: date and what you saw.</a:t>
            </a:r>
          </a:p>
          <a:p/>
          <a:p>
            <a:r>
              <a:t>Poster: M-P16</a:t>
            </a:r>
          </a:p>
          <a:p>
            <a:r>
              <a:t>Also: M-IMG-06</a:t>
            </a:r>
          </a:p>
          <a:p>
            <a:r>
              <a:t>Picture M-P16-ART (coming) — Artwork for M-P16 · Show me what changed: Two matching views of the same bed from the same spot, side by side: left "before" — bare, cracked soil; right "after" — mulched, planted at even spacing, healthy. Below, the mentor and the farmer look at a notebook together; the farmer points at a line. A small wall-calendar square with a tick. Same fence post in both views so the viewer sees it is the same place.</a:t>
            </a:r>
          </a:p>
          <a:p>
            <a:r>
              <a:t>Picture M-IMG-06 (coming) — Before and after pairs (set of 4): Four square pairs (8 tiles, 1080 × 1080 each), same viewpoint each pair: (a) bare cracked bed → mulched bed; (b) empty seedling tray → tray of sturdy green seedlings; (c) an exercise book with one ruled line filled → many lines filled (lines only, no readable writing); (d) a 20 ℓ drum with no lid → the same drum with a lid and a tap. Also print as A5 cards for the Day 1 S4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M-D1-SC. Reporters read one action agreement each. Question Tree, parking bay. Tools back. Facilitators phone every Day 2 host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Walking With Farmers  ·  M-D1-01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7C6C4"/>
                </a:solidFill>
                <a:latin typeface="Calibri"/>
              </a:rPr>
              <a:t>USUKU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AF7F0"/>
                </a:solidFill>
                <a:latin typeface="Georgia"/>
              </a:rPr>
              <a:t>Siyanamukela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Walking With Farmers (Sihamba Nabalimi)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Usuku 1 kwezi-3: lalela, buza, qeqesha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34656" y="1014984"/>
            <a:ext cx="4114800" cy="42062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2984" y="2953512"/>
            <a:ext cx="327355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Mentor and farmer at the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4" y="4297680"/>
            <a:ext cx="327355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ISITHOMBE · M-IMG-01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F-P01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232323"/>
                </a:solidFill>
                <a:latin typeface="Georgia"/>
              </a:rPr>
              <a:t>Amaqembu ethu nesivumelwano sethu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4134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0710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071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052828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Amaqembu aba-5, aqanjwe ngezitshalo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20340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034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766060"/>
            <a:ext cx="9951720" cy="101803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Umholi · Ogcina isikhathi · Ophethe impahla · Obhalayo · Obikayo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829812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2981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75532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Imithetho emihlanu esivumelana ngayo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Ukuvakasha okubili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Ukuvakasha A noma B?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Yikuphi okukwenza uzame futhi?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The inspector and the mentor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ISITHOMBE · M-IMG-02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Hamba eceleni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Phambili: ngiyahola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Emuva: ngiyaphusha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Eceleni: sihamba ndawonye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M-P01 · Walk beside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M-P01-ART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Isethembiso someluleki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Lalela kuqala · thembisa okuyiqiniso kuphela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Imfihlo · azikho izipho ezibophayo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Gcina abantu bephephile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M-P02 · The mentor's promise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M-P02-ART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Ningenzani?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9951720" cy="101803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Ikhadi elilodwa eqenjini · imizuzu engu-8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169920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6992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5640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Obikayo uphendula ngomzuzu o-1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7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18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232323"/>
                </a:solidFill>
                <a:latin typeface="Georgia"/>
              </a:rPr>
              <a:t>Lalela ngezindlebe, amehlo, inhliziyo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3256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98320"/>
            <a:ext cx="5074920" cy="4191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Izindlebe: myeke aqede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Amehlo: ezingeni elifanayo, iselula ibekiwe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Inhliziyo: bona imizwa · phinda akushilo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807464"/>
            <a:ext cx="5608320" cy="423672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706880"/>
            <a:ext cx="5608320" cy="423672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75539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75539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76123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M-P03 · Listen with ears, eyes and heart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M-P03-ART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8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Ukulalela ngabathathu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Okhulumayo · Olalelayo · Obukayo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0184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Imizuzu emi-5 ukukhuluma + emi-3 impendulo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46735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Shintshanani kathathu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1616" y="2069592"/>
            <a:ext cx="5608320" cy="3974592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892296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 listening triad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ISITHOMBE · M-IMG-03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9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Khwela ileli lemibuzo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Ovaliwe → Ovulekile → Ojulile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→ Icebo lomlimi uqobo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"Yini enye?"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M-P04 · The question ladder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M-P04-ART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10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Qalani ngokusebenzayo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I-fishbowl: izindlela ezimbili zokuqala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19400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"Yiziphi izinkinga onazo?"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486912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8691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532632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"Yini oziqhenya ngayo?"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11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Ngiyenza · Siyenza · Uyenza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Ngiyenza: ngibonisa kanye, kancane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Siyenza: izandla zomlimi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Uyenza: buka uthule · bese nixoxa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M-P05 · I do · We do · You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M-P05-ART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F-P06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Imizuliswano yokuqeqesha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Umqeqeshi · Umlimi · Ababukeli aba-3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0184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Imizuzu eyi-12 ukuqeqesha + emi-3 impendulo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46735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Imizuliswano emibili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1616" y="2069592"/>
            <a:ext cx="5608320" cy="3974592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low-a-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2351532"/>
            <a:ext cx="5315712" cy="2990087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135624" y="5166360"/>
            <a:ext cx="5315712" cy="411480"/>
          </a:xfrm>
          <a:prstGeom prst="rect">
            <a:avLst/>
          </a:prstGeom>
          <a:solidFill>
            <a:srgbClr val="232323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5166360"/>
            <a:ext cx="5096256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▶  Play clip · flow-a-frame.mp4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Ukwenzile noma udinga usizo?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1100328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Yedwa futhi kahle = Demonstrated (Ukwenzile)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Ngosizo = Needs further support (Usadinga usizo)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D9622B"/>
                </a:solidFill>
                <a:latin typeface="Calibri"/>
              </a:rPr>
              <a:t>—  </a:t>
            </a:r>
            <a:r>
              <a:rPr sz="3200" b="0">
                <a:solidFill>
                  <a:srgbClr val="232323"/>
                </a:solidFill>
                <a:latin typeface="Calibri"/>
              </a:rPr>
              <a:t>Akukona ukwehluleka: icebo elilandelayo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Isivumelwano somsebenzi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Yini? Ubani?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Kuze kube nini?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Sizokwazi kanjani?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M-P06 · The action agreement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M-P06-ART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IPHOSTA M-P16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M-D1-15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Ngikhombise okushintshile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Ngaphambi · ngemuva · usuku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Vala kuphela uma kunobufakazi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Akwenziwanga? Yini evimbile?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M-P16 · Show me 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M-P16-ART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Walking With Farmers  ·  M-D1-16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16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7C6C4"/>
                </a:solidFill>
                <a:latin typeface="Calibri"/>
              </a:rPr>
              <a:t>USUKU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AF7F0"/>
                </a:solidFill>
                <a:latin typeface="Georgia"/>
              </a:rPr>
              <a:t>Isiyingi sokuvala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105156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Igama elilodwa ngalamuhla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Kusasa: izingadi zangempela, sihamba ngo-10:05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Izicathulo ezivaliwe, isigqoko, amanzi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