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T-D2-S0. A trainee runs the register. Energiser by a volunteer. "You said, we did" — answer</a:t>
            </a:r>
          </a:p>
          <a:p>
            <a:r>
              <a:t>yesterday's wishes in two sentences.</a:t>
            </a:r>
          </a:p>
          <a:p/>
          <a:p>
            <a:r>
              <a:t>Poster: T-P01</a:t>
            </a:r>
          </a:p>
          <a:p>
            <a:r>
              <a:t>Picture T-IMG-08 (coming) — Tree talk: A teaching circle under a big shade tree: a poster tied to the trunk at seated eye level; about twelve learners in a horseshoe on chairs and a log, faces in shade, the sun behind them in the upper part of the scene (north). The facilitator stands to one side of the poster. On the ground in the middle: two cut-open 2 ℓ bottles and a cardboard house. A dirt road in the far background.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T-D2-S0 steps 4–6. Questions to the Question Tree. Roles rotate; say today's promise.</a:t>
            </a:r>
          </a:p>
          <a:p/>
          <a:p>
            <a:r>
              <a:t>Poster: T-P11</a:t>
            </a:r>
          </a:p>
          <a:p>
            <a:r>
              <a:t>Picture T-IMG-01 (coming) — A learning circle under a tree: Twenty adults sit in a wide circle on plastic chairs and a wooden bench under a big shade tree beside a rural community hall. Mixed ages: young graduates in trainers and T-shirts, two extension officers in work shirts, gogos in headscarves, an older lead farmer in a hat. One young woman stands, mid-sentence, hands open; others lean in, some laughing. Posters hang on the hall wall behind them (drawn as rectangles with simple shapes, no letters). Sun high in the upper part of the scene (north); shadows fall toward the viewer.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T-D2-S1 step 1. Ask: at 12:30, how would you know? Only B can be seen.</a:t>
            </a:r>
          </a:p>
          <a:p/>
          <a:p>
            <a:r>
              <a:t>Poster: T-P05</a:t>
            </a:r>
          </a:p>
          <a:p>
            <a:r>
              <a:t>Picture T-P05-ART (coming) — Artwork for T-P05 · Outcomes start with a doing word: A young farmer stands proudly beside a finished, neatly layered compost heap about waist high, pointing to its layers. A facilitator beside her holds a clipboard and draws a tick shape. In the background, a clock shape on a wall shows the hands near twelve (midday). Three big ochre callout circles sit on: the farmer's pointing hand (①), the heap (②), and the heap's visible layers (③).</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T-D2-S1 steps 2–4. Foggy words: understand, know, learn about, appreciate. Groups fix six foggy</a:t>
            </a:r>
          </a:p>
          <a:p>
            <a:r>
              <a:t>cards; then pairs fix their own Round 2 outcome. Ten minutes = one small outcome.</a:t>
            </a:r>
          </a:p>
          <a:p/>
          <a:p>
            <a:r>
              <a:t>Poster: T-P05</a:t>
            </a:r>
          </a:p>
          <a:p>
            <a:r>
              <a:t>Picture T-P05-ART (coming) — Artwork for T-P05 · Outcomes start with a doing word: A young farmer stands proudly beside a finished, neatly layered compost heap about waist high, pointing to its layers. A facilitator beside her holds a clipboard and draws a tick shape. In the background, a clock shape on a wall shows the hands near twelve (midday). Three big ochre callout circles sit on: the farmer's pointing hand (①), the heap (②), and the heap's visible layers (③).</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T-D2-S1 step 5. Ask each, wait after each. Which got the best thinking?</a:t>
            </a:r>
          </a:p>
          <a:p/>
          <a:p>
            <a:r>
              <a:t>Poster: T-P08</a:t>
            </a:r>
          </a:p>
          <a:p>
            <a:r>
              <a:t>Clip T-ANI-17: public/course-media/teach-the-teachers/T-ANI-17.mp4</a:t>
            </a:r>
          </a:p>
          <a:p>
            <a:r>
              <a:t>Picture T-ANI-17 (coming) — Living soil: Cut-away of dark garden soil under mulch, magnified: earthworms tunnel, fungus threads link roots, tiny specks of life move, crumbs hold air and water droplets; a fallen leaf above is slowly broken down and pulled into the soil. (Replaces the withdrawn clip `soil-health/watch-05-living-soil.mp4`.)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T-D2-S1 steps 6–7. Not "Any questions?" but "What questions do you have?" Pairs write a ladder</a:t>
            </a:r>
          </a:p>
          <a:p>
            <a:r>
              <a:t>for a Course 1 poster.</a:t>
            </a:r>
          </a:p>
          <a:p/>
          <a:p>
            <a:r>
              <a:t>Poster: T-P08</a:t>
            </a:r>
          </a:p>
          <a:p>
            <a:r>
              <a:t>Picture T-P08-ART (coming) — Artwork for T-P08 · The question ladder: A tall wooden ladder with three rungs leans against a tree. On the bottom rung, a small figure beside one short speech-bubble shape (empty). On the middle rung, two figures with several branching bubble shapes. On the top rung, a figure looks out over a whole garden, hand on chin, with a bubble shaped like a sprouting seed. At the ladder's foot: an open hand with five fingers spread (wait), and a group of three passing a ball between them (bounce back).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T-D2-S1 step 8. Four farmer questions; then give the short content answers from the day file.</a:t>
            </a:r>
          </a:p>
          <a:p>
            <a:r>
              <a:t>Take home: three ladder questions into the Round 2 plan.</a:t>
            </a:r>
          </a:p>
          <a:p/>
          <a:p>
            <a:r>
              <a:t>Poster: T-P08</a:t>
            </a:r>
          </a:p>
          <a:p>
            <a:r>
              <a:t>Picture T-P08-ART (coming) — Artwork for T-P08 · The question ladder: A tall wooden ladder with three rungs leans against a tree. On the bottom rung, a small figure beside one short speech-bubble shape (empty). On the middle rung, two figures with several branching bubble shapes. On the top rung, a figure looks out over a whole garden, hand on chin, with a bubble shaped like a sprouting seed. At the ladder's foot: an open hand with five fingers spread (wait), and a group of three passing a ball between them (bounce back).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T-D2-S2. Ladder tally card to each Recorder. Walk out; F-P05 on the trunk; sun behind learners.</a:t>
            </a:r>
          </a:p>
          <a:p/>
          <a:p>
            <a:r>
              <a:t>Poster: F-P05</a:t>
            </a:r>
          </a:p>
          <a:p>
            <a:r>
              <a:t>Picture T-IMG-08 (coming) — Tree talk: A teaching circle under a big shade tree: a poster tied to the trunk at seated eye level; about twelve learners in a horseshoe on chairs and a log, faces in shade, the sun behind them in the upper part of the scene (north). The facilitator stands to one side of the poster. On the ground in the middle: two cut-open 2 ℓ bottles and a cardboard house. A dirt road in the far background.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T-D2-S2 steps 2–3. Cardboard house per group, torch or real sun. Stick shadow points south at noon.</a:t>
            </a:r>
          </a:p>
          <a:p/>
          <a:p>
            <a:r>
              <a:t>Poster: F-P05</a:t>
            </a:r>
          </a:p>
          <a:p>
            <a:r>
              <a:t>Also: T-ANI-13</a:t>
            </a:r>
          </a:p>
          <a:p>
            <a:r>
              <a:t>Picture T-IMG-07 (coming) — The cardboard house and the sun: Close view on bare ground: a shoebox house with a card triangle roof and small windows on each side, sitting on a patch of soil. A compass arrow drawn on the ground points up-screen (north). Sunlight comes from the north (upper part), low (winter), casting a long shadow of the house down-screen (south). Small sticks mark the edge of the shadow. Two hands hold a torch low from the north side, and another hand pushes a stick into the ground.</a:t>
            </a:r>
          </a:p>
          <a:p>
            <a:r>
              <a:t>Clip T-ANI-13: public/course-media/teach-the-teachers/T-ANI-13.mp4</a:t>
            </a:r>
          </a:p>
          <a:p>
            <a:r>
              <a:t>Picture T-ANI-13 (coming) — Sun and shadows: A small house on open ground seen from the side at an angle. The sun travels in a low arc across the NORTH side of the sky from east (right) to west (left); the house's shadow sweeps across the ground on the SOUTH side. Then winter: the arc drops lower and the shadow grows longer. Loops. (Replaces the withdrawn clip `reading-landscape/watch-09-sun-shadows.mp4`.)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T-D2-S2 steps 4–6. Debrief on F-P07; roof sum on F-P08 (60 m² × 10 mm = 600 ℓ, about 500 caught).</a:t>
            </a:r>
          </a:p>
          <a:p>
            <a:r>
              <a:t>Clip T-ANI-15 for the roof.</a:t>
            </a:r>
          </a:p>
          <a:p/>
          <a:p>
            <a:r>
              <a:t>Poster: F-P07</a:t>
            </a:r>
          </a:p>
          <a:p>
            <a:r>
              <a:t>Clip T-ANI-14: public/course-media/teach-the-teachers/T-ANI-14.mp4</a:t>
            </a:r>
          </a:p>
          <a:p>
            <a:r>
              <a:t>Picture T-ANI-14 (coming) — Water movement: A homestead on a gentle slope in a summer storm: rain falls on roof, road and yard; blue flow lines gather into channels and run downhill carrying soil. Then the same slope with stone lines and grass strips, where the water spreads and sinks in. (Replaces the withdrawn clip `reading-landscape/watch-05-water-movement.mp4`.)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T-D2-S2 steps 7–10. Ladder counts; tree-talk rules; improvised-aids brainstorm (8 free things per</a:t>
            </a:r>
          </a:p>
          <a:p>
            <a:r>
              <a:t>group); roof-sum practice. 1 mm on 1 m² = 1 litre.</a:t>
            </a:r>
          </a:p>
          <a:p/>
          <a:p>
            <a:r>
              <a:t>Poster: T-P12</a:t>
            </a:r>
          </a:p>
          <a:p>
            <a:r>
              <a:t>Picture T-P12-ART (coming) — Artwork for T-P12 · Teach with what you have (tree talk): A teaching circle under a large shade tree. A poster is tied to the trunk at the eye level of seated people. Learners sit in a horseshoe facing the trunk, the sun shape behind them in the upper part of the scene (north, marked by a small compass arrow pointing up), so their faces are in shade. The facilitator stands to one side of the poster, wind lines blowing from behind her toward the group. On the ground in the middle of the horseshoe: a cardboard house model, two cut-open 2 ℓ bottles with soil, a clear jar with layered soil, two tins with beans, a torch and a coil of knotted string. At the edge, a small group stands still at a marker stake (a stop).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T-D2-S3. Energiser by a trainee first.</a:t>
            </a:r>
          </a:p>
          <a:p/>
          <a:p>
            <a:r>
              <a:t>Poster: T-P13</a:t>
            </a:r>
          </a:p>
          <a:p>
            <a:r>
              <a:t>Picture T-P13-ART (coming) — Artwork for T-P13 · One lesson, three ways: Three tall columns. Left: a poster on a fence with a group of five standing, one pointing. Middle, top: a laptop connected to a TV on a table in a shaded room with seated learners; middle, bottom: a group of five crowded around a tablet held by one of them. Right: a group of five watching a phone; beneath it, a hand signing on a phone screen with a finger. Under each column, a small drawing of the paper version — a poster roll (left), a ring-bound flip-book of pictures (middle), a paper register on a clipboard (right) — joined to the column above by a curved arrow.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T-D2-S3 steps 2–3. Co-trainer teaches F-P06 badly (90 s) then well (90 s). Stand to the side;</a:t>
            </a:r>
          </a:p>
          <a:p>
            <a:r>
              <a:t>notes on the A5 card or phone.</a:t>
            </a:r>
          </a:p>
          <a:p/>
          <a:p>
            <a:r>
              <a:t>Poster: T-P13</a:t>
            </a:r>
          </a:p>
          <a:p>
            <a:r>
              <a:t>Picture T-IMG-02 (coming) — Notes on the phone, poster on the fence: A young female facilitator stands beside (not in front of) a poster tied to a wire fence with cable ties. She holds a phone low in one hand, glancing at it, and points with an open hand at a numbered circle on the poster. Five learners stand in a horseshoe facing the poster, one stepping forward to touch it. Garden beds behind. Poster content drawn as simple shapes with ochre numbered circles, no letters.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T-D2-S3 steps 4–6. Language-time demo with the roof sum; six scenario cards; then studio: improve</a:t>
            </a:r>
          </a:p>
          <a:p>
            <a:r>
              <a:t>the poster and write a 5-prompt Teach it card.</a:t>
            </a:r>
          </a:p>
          <a:p/>
          <a:p>
            <a:r>
              <a:t>Poster: T-P17</a:t>
            </a:r>
          </a:p>
          <a:p>
            <a:r>
              <a:t>Picture T-P17-ART (coming) — Artwork for T-P17 · Everyone learns: A mixed group of five at a raised table outside, mixing seedling soil: a gogo seated, showing seeds in her palm to others; a young man in a wheelchair at the table's end mixing soil with both hands; a young mother with a baby tied on her back; an older man seated close to the facilitator, watching her face as she speaks; two young women talking side by side (one explaining to the other). A poster with only pictures hangs behind them.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T-D2-S4 steps 1–4. Reverse order. Talk % = marks ÷ 10 × 100. Trainers observe two full teaches each.</a:t>
            </a:r>
          </a:p>
          <a:p/>
          <a:p>
            <a:r>
              <a:t>Poster: T-P04</a:t>
            </a:r>
          </a:p>
          <a:p>
            <a:r>
              <a:t>Picture T-IMG-05 (coming) — A micro-teach in a small circle: Five adults in a small circle of chairs in the corner of a hall. One young man (teaching) holds up a cut-open 2 ℓ bottle of soil while three peers lean forward, one pouring water. A fourth person, an older woman, sits slightly back with a clipboard, making tally marks (simple strokes). A second person holds up a small red card (the STOP card, no text). A hand-made poster is stuck to the wall behind them with Prestik.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T-D2-S4 steps 5–7. No comments on others' numbers. Add tips to "Our teaching tips". Tick Poster.</a:t>
            </a:r>
          </a:p>
          <a:p/>
          <a:p>
            <a:r>
              <a:t>Poster: T-P04</a:t>
            </a:r>
          </a:p>
          <a:p>
            <a:r>
              <a:t>Picture T-P04-ART (coming) — Artwork for T-P04 · The teacher-talk meter: Top half: a big half-circle gauge, like a fuel gauge, split into ten equal wedges — three Ochre wedges on the left, seven Leaf-green wedges on the right (the Leaf wedges also carry small dot pattern so it works in black and white). A thick Ink needle points into the third Ochre wedge. Bottom half: a facilitator stands to one side with an open hand gesturing toward a busy group of five who are talking and working; beside the facilitator a co-facilitator makes tally marks on a clipboard (marks drawn as simple strokes).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T-D2-SC. Eight "OK or not?" cards. Pairs made inside groups; pool B cards for Round 3 (15 min, with</a:t>
            </a:r>
          </a:p>
          <a:p>
            <a:r>
              <a:t>a practical).</a:t>
            </a:r>
          </a:p>
          <a:p/>
          <a:p>
            <a:r>
              <a:t>Poster: T-P17</a:t>
            </a:r>
          </a:p>
          <a:p>
            <a:r>
              <a:t>Picture T-IMG-15 (coming) — The register at the door: A small table at a hall doorway in the morning light. A young man signs a register on a clipboard (grid lines, no letters) while an older woman presses her thumb onto an ink pad to mark her name. A facilitator beside them holds name tags; a small sheet of green dot stickers sits on the table. A queue of three learners waits, chatting.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F3A33"/>
        </a:solidFill>
        <a:effectLst/>
      </p:bgPr>
    </p:bg>
    <p:spTree>
      <p:nvGrpSpPr>
        <p:cNvPr id="1" name=""/>
        <p:cNvGrpSpPr/>
        <p:nvPr/>
      </p:nvGrpSpPr>
      <p:grpSpPr/>
      <p:sp>
        <p:nvSpPr>
          <p:cNvPr id="2" name="Oval 1"/>
          <p:cNvSpPr/>
          <p:nvPr/>
        </p:nvSpPr>
        <p:spPr>
          <a:xfrm>
            <a:off x="-548640" y="4937760"/>
            <a:ext cx="5029200" cy="2377440"/>
          </a:xfrm>
          <a:prstGeom prst="ellipse">
            <a:avLst/>
          </a:prstGeom>
          <a:solidFill>
            <a:srgbClr val="F2EFE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077200" y="-731520"/>
            <a:ext cx="4754880" cy="2194560"/>
          </a:xfrm>
          <a:prstGeom prst="ellipse">
            <a:avLst/>
          </a:prstGeom>
          <a:solidFill>
            <a:srgbClr val="F2EFE6">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94360" y="6272784"/>
            <a:ext cx="1237488" cy="266700"/>
          </a:xfrm>
          <a:prstGeom prst="roundRect">
            <a:avLst>
              <a:gd name="adj" fmla="val 50000"/>
            </a:avLst>
          </a:prstGeom>
          <a:noFill/>
          <a:ln w="15875">
            <a:solidFill>
              <a:srgbClr val="F2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F2EFE6"/>
                </a:solidFill>
                <a:latin typeface="Trebuchet MS"/>
              </a:rPr>
              <a:t>POSTER T-P01</a:t>
            </a:r>
          </a:p>
        </p:txBody>
      </p:sp>
      <p:sp>
        <p:nvSpPr>
          <p:cNvPr id="6" name="TextBox 5"/>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A4A79E"/>
                </a:solidFill>
                <a:latin typeface="Trebuchet MS"/>
              </a:rPr>
              <a:t>Teach the Teachers  ·  T-D2-01</a:t>
            </a:r>
          </a:p>
        </p:txBody>
      </p:sp>
      <p:sp>
        <p:nvSpPr>
          <p:cNvPr id="7" name="TextBox 6"/>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A4A79E"/>
                </a:solidFill>
                <a:latin typeface="Trebuchet MS"/>
              </a:rPr>
              <a:t>1 / 17</a:t>
            </a:r>
          </a:p>
        </p:txBody>
      </p:sp>
      <p:sp>
        <p:nvSpPr>
          <p:cNvPr id="8" name="TextBox 7"/>
          <p:cNvSpPr txBox="1"/>
          <p:nvPr/>
        </p:nvSpPr>
        <p:spPr>
          <a:xfrm>
            <a:off x="822960" y="960120"/>
            <a:ext cx="6400800" cy="365760"/>
          </a:xfrm>
          <a:prstGeom prst="rect">
            <a:avLst/>
          </a:prstGeom>
          <a:noFill/>
        </p:spPr>
        <p:txBody>
          <a:bodyPr wrap="square" anchor="t" lIns="45720" rIns="45720" tIns="0" bIns="0">
            <a:spAutoFit/>
          </a:bodyPr>
          <a:lstStyle/>
          <a:p>
            <a:pPr algn="l">
              <a:spcAft>
                <a:spcPts val="800"/>
              </a:spcAft>
            </a:pPr>
            <a:r>
              <a:rPr sz="1600" b="1">
                <a:solidFill>
                  <a:srgbClr val="C1C2B9"/>
                </a:solidFill>
                <a:latin typeface="Trebuchet MS"/>
              </a:rPr>
              <a:t>DAY 2</a:t>
            </a:r>
          </a:p>
        </p:txBody>
      </p:sp>
      <p:sp>
        <p:nvSpPr>
          <p:cNvPr id="9" name="TextBox 8"/>
          <p:cNvSpPr txBox="1"/>
          <p:nvPr/>
        </p:nvSpPr>
        <p:spPr>
          <a:xfrm>
            <a:off x="822960" y="1371600"/>
            <a:ext cx="6400800" cy="2103120"/>
          </a:xfrm>
          <a:prstGeom prst="rect">
            <a:avLst/>
          </a:prstGeom>
          <a:noFill/>
        </p:spPr>
        <p:txBody>
          <a:bodyPr wrap="square" anchor="b" lIns="45720" rIns="45720" tIns="0" bIns="0">
            <a:spAutoFit/>
          </a:bodyPr>
          <a:lstStyle/>
          <a:p>
            <a:pPr algn="l">
              <a:lnSpc>
                <a:spcPct val="95000"/>
              </a:lnSpc>
              <a:spcAft>
                <a:spcPts val="800"/>
              </a:spcAft>
            </a:pPr>
            <a:r>
              <a:rPr sz="5400" b="1">
                <a:solidFill>
                  <a:srgbClr val="F2EFE6"/>
                </a:solidFill>
                <a:latin typeface="Segoe Print"/>
              </a:rPr>
              <a:t>Day 2</a:t>
            </a:r>
          </a:p>
        </p:txBody>
      </p:sp>
      <p:sp>
        <p:nvSpPr>
          <p:cNvPr id="10" name="Rectangle 9"/>
          <p:cNvSpPr/>
          <p:nvPr/>
        </p:nvSpPr>
        <p:spPr>
          <a:xfrm rot="21552000">
            <a:off x="822960" y="3639312"/>
            <a:ext cx="256032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931920"/>
            <a:ext cx="6400800" cy="1645920"/>
          </a:xfrm>
          <a:prstGeom prst="rect">
            <a:avLst/>
          </a:prstGeom>
          <a:noFill/>
        </p:spPr>
        <p:txBody>
          <a:bodyPr wrap="square" anchor="t" lIns="45720" rIns="45720" tIns="0" bIns="0">
            <a:spAutoFit/>
          </a:bodyPr>
          <a:lstStyle/>
          <a:p>
            <a:pPr algn="l">
              <a:spcAft>
                <a:spcPts val="800"/>
              </a:spcAft>
            </a:pPr>
            <a:r>
              <a:rPr sz="2400" b="0">
                <a:solidFill>
                  <a:srgbClr val="D5D4CB"/>
                </a:solidFill>
                <a:latin typeface="Trebuchet MS"/>
              </a:rPr>
              <a:t>Say less, ask more</a:t>
            </a:r>
          </a:p>
          <a:p>
            <a:pPr algn="l">
              <a:spcAft>
                <a:spcPts val="800"/>
              </a:spcAft>
            </a:pPr>
            <a:r>
              <a:rPr sz="2400" b="0">
                <a:solidFill>
                  <a:srgbClr val="D5D4CB"/>
                </a:solidFill>
                <a:latin typeface="Trebuchet MS"/>
              </a:rPr>
              <a:t>Day 2 of 5</a:t>
            </a:r>
          </a:p>
        </p:txBody>
      </p:sp>
      <p:sp>
        <p:nvSpPr>
          <p:cNvPr id="12" name="Rectangle 11"/>
          <p:cNvSpPr/>
          <p:nvPr/>
        </p:nvSpPr>
        <p:spPr>
          <a:xfrm rot="21528000">
            <a:off x="7452360" y="914400"/>
            <a:ext cx="4114800" cy="42062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20520000">
            <a:off x="7680960" y="78638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rot="840000">
            <a:off x="10515600" y="78638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098280" y="205740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205740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7" name="TextBox 16"/>
          <p:cNvSpPr txBox="1"/>
          <p:nvPr/>
        </p:nvSpPr>
        <p:spPr>
          <a:xfrm>
            <a:off x="7909560" y="3063240"/>
            <a:ext cx="320040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Tree talk</a:t>
            </a:r>
          </a:p>
        </p:txBody>
      </p:sp>
      <p:sp>
        <p:nvSpPr>
          <p:cNvPr id="18" name="TextBox 17"/>
          <p:cNvSpPr txBox="1"/>
          <p:nvPr/>
        </p:nvSpPr>
        <p:spPr>
          <a:xfrm>
            <a:off x="7909560" y="4480560"/>
            <a:ext cx="320040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PICTURE · T-IMG-08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POSTER T-P11</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T-D2-02</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2 / 17</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DAY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What did you sleep on?</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One thing you remember</a:t>
            </a:r>
          </a:p>
          <a:p>
            <a:pPr algn="l" marL="412750" indent="-412750">
              <a:spcAft>
                <a:spcPts val="1800"/>
              </a:spcAft>
            </a:pPr>
            <a:r>
              <a:rPr sz="2600" b="1">
                <a:solidFill>
                  <a:srgbClr val="D2452C"/>
                </a:solidFill>
                <a:latin typeface="Trebuchet MS"/>
              </a:rPr>
              <a:t>›  </a:t>
            </a:r>
            <a:r>
              <a:rPr sz="2600" b="0">
                <a:solidFill>
                  <a:srgbClr val="1C1C1C"/>
                </a:solidFill>
                <a:latin typeface="Trebuchet MS"/>
              </a:rPr>
              <a:t>One question you woke with</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 learning circle under a tree</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PICTURE · T-IMG-01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POSTER T-P05</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T-D2-03</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3 / 17</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DAY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Which outcome can you see?</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A: understand compost</a:t>
            </a:r>
          </a:p>
          <a:p>
            <a:pPr algn="l" marL="412750" indent="-412750">
              <a:spcAft>
                <a:spcPts val="1800"/>
              </a:spcAft>
            </a:pPr>
            <a:r>
              <a:rPr sz="2600" b="1">
                <a:solidFill>
                  <a:srgbClr val="D2452C"/>
                </a:solidFill>
                <a:latin typeface="Trebuchet MS"/>
              </a:rPr>
              <a:t>›  </a:t>
            </a:r>
            <a:r>
              <a:rPr sz="2600" b="0">
                <a:solidFill>
                  <a:srgbClr val="1C1C1C"/>
                </a:solidFill>
                <a:latin typeface="Trebuchet MS"/>
              </a:rPr>
              <a:t>B: build a 1 m layered heap</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T-P05 · Outcomes start with a doing word</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T-P05-ART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POSTER T-P05</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T-D2-04</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4 / 17</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DAY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Start with a doing word</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A doing word · What · How well</a:t>
            </a:r>
          </a:p>
          <a:p>
            <a:pPr algn="l" marL="412750" indent="-412750">
              <a:spcAft>
                <a:spcPts val="1800"/>
              </a:spcAft>
            </a:pPr>
            <a:r>
              <a:rPr sz="2600" b="1">
                <a:solidFill>
                  <a:srgbClr val="D2452C"/>
                </a:solidFill>
                <a:latin typeface="Trebuchet MS"/>
              </a:rPr>
              <a:t>›  </a:t>
            </a:r>
            <a:r>
              <a:rPr sz="2600" b="0">
                <a:solidFill>
                  <a:srgbClr val="1C1C1C"/>
                </a:solidFill>
                <a:latin typeface="Trebuchet MS"/>
              </a:rPr>
              <a:t>Make, show, find, measure, explain</a:t>
            </a:r>
          </a:p>
          <a:p>
            <a:pPr algn="l" marL="412750" indent="-412750">
              <a:spcAft>
                <a:spcPts val="1800"/>
              </a:spcAft>
            </a:pPr>
            <a:r>
              <a:rPr sz="2600" b="1">
                <a:solidFill>
                  <a:srgbClr val="D2452C"/>
                </a:solidFill>
                <a:latin typeface="Trebuchet MS"/>
              </a:rPr>
              <a:t>›  </a:t>
            </a:r>
            <a:r>
              <a:rPr sz="2600" b="0">
                <a:solidFill>
                  <a:srgbClr val="1C1C1C"/>
                </a:solidFill>
                <a:latin typeface="Trebuchet MS"/>
              </a:rPr>
              <a:t>Could you see it by lunch?</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T-P05 · Outcomes start with a doing word</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T-P05-ART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POSTER T-P08</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T-D2-05</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5 / 17</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DAY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Three questions</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Is soil alive?</a:t>
            </a:r>
          </a:p>
          <a:p>
            <a:pPr algn="l" marL="412750" indent="-412750">
              <a:spcAft>
                <a:spcPts val="1800"/>
              </a:spcAft>
            </a:pPr>
            <a:r>
              <a:rPr sz="2600" b="1">
                <a:solidFill>
                  <a:srgbClr val="D2452C"/>
                </a:solidFill>
                <a:latin typeface="Trebuchet MS"/>
              </a:rPr>
              <a:t>›  </a:t>
            </a:r>
            <a:r>
              <a:rPr sz="2600" b="0">
                <a:solidFill>
                  <a:srgbClr val="1C1C1C"/>
                </a:solidFill>
                <a:latin typeface="Trebuchet MS"/>
              </a:rPr>
              <a:t>What lives in soil?</a:t>
            </a:r>
          </a:p>
          <a:p>
            <a:pPr algn="l" marL="412750" indent="-412750">
              <a:spcAft>
                <a:spcPts val="1800"/>
              </a:spcAft>
            </a:pPr>
            <a:r>
              <a:rPr sz="2600" b="1">
                <a:solidFill>
                  <a:srgbClr val="D2452C"/>
                </a:solidFill>
                <a:latin typeface="Trebuchet MS"/>
              </a:rPr>
              <a:t>›  </a:t>
            </a:r>
            <a:r>
              <a:rPr sz="2600" b="0">
                <a:solidFill>
                  <a:srgbClr val="1C1C1C"/>
                </a:solidFill>
                <a:latin typeface="Trebuchet MS"/>
              </a:rPr>
              <a:t>How could you find out?</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82000" y="2918460"/>
            <a:ext cx="822960" cy="822960"/>
          </a:xfrm>
          <a:prstGeom prst="ellipse">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Living soil</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CLIP · T-ANI-17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POSTER T-P08</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T-D2-06</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6 / 17</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DAY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Climb the question ladder</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Closed · Open · Deeper</a:t>
            </a:r>
          </a:p>
          <a:p>
            <a:pPr algn="l" marL="412750" indent="-412750">
              <a:spcAft>
                <a:spcPts val="1800"/>
              </a:spcAft>
            </a:pPr>
            <a:r>
              <a:rPr sz="2600" b="1">
                <a:solidFill>
                  <a:srgbClr val="D2452C"/>
                </a:solidFill>
                <a:latin typeface="Trebuchet MS"/>
              </a:rPr>
              <a:t>›  </a:t>
            </a:r>
            <a:r>
              <a:rPr sz="2600" b="0">
                <a:solidFill>
                  <a:srgbClr val="1C1C1C"/>
                </a:solidFill>
                <a:latin typeface="Trebuchet MS"/>
              </a:rPr>
              <a:t>Wait 5 seconds</a:t>
            </a:r>
          </a:p>
          <a:p>
            <a:pPr algn="l" marL="412750" indent="-412750">
              <a:spcAft>
                <a:spcPts val="1800"/>
              </a:spcAft>
            </a:pPr>
            <a:r>
              <a:rPr sz="2600" b="1">
                <a:solidFill>
                  <a:srgbClr val="D2452C"/>
                </a:solidFill>
                <a:latin typeface="Trebuchet MS"/>
              </a:rPr>
              <a:t>›  </a:t>
            </a:r>
            <a:r>
              <a:rPr sz="2600" b="0">
                <a:solidFill>
                  <a:srgbClr val="1C1C1C"/>
                </a:solidFill>
                <a:latin typeface="Trebuchet MS"/>
              </a:rPr>
              <a:t>Bounce it back</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T-P08 · The question ladder</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T-P08-ART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23748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POSTER T-P08</a:t>
            </a:r>
          </a:p>
        </p:txBody>
      </p:sp>
      <p:sp>
        <p:nvSpPr>
          <p:cNvPr id="5" name="TextBox 4"/>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T-D2-07</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7 / 17</a:t>
            </a:r>
          </a:p>
        </p:txBody>
      </p:sp>
      <p:sp>
        <p:nvSpPr>
          <p:cNvPr id="7" name="Rounded Rectangle 6"/>
          <p:cNvSpPr/>
          <p:nvPr/>
        </p:nvSpPr>
        <p:spPr>
          <a:xfrm>
            <a:off x="731520" y="457200"/>
            <a:ext cx="1213866" cy="346710"/>
          </a:xfrm>
          <a:prstGeom prst="roundRect">
            <a:avLst>
              <a:gd name="adj" fmla="val 50000"/>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Trebuchet MS"/>
              </a:rPr>
              <a:t>YOUR TURN</a:t>
            </a:r>
          </a:p>
        </p:txBody>
      </p:sp>
      <p:sp>
        <p:nvSpPr>
          <p:cNvPr id="9" name="TextBox 8"/>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Wait and bounce</a:t>
            </a:r>
          </a:p>
        </p:txBody>
      </p:sp>
      <p:sp>
        <p:nvSpPr>
          <p:cNvPr id="10" name="Rectangle 9"/>
          <p:cNvSpPr/>
          <p:nvPr/>
        </p:nvSpPr>
        <p:spPr>
          <a:xfrm rot="21552000">
            <a:off x="777240" y="1694688"/>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rot="36000">
            <a:off x="1051560" y="1786128"/>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06044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1</a:t>
            </a:r>
          </a:p>
        </p:txBody>
      </p:sp>
      <p:sp>
        <p:nvSpPr>
          <p:cNvPr id="14" name="TextBox 13"/>
          <p:cNvSpPr txBox="1"/>
          <p:nvPr/>
        </p:nvSpPr>
        <p:spPr>
          <a:xfrm>
            <a:off x="1508760" y="210616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Count five fingers silently</a:t>
            </a:r>
          </a:p>
        </p:txBody>
      </p:sp>
      <p:sp>
        <p:nvSpPr>
          <p:cNvPr id="15" name="Oval 14"/>
          <p:cNvSpPr/>
          <p:nvPr/>
        </p:nvSpPr>
        <p:spPr>
          <a:xfrm>
            <a:off x="731520" y="305612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05612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2</a:t>
            </a:r>
          </a:p>
        </p:txBody>
      </p:sp>
      <p:sp>
        <p:nvSpPr>
          <p:cNvPr id="17" name="TextBox 16"/>
          <p:cNvSpPr txBox="1"/>
          <p:nvPr/>
        </p:nvSpPr>
        <p:spPr>
          <a:xfrm>
            <a:off x="1508760" y="310184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Don't answer — bounce it back</a:t>
            </a:r>
          </a:p>
        </p:txBody>
      </p:sp>
      <p:sp>
        <p:nvSpPr>
          <p:cNvPr id="18" name="Oval 17"/>
          <p:cNvSpPr/>
          <p:nvPr/>
        </p:nvSpPr>
        <p:spPr>
          <a:xfrm>
            <a:off x="731520" y="405180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05180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3</a:t>
            </a:r>
          </a:p>
        </p:txBody>
      </p:sp>
      <p:sp>
        <p:nvSpPr>
          <p:cNvPr id="20" name="TextBox 19"/>
          <p:cNvSpPr txBox="1"/>
          <p:nvPr/>
        </p:nvSpPr>
        <p:spPr>
          <a:xfrm>
            <a:off x="1508760" y="4097528"/>
            <a:ext cx="4160520" cy="621792"/>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12 minutes</a:t>
            </a:r>
          </a:p>
        </p:txBody>
      </p:sp>
      <p:sp>
        <p:nvSpPr>
          <p:cNvPr id="21" name="Rectangle 20"/>
          <p:cNvSpPr/>
          <p:nvPr/>
        </p:nvSpPr>
        <p:spPr>
          <a:xfrm rot="21528000">
            <a:off x="5989320" y="1969008"/>
            <a:ext cx="5608320" cy="3974592"/>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rot="20520000">
            <a:off x="621792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rot="840000">
            <a:off x="1054608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82000" y="2996184"/>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26" name="TextBox 25"/>
          <p:cNvSpPr txBox="1"/>
          <p:nvPr/>
        </p:nvSpPr>
        <p:spPr>
          <a:xfrm>
            <a:off x="6446520" y="4002024"/>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T-P08 · The question ladder</a:t>
            </a:r>
          </a:p>
        </p:txBody>
      </p:sp>
      <p:sp>
        <p:nvSpPr>
          <p:cNvPr id="27" name="TextBox 2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T-P08-ART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F3A33"/>
        </a:solidFill>
        <a:effectLst/>
      </p:bgPr>
    </p:bg>
    <p:spTree>
      <p:nvGrpSpPr>
        <p:cNvPr id="1" name=""/>
        <p:cNvGrpSpPr/>
        <p:nvPr/>
      </p:nvGrpSpPr>
      <p:grpSpPr/>
      <p:sp>
        <p:nvSpPr>
          <p:cNvPr id="2" name="Oval 1"/>
          <p:cNvSpPr/>
          <p:nvPr/>
        </p:nvSpPr>
        <p:spPr>
          <a:xfrm>
            <a:off x="-548640" y="4937760"/>
            <a:ext cx="5029200" cy="2377440"/>
          </a:xfrm>
          <a:prstGeom prst="ellipse">
            <a:avLst/>
          </a:prstGeom>
          <a:solidFill>
            <a:srgbClr val="F2EFE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077200" y="-731520"/>
            <a:ext cx="4754880" cy="2194560"/>
          </a:xfrm>
          <a:prstGeom prst="ellipse">
            <a:avLst/>
          </a:prstGeom>
          <a:solidFill>
            <a:srgbClr val="F2EFE6">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94360" y="6272784"/>
            <a:ext cx="1237488" cy="266700"/>
          </a:xfrm>
          <a:prstGeom prst="roundRect">
            <a:avLst>
              <a:gd name="adj" fmla="val 50000"/>
            </a:avLst>
          </a:prstGeom>
          <a:noFill/>
          <a:ln w="15875">
            <a:solidFill>
              <a:srgbClr val="F2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F2EFE6"/>
                </a:solidFill>
                <a:latin typeface="Trebuchet MS"/>
              </a:rPr>
              <a:t>POSTER F-P05</a:t>
            </a:r>
          </a:p>
        </p:txBody>
      </p:sp>
      <p:sp>
        <p:nvSpPr>
          <p:cNvPr id="6" name="TextBox 5"/>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A4A79E"/>
                </a:solidFill>
                <a:latin typeface="Trebuchet MS"/>
              </a:rPr>
              <a:t>Teach the Teachers  ·  T-D2-08</a:t>
            </a:r>
          </a:p>
        </p:txBody>
      </p:sp>
      <p:sp>
        <p:nvSpPr>
          <p:cNvPr id="7" name="TextBox 6"/>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A4A79E"/>
                </a:solidFill>
                <a:latin typeface="Trebuchet MS"/>
              </a:rPr>
              <a:t>8 / 17</a:t>
            </a:r>
          </a:p>
        </p:txBody>
      </p:sp>
      <p:sp>
        <p:nvSpPr>
          <p:cNvPr id="8" name="TextBox 7"/>
          <p:cNvSpPr txBox="1"/>
          <p:nvPr/>
        </p:nvSpPr>
        <p:spPr>
          <a:xfrm>
            <a:off x="822960" y="960120"/>
            <a:ext cx="6400800" cy="365760"/>
          </a:xfrm>
          <a:prstGeom prst="rect">
            <a:avLst/>
          </a:prstGeom>
          <a:noFill/>
        </p:spPr>
        <p:txBody>
          <a:bodyPr wrap="square" anchor="t" lIns="45720" rIns="45720" tIns="0" bIns="0">
            <a:spAutoFit/>
          </a:bodyPr>
          <a:lstStyle/>
          <a:p>
            <a:pPr algn="l">
              <a:spcAft>
                <a:spcPts val="800"/>
              </a:spcAft>
            </a:pPr>
            <a:r>
              <a:rPr sz="1600" b="1">
                <a:solidFill>
                  <a:srgbClr val="C1C2B9"/>
                </a:solidFill>
                <a:latin typeface="Trebuchet MS"/>
              </a:rPr>
              <a:t>DAY 2</a:t>
            </a:r>
          </a:p>
        </p:txBody>
      </p:sp>
      <p:sp>
        <p:nvSpPr>
          <p:cNvPr id="9" name="TextBox 8"/>
          <p:cNvSpPr txBox="1"/>
          <p:nvPr/>
        </p:nvSpPr>
        <p:spPr>
          <a:xfrm>
            <a:off x="822960" y="1371600"/>
            <a:ext cx="6400800" cy="2103120"/>
          </a:xfrm>
          <a:prstGeom prst="rect">
            <a:avLst/>
          </a:prstGeom>
          <a:noFill/>
        </p:spPr>
        <p:txBody>
          <a:bodyPr wrap="square" anchor="b" lIns="45720" rIns="45720" tIns="0" bIns="0">
            <a:spAutoFit/>
          </a:bodyPr>
          <a:lstStyle/>
          <a:p>
            <a:pPr algn="l">
              <a:lnSpc>
                <a:spcPct val="95000"/>
              </a:lnSpc>
              <a:spcAft>
                <a:spcPts val="800"/>
              </a:spcAft>
            </a:pPr>
            <a:r>
              <a:rPr sz="5400" b="1">
                <a:solidFill>
                  <a:srgbClr val="F2EFE6"/>
                </a:solidFill>
                <a:latin typeface="Segoe Print"/>
              </a:rPr>
              <a:t>Model lesson under a tree</a:t>
            </a:r>
          </a:p>
        </p:txBody>
      </p:sp>
      <p:sp>
        <p:nvSpPr>
          <p:cNvPr id="10" name="Rectangle 9"/>
          <p:cNvSpPr/>
          <p:nvPr/>
        </p:nvSpPr>
        <p:spPr>
          <a:xfrm rot="21552000">
            <a:off x="822960" y="3639312"/>
            <a:ext cx="256032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931920"/>
            <a:ext cx="6400800" cy="1645920"/>
          </a:xfrm>
          <a:prstGeom prst="rect">
            <a:avLst/>
          </a:prstGeom>
          <a:noFill/>
        </p:spPr>
        <p:txBody>
          <a:bodyPr wrap="square" anchor="t" lIns="45720" rIns="45720" tIns="0" bIns="0">
            <a:spAutoFit/>
          </a:bodyPr>
          <a:lstStyle/>
          <a:p>
            <a:pPr algn="l">
              <a:spcAft>
                <a:spcPts val="800"/>
              </a:spcAft>
            </a:pPr>
            <a:r>
              <a:rPr sz="2400" b="0">
                <a:solidFill>
                  <a:srgbClr val="D5D4CB"/>
                </a:solidFill>
                <a:latin typeface="Trebuchet MS"/>
              </a:rPr>
              <a:t>Read the land and water</a:t>
            </a:r>
          </a:p>
          <a:p>
            <a:pPr algn="l">
              <a:spcAft>
                <a:spcPts val="800"/>
              </a:spcAft>
            </a:pPr>
            <a:r>
              <a:rPr sz="2400" b="0">
                <a:solidFill>
                  <a:srgbClr val="D5D4CB"/>
                </a:solidFill>
                <a:latin typeface="Trebuchet MS"/>
              </a:rPr>
              <a:t>Recorders: count question types</a:t>
            </a:r>
          </a:p>
        </p:txBody>
      </p:sp>
      <p:sp>
        <p:nvSpPr>
          <p:cNvPr id="12" name="Rectangle 11"/>
          <p:cNvSpPr/>
          <p:nvPr/>
        </p:nvSpPr>
        <p:spPr>
          <a:xfrm rot="21528000">
            <a:off x="7452360" y="914400"/>
            <a:ext cx="4114800" cy="42062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20520000">
            <a:off x="7680960" y="78638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rot="840000">
            <a:off x="10515600" y="78638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098280" y="205740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205740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7" name="TextBox 16"/>
          <p:cNvSpPr txBox="1"/>
          <p:nvPr/>
        </p:nvSpPr>
        <p:spPr>
          <a:xfrm>
            <a:off x="7909560" y="3063240"/>
            <a:ext cx="320040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Tree talk</a:t>
            </a:r>
          </a:p>
        </p:txBody>
      </p:sp>
      <p:sp>
        <p:nvSpPr>
          <p:cNvPr id="18" name="TextBox 17"/>
          <p:cNvSpPr txBox="1"/>
          <p:nvPr/>
        </p:nvSpPr>
        <p:spPr>
          <a:xfrm>
            <a:off x="7909560" y="4480560"/>
            <a:ext cx="320040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PICTURE · T-IMG-08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23748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POSTER F-P05</a:t>
            </a:r>
          </a:p>
        </p:txBody>
      </p:sp>
      <p:sp>
        <p:nvSpPr>
          <p:cNvPr id="5" name="TextBox 4"/>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T-D2-09</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9 / 17</a:t>
            </a:r>
          </a:p>
        </p:txBody>
      </p:sp>
      <p:sp>
        <p:nvSpPr>
          <p:cNvPr id="7" name="Rounded Rectangle 6"/>
          <p:cNvSpPr/>
          <p:nvPr/>
        </p:nvSpPr>
        <p:spPr>
          <a:xfrm>
            <a:off x="731520" y="457200"/>
            <a:ext cx="1213866" cy="346710"/>
          </a:xfrm>
          <a:prstGeom prst="roundRect">
            <a:avLst>
              <a:gd name="adj" fmla="val 50000"/>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Trebuchet MS"/>
              </a:rPr>
              <a:t>YOUR TURN</a:t>
            </a:r>
          </a:p>
        </p:txBody>
      </p:sp>
      <p:sp>
        <p:nvSpPr>
          <p:cNvPr id="9" name="TextBox 8"/>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Where is the sun?</a:t>
            </a:r>
          </a:p>
        </p:txBody>
      </p:sp>
      <p:sp>
        <p:nvSpPr>
          <p:cNvPr id="10" name="Rectangle 9"/>
          <p:cNvSpPr/>
          <p:nvPr/>
        </p:nvSpPr>
        <p:spPr>
          <a:xfrm rot="21552000">
            <a:off x="777240" y="1694688"/>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rot="36000">
            <a:off x="1051560" y="1786128"/>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06044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1</a:t>
            </a:r>
          </a:p>
        </p:txBody>
      </p:sp>
      <p:sp>
        <p:nvSpPr>
          <p:cNvPr id="14" name="TextBox 13"/>
          <p:cNvSpPr txBox="1"/>
          <p:nvPr/>
        </p:nvSpPr>
        <p:spPr>
          <a:xfrm>
            <a:off x="1508760" y="2106168"/>
            <a:ext cx="4160520" cy="621792"/>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Window faces north</a:t>
            </a:r>
          </a:p>
        </p:txBody>
      </p:sp>
      <p:sp>
        <p:nvSpPr>
          <p:cNvPr id="15" name="Oval 14"/>
          <p:cNvSpPr/>
          <p:nvPr/>
        </p:nvSpPr>
        <p:spPr>
          <a:xfrm>
            <a:off x="731520" y="2773680"/>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773680"/>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2</a:t>
            </a:r>
          </a:p>
        </p:txBody>
      </p:sp>
      <p:sp>
        <p:nvSpPr>
          <p:cNvPr id="17" name="TextBox 16"/>
          <p:cNvSpPr txBox="1"/>
          <p:nvPr/>
        </p:nvSpPr>
        <p:spPr>
          <a:xfrm>
            <a:off x="1508760" y="2819400"/>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Mark winter shade with sticks</a:t>
            </a:r>
          </a:p>
        </p:txBody>
      </p:sp>
      <p:sp>
        <p:nvSpPr>
          <p:cNvPr id="18" name="Oval 17"/>
          <p:cNvSpPr/>
          <p:nvPr/>
        </p:nvSpPr>
        <p:spPr>
          <a:xfrm>
            <a:off x="731520" y="3769360"/>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769360"/>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3</a:t>
            </a:r>
          </a:p>
        </p:txBody>
      </p:sp>
      <p:sp>
        <p:nvSpPr>
          <p:cNvPr id="20" name="TextBox 19"/>
          <p:cNvSpPr txBox="1"/>
          <p:nvPr/>
        </p:nvSpPr>
        <p:spPr>
          <a:xfrm>
            <a:off x="1508760" y="3815080"/>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Which way does the shadow point?</a:t>
            </a:r>
          </a:p>
        </p:txBody>
      </p:sp>
      <p:sp>
        <p:nvSpPr>
          <p:cNvPr id="21" name="Rectangle 20"/>
          <p:cNvSpPr/>
          <p:nvPr/>
        </p:nvSpPr>
        <p:spPr>
          <a:xfrm rot="21528000">
            <a:off x="5989320" y="1969008"/>
            <a:ext cx="5608320" cy="3974592"/>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rot="20520000">
            <a:off x="621792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rot="840000">
            <a:off x="1054608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82000" y="2996184"/>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26" name="TextBox 25"/>
          <p:cNvSpPr txBox="1"/>
          <p:nvPr/>
        </p:nvSpPr>
        <p:spPr>
          <a:xfrm>
            <a:off x="6446520" y="4002024"/>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The cardboard house and the sun</a:t>
            </a:r>
          </a:p>
        </p:txBody>
      </p:sp>
      <p:sp>
        <p:nvSpPr>
          <p:cNvPr id="27" name="TextBox 2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PICTURE · T-IMG-07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23748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POSTER F-P07</a:t>
            </a:r>
          </a:p>
        </p:txBody>
      </p:sp>
      <p:sp>
        <p:nvSpPr>
          <p:cNvPr id="5" name="TextBox 4"/>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T-D2-10</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10 / 17</a:t>
            </a:r>
          </a:p>
        </p:txBody>
      </p:sp>
      <p:sp>
        <p:nvSpPr>
          <p:cNvPr id="7" name="Rounded Rectangle 6"/>
          <p:cNvSpPr/>
          <p:nvPr/>
        </p:nvSpPr>
        <p:spPr>
          <a:xfrm>
            <a:off x="731520" y="457200"/>
            <a:ext cx="1213866" cy="346710"/>
          </a:xfrm>
          <a:prstGeom prst="roundRect">
            <a:avLst>
              <a:gd name="adj" fmla="val 50000"/>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Trebuchet MS"/>
              </a:rPr>
              <a:t>YOUR TURN</a:t>
            </a:r>
          </a:p>
        </p:txBody>
      </p:sp>
      <p:sp>
        <p:nvSpPr>
          <p:cNvPr id="9" name="TextBox 8"/>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Where does the water go?</a:t>
            </a:r>
          </a:p>
        </p:txBody>
      </p:sp>
      <p:sp>
        <p:nvSpPr>
          <p:cNvPr id="10" name="Rectangle 9"/>
          <p:cNvSpPr/>
          <p:nvPr/>
        </p:nvSpPr>
        <p:spPr>
          <a:xfrm rot="21552000">
            <a:off x="777240" y="1694688"/>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rot="36000">
            <a:off x="1051560" y="1786128"/>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06044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1</a:t>
            </a:r>
          </a:p>
        </p:txBody>
      </p:sp>
      <p:sp>
        <p:nvSpPr>
          <p:cNvPr id="14" name="TextBox 13"/>
          <p:cNvSpPr txBox="1"/>
          <p:nvPr/>
        </p:nvSpPr>
        <p:spPr>
          <a:xfrm>
            <a:off x="1508760" y="210616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Pour 500 ml on each bottle</a:t>
            </a:r>
          </a:p>
        </p:txBody>
      </p:sp>
      <p:sp>
        <p:nvSpPr>
          <p:cNvPr id="15" name="Oval 14"/>
          <p:cNvSpPr/>
          <p:nvPr/>
        </p:nvSpPr>
        <p:spPr>
          <a:xfrm>
            <a:off x="731520" y="305612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05612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2</a:t>
            </a:r>
          </a:p>
        </p:txBody>
      </p:sp>
      <p:sp>
        <p:nvSpPr>
          <p:cNvPr id="17" name="TextBox 16"/>
          <p:cNvSpPr txBox="1"/>
          <p:nvPr/>
        </p:nvSpPr>
        <p:spPr>
          <a:xfrm>
            <a:off x="1508760" y="310184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Catch and measure the runoff</a:t>
            </a:r>
          </a:p>
        </p:txBody>
      </p:sp>
      <p:sp>
        <p:nvSpPr>
          <p:cNvPr id="18" name="Oval 17"/>
          <p:cNvSpPr/>
          <p:nvPr/>
        </p:nvSpPr>
        <p:spPr>
          <a:xfrm>
            <a:off x="731520" y="405180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05180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3</a:t>
            </a:r>
          </a:p>
        </p:txBody>
      </p:sp>
      <p:sp>
        <p:nvSpPr>
          <p:cNvPr id="20" name="TextBox 19"/>
          <p:cNvSpPr txBox="1"/>
          <p:nvPr/>
        </p:nvSpPr>
        <p:spPr>
          <a:xfrm>
            <a:off x="1508760" y="409752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Find three water signs</a:t>
            </a:r>
          </a:p>
        </p:txBody>
      </p:sp>
      <p:sp>
        <p:nvSpPr>
          <p:cNvPr id="21" name="Rectangle 20"/>
          <p:cNvSpPr/>
          <p:nvPr/>
        </p:nvSpPr>
        <p:spPr>
          <a:xfrm rot="21528000">
            <a:off x="5989320" y="1969008"/>
            <a:ext cx="5608320" cy="3974592"/>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rot="20520000">
            <a:off x="621792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rot="840000">
            <a:off x="1054608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382000" y="2996184"/>
            <a:ext cx="822960" cy="822960"/>
          </a:xfrm>
          <a:prstGeom prst="ellipse">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26" name="TextBox 25"/>
          <p:cNvSpPr txBox="1"/>
          <p:nvPr/>
        </p:nvSpPr>
        <p:spPr>
          <a:xfrm>
            <a:off x="6446520" y="4002024"/>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Water movement</a:t>
            </a:r>
          </a:p>
        </p:txBody>
      </p:sp>
      <p:sp>
        <p:nvSpPr>
          <p:cNvPr id="27" name="TextBox 2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CLIP · T-ANI-14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POSTER T-P12</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T-D2-11</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11 / 17</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DAY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Tree talk</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Sun behind learners</a:t>
            </a:r>
          </a:p>
          <a:p>
            <a:pPr algn="l" marL="412750" indent="-412750">
              <a:spcAft>
                <a:spcPts val="1800"/>
              </a:spcAft>
            </a:pPr>
            <a:r>
              <a:rPr sz="2600" b="1">
                <a:solidFill>
                  <a:srgbClr val="D2452C"/>
                </a:solidFill>
                <a:latin typeface="Trebuchet MS"/>
              </a:rPr>
              <a:t>›  </a:t>
            </a:r>
            <a:r>
              <a:rPr sz="2600" b="0">
                <a:solidFill>
                  <a:srgbClr val="1C1C1C"/>
                </a:solidFill>
                <a:latin typeface="Trebuchet MS"/>
              </a:rPr>
              <a:t>Poster at eye level</a:t>
            </a:r>
          </a:p>
          <a:p>
            <a:pPr algn="l" marL="412750" indent="-412750">
              <a:spcAft>
                <a:spcPts val="1800"/>
              </a:spcAft>
            </a:pPr>
            <a:r>
              <a:rPr sz="2600" b="1">
                <a:solidFill>
                  <a:srgbClr val="D2452C"/>
                </a:solidFill>
                <a:latin typeface="Trebuchet MS"/>
              </a:rPr>
              <a:t>›  </a:t>
            </a:r>
            <a:r>
              <a:rPr sz="2600" b="0">
                <a:solidFill>
                  <a:srgbClr val="1C1C1C"/>
                </a:solidFill>
                <a:latin typeface="Trebuchet MS"/>
              </a:rPr>
              <a:t>Stop, then talk</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T-P12 · Teach with what you have (tree talk)</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T-P12-ART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F3A33"/>
        </a:solidFill>
        <a:effectLst/>
      </p:bgPr>
    </p:bg>
    <p:spTree>
      <p:nvGrpSpPr>
        <p:cNvPr id="1" name=""/>
        <p:cNvGrpSpPr/>
        <p:nvPr/>
      </p:nvGrpSpPr>
      <p:grpSpPr/>
      <p:sp>
        <p:nvSpPr>
          <p:cNvPr id="2" name="Oval 1"/>
          <p:cNvSpPr/>
          <p:nvPr/>
        </p:nvSpPr>
        <p:spPr>
          <a:xfrm>
            <a:off x="-548640" y="4937760"/>
            <a:ext cx="5029200" cy="2377440"/>
          </a:xfrm>
          <a:prstGeom prst="ellipse">
            <a:avLst/>
          </a:prstGeom>
          <a:solidFill>
            <a:srgbClr val="F2EFE6">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077200" y="-731520"/>
            <a:ext cx="4754880" cy="2194560"/>
          </a:xfrm>
          <a:prstGeom prst="ellipse">
            <a:avLst/>
          </a:prstGeom>
          <a:solidFill>
            <a:srgbClr val="F2EFE6">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94360" y="6272784"/>
            <a:ext cx="1237488" cy="266700"/>
          </a:xfrm>
          <a:prstGeom prst="roundRect">
            <a:avLst>
              <a:gd name="adj" fmla="val 50000"/>
            </a:avLst>
          </a:prstGeom>
          <a:noFill/>
          <a:ln w="15875">
            <a:solidFill>
              <a:srgbClr val="F2EF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F2EFE6"/>
                </a:solidFill>
                <a:latin typeface="Trebuchet MS"/>
              </a:rPr>
              <a:t>POSTER T-P13</a:t>
            </a:r>
          </a:p>
        </p:txBody>
      </p:sp>
      <p:sp>
        <p:nvSpPr>
          <p:cNvPr id="6" name="TextBox 5"/>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A4A79E"/>
                </a:solidFill>
                <a:latin typeface="Trebuchet MS"/>
              </a:rPr>
              <a:t>Teach the Teachers  ·  T-D2-12</a:t>
            </a:r>
          </a:p>
        </p:txBody>
      </p:sp>
      <p:sp>
        <p:nvSpPr>
          <p:cNvPr id="7" name="TextBox 6"/>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A4A79E"/>
                </a:solidFill>
                <a:latin typeface="Trebuchet MS"/>
              </a:rPr>
              <a:t>12 / 17</a:t>
            </a:r>
          </a:p>
        </p:txBody>
      </p:sp>
      <p:sp>
        <p:nvSpPr>
          <p:cNvPr id="8" name="TextBox 7"/>
          <p:cNvSpPr txBox="1"/>
          <p:nvPr/>
        </p:nvSpPr>
        <p:spPr>
          <a:xfrm>
            <a:off x="822960" y="960120"/>
            <a:ext cx="6400800" cy="365760"/>
          </a:xfrm>
          <a:prstGeom prst="rect">
            <a:avLst/>
          </a:prstGeom>
          <a:noFill/>
        </p:spPr>
        <p:txBody>
          <a:bodyPr wrap="square" anchor="t" lIns="45720" rIns="45720" tIns="0" bIns="0">
            <a:spAutoFit/>
          </a:bodyPr>
          <a:lstStyle/>
          <a:p>
            <a:pPr algn="l">
              <a:spcAft>
                <a:spcPts val="800"/>
              </a:spcAft>
            </a:pPr>
            <a:r>
              <a:rPr sz="1600" b="1">
                <a:solidFill>
                  <a:srgbClr val="C1C2B9"/>
                </a:solidFill>
                <a:latin typeface="Trebuchet MS"/>
              </a:rPr>
              <a:t>DAY 2</a:t>
            </a:r>
          </a:p>
        </p:txBody>
      </p:sp>
      <p:sp>
        <p:nvSpPr>
          <p:cNvPr id="9" name="TextBox 8"/>
          <p:cNvSpPr txBox="1"/>
          <p:nvPr/>
        </p:nvSpPr>
        <p:spPr>
          <a:xfrm>
            <a:off x="822960" y="1371600"/>
            <a:ext cx="6400800" cy="2103120"/>
          </a:xfrm>
          <a:prstGeom prst="rect">
            <a:avLst/>
          </a:prstGeom>
          <a:noFill/>
        </p:spPr>
        <p:txBody>
          <a:bodyPr wrap="square" anchor="b" lIns="45720" rIns="45720" tIns="0" bIns="0">
            <a:spAutoFit/>
          </a:bodyPr>
          <a:lstStyle/>
          <a:p>
            <a:pPr algn="l">
              <a:lnSpc>
                <a:spcPct val="95000"/>
              </a:lnSpc>
              <a:spcAft>
                <a:spcPts val="800"/>
              </a:spcAft>
            </a:pPr>
            <a:r>
              <a:rPr sz="5400" b="1">
                <a:solidFill>
                  <a:srgbClr val="F2EFE6"/>
                </a:solidFill>
                <a:latin typeface="Segoe Print"/>
              </a:rPr>
              <a:t>Mode 1: posters only</a:t>
            </a:r>
          </a:p>
        </p:txBody>
      </p:sp>
      <p:sp>
        <p:nvSpPr>
          <p:cNvPr id="10" name="Rectangle 9"/>
          <p:cNvSpPr/>
          <p:nvPr/>
        </p:nvSpPr>
        <p:spPr>
          <a:xfrm rot="21552000">
            <a:off x="822960" y="3639312"/>
            <a:ext cx="256032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931920"/>
            <a:ext cx="6400800" cy="1645920"/>
          </a:xfrm>
          <a:prstGeom prst="rect">
            <a:avLst/>
          </a:prstGeom>
          <a:noFill/>
        </p:spPr>
        <p:txBody>
          <a:bodyPr wrap="square" anchor="t" lIns="45720" rIns="45720" tIns="0" bIns="0">
            <a:spAutoFit/>
          </a:bodyPr>
          <a:lstStyle/>
          <a:p>
            <a:pPr algn="l">
              <a:spcAft>
                <a:spcPts val="800"/>
              </a:spcAft>
            </a:pPr>
            <a:r>
              <a:rPr sz="2400" b="0">
                <a:solidFill>
                  <a:srgbClr val="D5D4CB"/>
                </a:solidFill>
                <a:latin typeface="Trebuchet MS"/>
              </a:rPr>
              <a:t>One lesson, three ways</a:t>
            </a:r>
          </a:p>
          <a:p>
            <a:pPr algn="l">
              <a:spcAft>
                <a:spcPts val="800"/>
              </a:spcAft>
            </a:pPr>
            <a:r>
              <a:rPr sz="2400" b="0">
                <a:solidFill>
                  <a:srgbClr val="D5D4CB"/>
                </a:solidFill>
                <a:latin typeface="Trebuchet MS"/>
              </a:rPr>
              <a:t>Today: the poster</a:t>
            </a:r>
          </a:p>
        </p:txBody>
      </p:sp>
      <p:sp>
        <p:nvSpPr>
          <p:cNvPr id="12" name="Rectangle 11"/>
          <p:cNvSpPr/>
          <p:nvPr/>
        </p:nvSpPr>
        <p:spPr>
          <a:xfrm rot="21528000">
            <a:off x="7452360" y="914400"/>
            <a:ext cx="4114800" cy="42062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20520000">
            <a:off x="7680960" y="78638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rot="840000">
            <a:off x="10515600" y="78638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098280" y="205740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205740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7" name="TextBox 16"/>
          <p:cNvSpPr txBox="1"/>
          <p:nvPr/>
        </p:nvSpPr>
        <p:spPr>
          <a:xfrm>
            <a:off x="7909560" y="3063240"/>
            <a:ext cx="320040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T-P13 · One lesson, three ways</a:t>
            </a:r>
          </a:p>
        </p:txBody>
      </p:sp>
      <p:sp>
        <p:nvSpPr>
          <p:cNvPr id="18" name="TextBox 17"/>
          <p:cNvSpPr txBox="1"/>
          <p:nvPr/>
        </p:nvSpPr>
        <p:spPr>
          <a:xfrm>
            <a:off x="7909560" y="4480560"/>
            <a:ext cx="320040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T-P13-ART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POSTER T-P13</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T-D2-13</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13 / 17</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DAY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Teach from a poster</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Cover and reveal</a:t>
            </a:r>
          </a:p>
          <a:p>
            <a:pPr algn="l" marL="412750" indent="-412750">
              <a:spcAft>
                <a:spcPts val="1800"/>
              </a:spcAft>
            </a:pPr>
            <a:r>
              <a:rPr sz="2600" b="1">
                <a:solidFill>
                  <a:srgbClr val="D2452C"/>
                </a:solidFill>
                <a:latin typeface="Trebuchet MS"/>
              </a:rPr>
              <a:t>›  </a:t>
            </a:r>
            <a:r>
              <a:rPr sz="2600" b="0">
                <a:solidFill>
                  <a:srgbClr val="1C1C1C"/>
                </a:solidFill>
                <a:latin typeface="Trebuchet MS"/>
              </a:rPr>
              <a:t>Point and ask</a:t>
            </a:r>
          </a:p>
          <a:p>
            <a:pPr algn="l" marL="412750" indent="-412750">
              <a:spcAft>
                <a:spcPts val="1800"/>
              </a:spcAft>
            </a:pPr>
            <a:r>
              <a:rPr sz="2600" b="1">
                <a:solidFill>
                  <a:srgbClr val="D2452C"/>
                </a:solidFill>
                <a:latin typeface="Trebuchet MS"/>
              </a:rPr>
              <a:t>›  </a:t>
            </a:r>
            <a:r>
              <a:rPr sz="2600" b="0">
                <a:solidFill>
                  <a:srgbClr val="1C1C1C"/>
                </a:solidFill>
                <a:latin typeface="Trebuchet MS"/>
              </a:rPr>
              <a:t>Learners come to the poster</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Notes on the phone, poster on the fence</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PICTURE · T-IMG-02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POSTER T-P17</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T-D2-14</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14 / 17</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DAY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Everyone learns</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Language time: retell it</a:t>
            </a:r>
          </a:p>
          <a:p>
            <a:pPr algn="l" marL="412750" indent="-412750">
              <a:spcAft>
                <a:spcPts val="1800"/>
              </a:spcAft>
            </a:pPr>
            <a:r>
              <a:rPr sz="2600" b="1">
                <a:solidFill>
                  <a:srgbClr val="D2452C"/>
                </a:solidFill>
                <a:latin typeface="Trebuchet MS"/>
              </a:rPr>
              <a:t>›  </a:t>
            </a:r>
            <a:r>
              <a:rPr sz="2600" b="0">
                <a:solidFill>
                  <a:srgbClr val="1C1C1C"/>
                </a:solidFill>
                <a:latin typeface="Trebuchet MS"/>
              </a:rPr>
              <a:t>A role for everyone</a:t>
            </a:r>
          </a:p>
          <a:p>
            <a:pPr algn="l" marL="412750" indent="-412750">
              <a:spcAft>
                <a:spcPts val="1800"/>
              </a:spcAft>
            </a:pPr>
            <a:r>
              <a:rPr sz="2600" b="1">
                <a:solidFill>
                  <a:srgbClr val="D2452C"/>
                </a:solidFill>
                <a:latin typeface="Trebuchet MS"/>
              </a:rPr>
              <a:t>›  </a:t>
            </a:r>
            <a:r>
              <a:rPr sz="2600" b="0">
                <a:solidFill>
                  <a:srgbClr val="1C1C1C"/>
                </a:solidFill>
                <a:latin typeface="Trebuchet MS"/>
              </a:rPr>
              <a:t>Seated jobs, picture labels</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T-P17 · Everyone learns</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T-P17-ART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6272784"/>
            <a:ext cx="123748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POSTER T-P04</a:t>
            </a:r>
          </a:p>
        </p:txBody>
      </p:sp>
      <p:sp>
        <p:nvSpPr>
          <p:cNvPr id="5" name="TextBox 4"/>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T-D2-15</a:t>
            </a:r>
          </a:p>
        </p:txBody>
      </p:sp>
      <p:sp>
        <p:nvSpPr>
          <p:cNvPr id="6" name="TextBox 5"/>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15 / 17</a:t>
            </a:r>
          </a:p>
        </p:txBody>
      </p:sp>
      <p:sp>
        <p:nvSpPr>
          <p:cNvPr id="7" name="Rounded Rectangle 6"/>
          <p:cNvSpPr/>
          <p:nvPr/>
        </p:nvSpPr>
        <p:spPr>
          <a:xfrm>
            <a:off x="731520" y="457200"/>
            <a:ext cx="1213866" cy="346710"/>
          </a:xfrm>
          <a:prstGeom prst="roundRect">
            <a:avLst>
              <a:gd name="adj" fmla="val 50000"/>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57200"/>
            <a:ext cx="1213866" cy="346710"/>
          </a:xfrm>
          <a:prstGeom prst="rect">
            <a:avLst/>
          </a:prstGeom>
          <a:noFill/>
        </p:spPr>
        <p:txBody>
          <a:bodyPr wrap="square" anchor="ctr" lIns="45720" rIns="45720" tIns="0" bIns="0">
            <a:spAutoFit/>
          </a:bodyPr>
          <a:lstStyle/>
          <a:p>
            <a:pPr algn="ctr">
              <a:spcAft>
                <a:spcPts val="800"/>
              </a:spcAft>
            </a:pPr>
            <a:r>
              <a:rPr sz="1300" b="1">
                <a:solidFill>
                  <a:srgbClr val="FFFFFF"/>
                </a:solidFill>
                <a:latin typeface="Trebuchet MS"/>
              </a:rPr>
              <a:t>YOUR TURN</a:t>
            </a:r>
          </a:p>
        </p:txBody>
      </p:sp>
      <p:sp>
        <p:nvSpPr>
          <p:cNvPr id="9" name="TextBox 8"/>
          <p:cNvSpPr txBox="1"/>
          <p:nvPr/>
        </p:nvSpPr>
        <p:spPr>
          <a:xfrm>
            <a:off x="731520" y="960120"/>
            <a:ext cx="1086612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Micro-teaching Round 2</a:t>
            </a:r>
          </a:p>
        </p:txBody>
      </p:sp>
      <p:sp>
        <p:nvSpPr>
          <p:cNvPr id="10" name="Rectangle 9"/>
          <p:cNvSpPr/>
          <p:nvPr/>
        </p:nvSpPr>
        <p:spPr>
          <a:xfrm rot="21552000">
            <a:off x="777240" y="1694688"/>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rot="36000">
            <a:off x="1051560" y="1786128"/>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06044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06044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1</a:t>
            </a:r>
          </a:p>
        </p:txBody>
      </p:sp>
      <p:sp>
        <p:nvSpPr>
          <p:cNvPr id="14" name="TextBox 13"/>
          <p:cNvSpPr txBox="1"/>
          <p:nvPr/>
        </p:nvSpPr>
        <p:spPr>
          <a:xfrm>
            <a:off x="1508760" y="210616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10 minutes, solo, posters only</a:t>
            </a:r>
          </a:p>
        </p:txBody>
      </p:sp>
      <p:sp>
        <p:nvSpPr>
          <p:cNvPr id="15" name="Oval 14"/>
          <p:cNvSpPr/>
          <p:nvPr/>
        </p:nvSpPr>
        <p:spPr>
          <a:xfrm>
            <a:off x="731520" y="305612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05612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2</a:t>
            </a:r>
          </a:p>
        </p:txBody>
      </p:sp>
      <p:sp>
        <p:nvSpPr>
          <p:cNvPr id="17" name="TextBox 16"/>
          <p:cNvSpPr txBox="1"/>
          <p:nvPr/>
        </p:nvSpPr>
        <p:spPr>
          <a:xfrm>
            <a:off x="1508760" y="3101848"/>
            <a:ext cx="4160520" cy="904240"/>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Observer counts talk and questions</a:t>
            </a:r>
          </a:p>
        </p:txBody>
      </p:sp>
      <p:sp>
        <p:nvSpPr>
          <p:cNvPr id="18" name="Oval 17"/>
          <p:cNvSpPr/>
          <p:nvPr/>
        </p:nvSpPr>
        <p:spPr>
          <a:xfrm>
            <a:off x="731520" y="4051808"/>
            <a:ext cx="566928" cy="566928"/>
          </a:xfrm>
          <a:prstGeom prst="ellipse">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051808"/>
            <a:ext cx="566928" cy="566928"/>
          </a:xfrm>
          <a:prstGeom prst="rect">
            <a:avLst/>
          </a:prstGeom>
          <a:noFill/>
        </p:spPr>
        <p:txBody>
          <a:bodyPr wrap="square" anchor="ctr" lIns="45720" rIns="45720" tIns="0" bIns="0">
            <a:spAutoFit/>
          </a:bodyPr>
          <a:lstStyle/>
          <a:p>
            <a:pPr algn="ctr">
              <a:spcAft>
                <a:spcPts val="800"/>
              </a:spcAft>
            </a:pPr>
            <a:r>
              <a:rPr sz="2200" b="1">
                <a:solidFill>
                  <a:srgbClr val="FFFFFF"/>
                </a:solidFill>
                <a:latin typeface="Segoe Print"/>
              </a:rPr>
              <a:t>3</a:t>
            </a:r>
          </a:p>
        </p:txBody>
      </p:sp>
      <p:sp>
        <p:nvSpPr>
          <p:cNvPr id="20" name="TextBox 19"/>
          <p:cNvSpPr txBox="1"/>
          <p:nvPr/>
        </p:nvSpPr>
        <p:spPr>
          <a:xfrm>
            <a:off x="1508760" y="4097528"/>
            <a:ext cx="4160520" cy="621792"/>
          </a:xfrm>
          <a:prstGeom prst="rect">
            <a:avLst/>
          </a:prstGeom>
          <a:noFill/>
        </p:spPr>
        <p:txBody>
          <a:bodyPr wrap="square" anchor="t" lIns="45720" rIns="45720" tIns="0" bIns="0">
            <a:spAutoFit/>
          </a:bodyPr>
          <a:lstStyle/>
          <a:p>
            <a:pPr algn="l">
              <a:lnSpc>
                <a:spcPct val="95000"/>
              </a:lnSpc>
              <a:spcAft>
                <a:spcPts val="800"/>
              </a:spcAft>
            </a:pPr>
            <a:r>
              <a:rPr sz="2600" b="1">
                <a:solidFill>
                  <a:srgbClr val="1C1C1C"/>
                </a:solidFill>
                <a:latin typeface="Trebuchet MS"/>
              </a:rPr>
              <a:t>6 minutes feedback</a:t>
            </a:r>
          </a:p>
        </p:txBody>
      </p:sp>
      <p:sp>
        <p:nvSpPr>
          <p:cNvPr id="21" name="Rectangle 20"/>
          <p:cNvSpPr/>
          <p:nvPr/>
        </p:nvSpPr>
        <p:spPr>
          <a:xfrm rot="21528000">
            <a:off x="5989320" y="1969008"/>
            <a:ext cx="5608320" cy="3974592"/>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rot="20520000">
            <a:off x="621792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rot="840000">
            <a:off x="10546080" y="1840992"/>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82000" y="2996184"/>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82000" y="2996184"/>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26" name="TextBox 25"/>
          <p:cNvSpPr txBox="1"/>
          <p:nvPr/>
        </p:nvSpPr>
        <p:spPr>
          <a:xfrm>
            <a:off x="6446520" y="4002024"/>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 micro-teach in a small circle</a:t>
            </a:r>
          </a:p>
        </p:txBody>
      </p:sp>
      <p:sp>
        <p:nvSpPr>
          <p:cNvPr id="27" name="TextBox 2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PICTURE · T-IMG-05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POSTER T-P04</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T-D2-16</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16 / 17</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DAY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The talk scoreboard</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Write your own talk %</a:t>
            </a:r>
          </a:p>
          <a:p>
            <a:pPr algn="l" marL="412750" indent="-412750">
              <a:spcAft>
                <a:spcPts val="1800"/>
              </a:spcAft>
            </a:pPr>
            <a:r>
              <a:rPr sz="2600" b="1">
                <a:solidFill>
                  <a:srgbClr val="D2452C"/>
                </a:solidFill>
                <a:latin typeface="Trebuchet MS"/>
              </a:rPr>
              <a:t>›  </a:t>
            </a:r>
            <a:r>
              <a:rPr sz="2600" b="0">
                <a:solidFill>
                  <a:srgbClr val="1C1C1C"/>
                </a:solidFill>
                <a:latin typeface="Trebuchet MS"/>
              </a:rPr>
              <a:t>What helped you talk less?</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Artwork for T-P04 · The teacher-talk meter</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POSTER ART · T-P04-ART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C9A77C"/>
        </a:solidFill>
        <a:effectLst/>
      </p:bgPr>
    </p:bg>
    <p:spTree>
      <p:nvGrpSpPr>
        <p:cNvPr id="1" name=""/>
        <p:cNvGrpSpPr/>
        <p:nvPr/>
      </p:nvGrpSpPr>
      <p:grpSpPr/>
      <p:sp>
        <p:nvSpPr>
          <p:cNvPr id="2" name="Rounded Rectangle 1"/>
          <p:cNvSpPr/>
          <p:nvPr/>
        </p:nvSpPr>
        <p:spPr>
          <a:xfrm>
            <a:off x="594360" y="6272784"/>
            <a:ext cx="1237488" cy="266700"/>
          </a:xfrm>
          <a:prstGeom prst="roundRect">
            <a:avLst>
              <a:gd name="adj" fmla="val 50000"/>
            </a:avLst>
          </a:prstGeom>
          <a:noFill/>
          <a:ln w="15875">
            <a:solidFill>
              <a:srgbClr val="2C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6272784"/>
            <a:ext cx="1237488" cy="266700"/>
          </a:xfrm>
          <a:prstGeom prst="rect">
            <a:avLst/>
          </a:prstGeom>
          <a:noFill/>
        </p:spPr>
        <p:txBody>
          <a:bodyPr wrap="square" anchor="ctr" lIns="45720" rIns="45720" tIns="0" bIns="0">
            <a:spAutoFit/>
          </a:bodyPr>
          <a:lstStyle/>
          <a:p>
            <a:pPr algn="ctr">
              <a:spcAft>
                <a:spcPts val="800"/>
              </a:spcAft>
            </a:pPr>
            <a:r>
              <a:rPr sz="1000" b="1">
                <a:solidFill>
                  <a:srgbClr val="2C6FB7"/>
                </a:solidFill>
                <a:latin typeface="Trebuchet MS"/>
              </a:rPr>
              <a:t>POSTER T-P17</a:t>
            </a:r>
          </a:p>
        </p:txBody>
      </p:sp>
      <p:sp>
        <p:nvSpPr>
          <p:cNvPr id="4" name="TextBox 3"/>
          <p:cNvSpPr txBox="1"/>
          <p:nvPr/>
        </p:nvSpPr>
        <p:spPr>
          <a:xfrm>
            <a:off x="1969008" y="6291072"/>
            <a:ext cx="5486400" cy="274320"/>
          </a:xfrm>
          <a:prstGeom prst="rect">
            <a:avLst/>
          </a:prstGeom>
          <a:noFill/>
        </p:spPr>
        <p:txBody>
          <a:bodyPr wrap="square" anchor="ctr" lIns="45720" rIns="45720" tIns="0" bIns="0">
            <a:spAutoFit/>
          </a:bodyPr>
          <a:lstStyle/>
          <a:p>
            <a:pPr algn="l">
              <a:spcAft>
                <a:spcPts val="800"/>
              </a:spcAft>
            </a:pPr>
            <a:r>
              <a:rPr sz="1000" b="0">
                <a:solidFill>
                  <a:srgbClr val="6A5B47"/>
                </a:solidFill>
                <a:latin typeface="Trebuchet MS"/>
              </a:rPr>
              <a:t>Teach the Teachers  ·  T-D2-17</a:t>
            </a:r>
          </a:p>
        </p:txBody>
      </p:sp>
      <p:sp>
        <p:nvSpPr>
          <p:cNvPr id="5" name="TextBox 4"/>
          <p:cNvSpPr txBox="1"/>
          <p:nvPr/>
        </p:nvSpPr>
        <p:spPr>
          <a:xfrm>
            <a:off x="9768840" y="6291072"/>
            <a:ext cx="1828800" cy="274320"/>
          </a:xfrm>
          <a:prstGeom prst="rect">
            <a:avLst/>
          </a:prstGeom>
          <a:noFill/>
        </p:spPr>
        <p:txBody>
          <a:bodyPr wrap="square" anchor="ctr" lIns="45720" rIns="45720" tIns="0" bIns="0">
            <a:spAutoFit/>
          </a:bodyPr>
          <a:lstStyle/>
          <a:p>
            <a:pPr algn="r">
              <a:spcAft>
                <a:spcPts val="800"/>
              </a:spcAft>
            </a:pPr>
            <a:r>
              <a:rPr sz="1000" b="0">
                <a:solidFill>
                  <a:srgbClr val="6A5B47"/>
                </a:solidFill>
                <a:latin typeface="Trebuchet MS"/>
              </a:rPr>
              <a:t>17 / 17</a:t>
            </a:r>
          </a:p>
        </p:txBody>
      </p:sp>
      <p:sp>
        <p:nvSpPr>
          <p:cNvPr id="6" name="TextBox 5"/>
          <p:cNvSpPr txBox="1"/>
          <p:nvPr/>
        </p:nvSpPr>
        <p:spPr>
          <a:xfrm>
            <a:off x="594360" y="457200"/>
            <a:ext cx="8229600" cy="320040"/>
          </a:xfrm>
          <a:prstGeom prst="rect">
            <a:avLst/>
          </a:prstGeom>
          <a:noFill/>
        </p:spPr>
        <p:txBody>
          <a:bodyPr wrap="square" anchor="t" lIns="45720" rIns="45720" tIns="0" bIns="0">
            <a:spAutoFit/>
          </a:bodyPr>
          <a:lstStyle/>
          <a:p>
            <a:pPr algn="l">
              <a:spcAft>
                <a:spcPts val="800"/>
              </a:spcAft>
            </a:pPr>
            <a:r>
              <a:rPr sz="1300" b="1">
                <a:solidFill>
                  <a:srgbClr val="D2452C"/>
                </a:solidFill>
                <a:latin typeface="Trebuchet MS"/>
              </a:rPr>
              <a:t>DAY 2</a:t>
            </a:r>
          </a:p>
        </p:txBody>
      </p:sp>
      <p:sp>
        <p:nvSpPr>
          <p:cNvPr id="7" name="TextBox 6"/>
          <p:cNvSpPr txBox="1"/>
          <p:nvPr/>
        </p:nvSpPr>
        <p:spPr>
          <a:xfrm>
            <a:off x="594360" y="804672"/>
            <a:ext cx="11003280" cy="624840"/>
          </a:xfrm>
          <a:prstGeom prst="rect">
            <a:avLst/>
          </a:prstGeom>
          <a:noFill/>
        </p:spPr>
        <p:txBody>
          <a:bodyPr wrap="square" anchor="t" lIns="45720" rIns="45720" tIns="0" bIns="0">
            <a:spAutoFit/>
          </a:bodyPr>
          <a:lstStyle/>
          <a:p>
            <a:pPr algn="l">
              <a:lnSpc>
                <a:spcPct val="95000"/>
              </a:lnSpc>
              <a:spcAft>
                <a:spcPts val="800"/>
              </a:spcAft>
            </a:pPr>
            <a:r>
              <a:rPr sz="4000" b="1">
                <a:solidFill>
                  <a:srgbClr val="1C1C1C"/>
                </a:solidFill>
                <a:latin typeface="Segoe Print"/>
              </a:rPr>
              <a:t>Course craft: POPIA</a:t>
            </a:r>
          </a:p>
        </p:txBody>
      </p:sp>
      <p:sp>
        <p:nvSpPr>
          <p:cNvPr id="8" name="Rectangle 7"/>
          <p:cNvSpPr/>
          <p:nvPr/>
        </p:nvSpPr>
        <p:spPr>
          <a:xfrm rot="21552000">
            <a:off x="640080" y="1539240"/>
            <a:ext cx="2377440" cy="64008"/>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rot="36000">
            <a:off x="914400" y="1630680"/>
            <a:ext cx="1645920" cy="36576"/>
          </a:xfrm>
          <a:prstGeom prst="rect">
            <a:avLst/>
          </a:prstGeom>
          <a:solidFill>
            <a:srgbClr val="D2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905000"/>
            <a:ext cx="5074920" cy="4084320"/>
          </a:xfrm>
          <a:prstGeom prst="rect">
            <a:avLst/>
          </a:prstGeom>
          <a:noFill/>
        </p:spPr>
        <p:txBody>
          <a:bodyPr wrap="square" anchor="t" lIns="45720" rIns="45720" tIns="0" bIns="0">
            <a:spAutoFit/>
          </a:bodyPr>
          <a:lstStyle/>
          <a:p>
            <a:pPr algn="l" marL="412750" indent="-412750">
              <a:spcAft>
                <a:spcPts val="1800"/>
              </a:spcAft>
            </a:pPr>
            <a:r>
              <a:rPr sz="2600" b="1">
                <a:solidFill>
                  <a:srgbClr val="D2452C"/>
                </a:solidFill>
                <a:latin typeface="Trebuchet MS"/>
              </a:rPr>
              <a:t>›  </a:t>
            </a:r>
            <a:r>
              <a:rPr sz="2600" b="0">
                <a:solidFill>
                  <a:srgbClr val="1C1C1C"/>
                </a:solidFill>
                <a:latin typeface="Trebuchet MS"/>
              </a:rPr>
              <a:t>Consent before the camera</a:t>
            </a:r>
          </a:p>
          <a:p>
            <a:pPr algn="l" marL="412750" indent="-412750">
              <a:spcAft>
                <a:spcPts val="1800"/>
              </a:spcAft>
            </a:pPr>
            <a:r>
              <a:rPr sz="2600" b="1">
                <a:solidFill>
                  <a:srgbClr val="D2452C"/>
                </a:solidFill>
                <a:latin typeface="Trebuchet MS"/>
              </a:rPr>
              <a:t>›  </a:t>
            </a:r>
            <a:r>
              <a:rPr sz="2600" b="0">
                <a:solidFill>
                  <a:srgbClr val="1C1C1C"/>
                </a:solidFill>
                <a:latin typeface="Trebuchet MS"/>
              </a:rPr>
              <a:t>Green dot = no photos</a:t>
            </a:r>
          </a:p>
          <a:p>
            <a:pPr algn="l" marL="412750" indent="-412750">
              <a:spcAft>
                <a:spcPts val="1800"/>
              </a:spcAft>
            </a:pPr>
            <a:r>
              <a:rPr sz="2600" b="1">
                <a:solidFill>
                  <a:srgbClr val="D2452C"/>
                </a:solidFill>
                <a:latin typeface="Trebuchet MS"/>
              </a:rPr>
              <a:t>›  </a:t>
            </a:r>
            <a:r>
              <a:rPr sz="2600" b="0">
                <a:solidFill>
                  <a:srgbClr val="1C1C1C"/>
                </a:solidFill>
                <a:latin typeface="Trebuchet MS"/>
              </a:rPr>
              <a:t>Share only what was agreed</a:t>
            </a:r>
          </a:p>
        </p:txBody>
      </p:sp>
      <p:sp>
        <p:nvSpPr>
          <p:cNvPr id="11" name="Rectangle 10"/>
          <p:cNvSpPr/>
          <p:nvPr/>
        </p:nvSpPr>
        <p:spPr>
          <a:xfrm rot="21528000">
            <a:off x="5989320" y="1813560"/>
            <a:ext cx="5608320" cy="413004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rot="20520000">
            <a:off x="621792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rot="840000">
            <a:off x="10546080" y="1685544"/>
            <a:ext cx="822960" cy="274320"/>
          </a:xfrm>
          <a:prstGeom prst="rect">
            <a:avLst/>
          </a:prstGeom>
          <a:solidFill>
            <a:srgbClr val="F3E6A6">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2000" y="2918460"/>
            <a:ext cx="822960" cy="822960"/>
          </a:xfrm>
          <a:prstGeom prst="rect">
            <a:avLst/>
          </a:prstGeom>
          <a:noFill/>
          <a:ln w="25400">
            <a:solidFill>
              <a:srgbClr val="D978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2000" y="2918460"/>
            <a:ext cx="822960" cy="822960"/>
          </a:xfrm>
          <a:prstGeom prst="rect">
            <a:avLst/>
          </a:prstGeom>
          <a:noFill/>
        </p:spPr>
        <p:txBody>
          <a:bodyPr wrap="square" anchor="ctr" lIns="45720" rIns="45720" tIns="0" bIns="0">
            <a:spAutoFit/>
          </a:bodyPr>
          <a:lstStyle/>
          <a:p>
            <a:pPr algn="ctr">
              <a:spcAft>
                <a:spcPts val="800"/>
              </a:spcAft>
            </a:pPr>
            <a:r>
              <a:rPr sz="2600" b="0">
                <a:solidFill>
                  <a:srgbClr val="D6624A"/>
                </a:solidFill>
                <a:latin typeface="Trebuchet MS"/>
              </a:rPr>
              <a:t>✦</a:t>
            </a:r>
          </a:p>
        </p:txBody>
      </p:sp>
      <p:sp>
        <p:nvSpPr>
          <p:cNvPr id="16" name="TextBox 15"/>
          <p:cNvSpPr txBox="1"/>
          <p:nvPr/>
        </p:nvSpPr>
        <p:spPr>
          <a:xfrm>
            <a:off x="6446520" y="3924300"/>
            <a:ext cx="4693920" cy="822960"/>
          </a:xfrm>
          <a:prstGeom prst="rect">
            <a:avLst/>
          </a:prstGeom>
          <a:noFill/>
        </p:spPr>
        <p:txBody>
          <a:bodyPr wrap="square" anchor="t" lIns="45720" rIns="45720" tIns="0" bIns="0">
            <a:spAutoFit/>
          </a:bodyPr>
          <a:lstStyle/>
          <a:p>
            <a:pPr algn="ctr">
              <a:spcAft>
                <a:spcPts val="800"/>
              </a:spcAft>
            </a:pPr>
            <a:r>
              <a:rPr sz="2000" b="1">
                <a:solidFill>
                  <a:srgbClr val="3A3835"/>
                </a:solidFill>
                <a:latin typeface="Segoe Print"/>
              </a:rPr>
              <a:t>The register at the door</a:t>
            </a:r>
          </a:p>
        </p:txBody>
      </p:sp>
      <p:sp>
        <p:nvSpPr>
          <p:cNvPr id="17" name="TextBox 16"/>
          <p:cNvSpPr txBox="1"/>
          <p:nvPr/>
        </p:nvSpPr>
        <p:spPr>
          <a:xfrm>
            <a:off x="6446520" y="5303520"/>
            <a:ext cx="4693920" cy="274320"/>
          </a:xfrm>
          <a:prstGeom prst="rect">
            <a:avLst/>
          </a:prstGeom>
          <a:noFill/>
        </p:spPr>
        <p:txBody>
          <a:bodyPr wrap="square" anchor="t" lIns="45720" rIns="45720" tIns="0" bIns="0">
            <a:spAutoFit/>
          </a:bodyPr>
          <a:lstStyle/>
          <a:p>
            <a:pPr algn="ctr">
              <a:spcAft>
                <a:spcPts val="800"/>
              </a:spcAft>
            </a:pPr>
            <a:r>
              <a:rPr sz="1000" b="0">
                <a:solidFill>
                  <a:srgbClr val="6A5B47"/>
                </a:solidFill>
                <a:latin typeface="Trebuchet MS"/>
              </a:rPr>
              <a:t>PICTURE · T-IMG-15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