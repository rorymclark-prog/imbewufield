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T-D2-S0. A trainee runs the register. Energiser by a volunteer. "You said, we did" — answer</a:t>
            </a:r>
          </a:p>
          <a:p>
            <a:r>
              <a:t>yesterday's wishes in two sentences.</a:t>
            </a:r>
          </a:p>
          <a:p/>
          <a:p>
            <a:r>
              <a:t>Poster: T-P01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T-D2-S0 steps 4–6. Questions to the Question Tree. Roles rotate; say today's promise.</a:t>
            </a:r>
          </a:p>
          <a:p/>
          <a:p>
            <a:r>
              <a:t>Poster: T-P11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T-D2-S1 step 1. Ask: at 12:30, how would you know? Only B can be seen.</a:t>
            </a:r>
          </a:p>
          <a:p/>
          <a:p>
            <a:r>
              <a:t>Poster: T-P05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T-D2-S1 steps 2–4. Foggy words: understand, know, learn about, appreciate. Groups fix six foggy</a:t>
            </a:r>
          </a:p>
          <a:p>
            <a:r>
              <a:t>cards; then pairs fix their own Round 2 outcome. Ten minutes = one small outcome.</a:t>
            </a:r>
          </a:p>
          <a:p/>
          <a:p>
            <a:r>
              <a:t>Poster: T-P05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T-D2-S1 step 5. Ask each, wait after each. Which got the best thinking?</a:t>
            </a:r>
          </a:p>
          <a:p/>
          <a:p>
            <a:r>
              <a:t>Poster: T-P08</a:t>
            </a:r>
          </a:p>
          <a:p>
            <a:r>
              <a:t>Clip T-ANI-17: public/course-media/teach-the-teachers/T-ANI-17.mp4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T-D2-S1 steps 6–7. Not "Any questions?" but "What questions do you have?" Pairs write a ladder</a:t>
            </a:r>
          </a:p>
          <a:p>
            <a:r>
              <a:t>for a Course 1 poster.</a:t>
            </a:r>
          </a:p>
          <a:p/>
          <a:p>
            <a:r>
              <a:t>Poster: T-P08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T-D2-S1 step 8. Four farmer questions; then give the short content answers from the day file.</a:t>
            </a:r>
          </a:p>
          <a:p>
            <a:r>
              <a:t>Take home: three ladder questions into the Round 2 plan.</a:t>
            </a:r>
          </a:p>
          <a:p/>
          <a:p>
            <a:r>
              <a:t>Poster: T-P08</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T-D2-S2. Ladder tally card to each Recorder. Walk out; F-P05 on the trunk; sun behind learners.</a:t>
            </a:r>
          </a:p>
          <a:p/>
          <a:p>
            <a:r>
              <a:t>Poster: F-P05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T-D2-S2 steps 2–3. Cardboard house per group, torch or real sun. Stick shadow points south at noon.</a:t>
            </a:r>
          </a:p>
          <a:p/>
          <a:p>
            <a:r>
              <a:t>Poster: F-P05</a:t>
            </a:r>
          </a:p>
          <a:p>
            <a:r>
              <a:t>Also: T-ANI-13</a:t>
            </a:r>
          </a:p>
          <a:p>
            <a:r>
              <a:t>Clip T-ANI-13: public/course-media/teach-the-teachers/T-ANI-13.mp4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T-D2-S2 steps 4–6. Debrief on F-P07; roof sum on F-P08 (60 m² × 10 mm = 600 ℓ, about 500 caught).</a:t>
            </a:r>
          </a:p>
          <a:p>
            <a:r>
              <a:t>Clip T-ANI-15 for the roof.</a:t>
            </a:r>
          </a:p>
          <a:p/>
          <a:p>
            <a:r>
              <a:t>Poster: F-P07</a:t>
            </a:r>
          </a:p>
          <a:p>
            <a:r>
              <a:t>Clip T-ANI-14: public/course-media/teach-the-teachers/T-ANI-14.mp4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T-D2-S2 steps 7–10. Ladder counts; tree-talk rules; improvised-aids brainstorm (8 free things per</a:t>
            </a:r>
          </a:p>
          <a:p>
            <a:r>
              <a:t>group); roof-sum practice. 1 mm on 1 m² = 1 litre.</a:t>
            </a:r>
          </a:p>
          <a:p/>
          <a:p>
            <a:r>
              <a:t>Poster: T-P12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T-D2-S3. Energiser by a trainee first.</a:t>
            </a:r>
          </a:p>
          <a:p/>
          <a:p>
            <a:r>
              <a:t>Poster: T-P13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T-D2-S3 steps 2–3. Co-trainer teaches F-P06 badly (90 s) then well (90 s). Stand to the side;</a:t>
            </a:r>
          </a:p>
          <a:p>
            <a:r>
              <a:t>notes on the A5 card or phone.</a:t>
            </a:r>
          </a:p>
          <a:p/>
          <a:p>
            <a:r>
              <a:t>Poster: T-P13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T-D2-S3 steps 4–6. Language-time demo with the roof sum; six scenario cards; then studio: improve</a:t>
            </a:r>
          </a:p>
          <a:p>
            <a:r>
              <a:t>the poster and write a 5-prompt Teach it card.</a:t>
            </a:r>
          </a:p>
          <a:p/>
          <a:p>
            <a:r>
              <a:t>Poster: T-P17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T-D2-S4 steps 1–4. Reverse order. Talk % = marks ÷ 10 × 100. Trainers observe two full teaches each.</a:t>
            </a:r>
          </a:p>
          <a:p/>
          <a:p>
            <a:r>
              <a:t>Poster: T-P04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T-D2-S4 steps 5–7. No comments on others' numbers. Add tips to "Our teaching tips". Tick Poster.</a:t>
            </a:r>
          </a:p>
          <a:p/>
          <a:p>
            <a:r>
              <a:t>Poster: T-P04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T-D2-SC. Eight "OK or not?" cards. Pairs made inside groups; pool B cards for Round 3 (15 min, with</a:t>
            </a:r>
          </a:p>
          <a:p>
            <a:r>
              <a:t>a practical).</a:t>
            </a:r>
          </a:p>
          <a:p/>
          <a:p>
            <a:r>
              <a:t>Poster: T-P17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F3A33"/>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F2EFE6"/>
                </a:solidFill>
                <a:latin typeface="Trebuchet MS"/>
              </a:rPr>
              <a:t>T-D2-01   ·   Poster T-P01</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F2EFE6"/>
                </a:solidFill>
                <a:latin typeface="Trebuchet MS"/>
              </a:rPr>
              <a:t>Teach the Teachers</a:t>
            </a:r>
          </a:p>
        </p:txBody>
      </p:sp>
      <p:sp>
        <p:nvSpPr>
          <p:cNvPr id="4" name="TextBox 3"/>
          <p:cNvSpPr txBox="1"/>
          <p:nvPr/>
        </p:nvSpPr>
        <p:spPr>
          <a:xfrm>
            <a:off x="822960" y="1463040"/>
            <a:ext cx="6400800" cy="1645920"/>
          </a:xfrm>
          <a:prstGeom prst="rect">
            <a:avLst/>
          </a:prstGeom>
          <a:noFill/>
        </p:spPr>
        <p:txBody>
          <a:bodyPr wrap="square" anchor="b" lIns="45720" rIns="45720">
            <a:spAutoFit/>
          </a:bodyPr>
          <a:lstStyle/>
          <a:p>
            <a:pPr algn="l">
              <a:spcAft>
                <a:spcPts val="800"/>
              </a:spcAft>
            </a:pPr>
            <a:r>
              <a:rPr sz="4800" b="1">
                <a:solidFill>
                  <a:srgbClr val="F2EFE6"/>
                </a:solidFill>
                <a:latin typeface="Segoe Print"/>
              </a:rPr>
              <a:t>Day 2</a:t>
            </a:r>
          </a:p>
        </p:txBody>
      </p:sp>
      <p:sp>
        <p:nvSpPr>
          <p:cNvPr id="5" name="Rectangle 4"/>
          <p:cNvSpPr/>
          <p:nvPr/>
        </p:nvSpPr>
        <p:spPr>
          <a:xfrm>
            <a:off x="822960" y="3246120"/>
            <a:ext cx="1463040" cy="73152"/>
          </a:xfrm>
          <a:prstGeom prst="rect">
            <a:avLst/>
          </a:prstGeom>
          <a:solidFill>
            <a:srgbClr val="D245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474720"/>
            <a:ext cx="6035040" cy="1828800"/>
          </a:xfrm>
          <a:prstGeom prst="rect">
            <a:avLst/>
          </a:prstGeom>
          <a:noFill/>
        </p:spPr>
        <p:txBody>
          <a:bodyPr wrap="square" anchor="t" lIns="45720" rIns="45720">
            <a:spAutoFit/>
          </a:bodyPr>
          <a:lstStyle/>
          <a:p>
            <a:pPr algn="l">
              <a:spcAft>
                <a:spcPts val="800"/>
              </a:spcAft>
            </a:pPr>
            <a:r>
              <a:rPr sz="2400" b="0">
                <a:solidFill>
                  <a:srgbClr val="F2EFE6"/>
                </a:solidFill>
                <a:latin typeface="Trebuchet MS"/>
              </a:rPr>
              <a:t>Say less, ask more</a:t>
            </a:r>
          </a:p>
          <a:p>
            <a:pPr algn="l">
              <a:spcAft>
                <a:spcPts val="800"/>
              </a:spcAft>
            </a:pPr>
            <a:r>
              <a:rPr sz="2400" b="0">
                <a:solidFill>
                  <a:srgbClr val="F2EFE6"/>
                </a:solidFill>
                <a:latin typeface="Trebuchet MS"/>
              </a:rPr>
              <a:t>Day 2 of 5</a:t>
            </a:r>
          </a:p>
        </p:txBody>
      </p:sp>
      <p:sp>
        <p:nvSpPr>
          <p:cNvPr id="7" name="Rectangle 6"/>
          <p:cNvSpPr/>
          <p:nvPr/>
        </p:nvSpPr>
        <p:spPr>
          <a:xfrm>
            <a:off x="7498079" y="914400"/>
            <a:ext cx="4206240" cy="475488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1097280"/>
            <a:ext cx="374904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IMAGE · T-IMG-08 · coming</a:t>
            </a:r>
          </a:p>
        </p:txBody>
      </p:sp>
      <p:sp>
        <p:nvSpPr>
          <p:cNvPr id="9" name="TextBox 8"/>
          <p:cNvSpPr txBox="1"/>
          <p:nvPr/>
        </p:nvSpPr>
        <p:spPr>
          <a:xfrm>
            <a:off x="7726679" y="1481328"/>
            <a:ext cx="374904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Tree talk</a:t>
            </a:r>
          </a:p>
        </p:txBody>
      </p:sp>
      <p:sp>
        <p:nvSpPr>
          <p:cNvPr id="10" name="TextBox 9"/>
          <p:cNvSpPr txBox="1"/>
          <p:nvPr/>
        </p:nvSpPr>
        <p:spPr>
          <a:xfrm>
            <a:off x="7726679" y="2011680"/>
            <a:ext cx="3749040" cy="347472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A teaching circle under a big shade tree: a poster tied to the trunk at seated eye level; about twelve learners in a horseshoe on chairs and a log, faces in shade, the sun behind them in the upper part of the scene (north). The facilitator stands to one side of the poster. On the ground in the middle: two cut-open 2 ℓ bottles and a cardboard house. 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C9A77C"/>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C1C1C"/>
                </a:solidFill>
                <a:latin typeface="Trebuchet MS"/>
              </a:rPr>
              <a:t>T-D2-02   ·   Poster T-P11</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C1C1C"/>
                </a:solidFill>
                <a:latin typeface="Trebuchet MS"/>
              </a:rPr>
              <a:t>Teach the Teachers</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C1C1C"/>
                </a:solidFill>
                <a:latin typeface="Segoe Print"/>
              </a:rPr>
              <a:t>What did you sleep on?</a:t>
            </a:r>
          </a:p>
        </p:txBody>
      </p:sp>
      <p:sp>
        <p:nvSpPr>
          <p:cNvPr id="5" name="Rectangle 4"/>
          <p:cNvSpPr/>
          <p:nvPr/>
        </p:nvSpPr>
        <p:spPr>
          <a:xfrm>
            <a:off x="457200" y="1463040"/>
            <a:ext cx="11247120" cy="9525"/>
          </a:xfrm>
          <a:prstGeom prst="rect">
            <a:avLst/>
          </a:prstGeom>
          <a:solidFill>
            <a:srgbClr val="2C6F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800" b="0">
                <a:solidFill>
                  <a:srgbClr val="1C1C1C"/>
                </a:solidFill>
                <a:latin typeface="Trebuchet MS"/>
              </a:rPr>
              <a:t>•  One thing you remember</a:t>
            </a:r>
          </a:p>
          <a:p>
            <a:pPr algn="l">
              <a:spcAft>
                <a:spcPts val="1600"/>
              </a:spcAft>
            </a:pPr>
            <a:r>
              <a:rPr sz="2800" b="0">
                <a:solidFill>
                  <a:srgbClr val="1C1C1C"/>
                </a:solidFill>
                <a:latin typeface="Trebuchet MS"/>
              </a:rPr>
              <a:t>•  One question you woke with</a:t>
            </a:r>
          </a:p>
        </p:txBody>
      </p:sp>
      <p:sp>
        <p:nvSpPr>
          <p:cNvPr id="7" name="Rectangle 6"/>
          <p:cNvSpPr/>
          <p:nvPr/>
        </p:nvSpPr>
        <p:spPr>
          <a:xfrm>
            <a:off x="5852160" y="1691640"/>
            <a:ext cx="5852160" cy="452628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IMAGE · T-IMG-01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A learning circle under a tree</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Twenty adults sit in a wide circle on plastic chairs and a wooden bench under a big shade tree beside a rural community hall. Mixed ages: young graduates in trainers and T-shirts, two extension officers in work shirts, gogos in headscarves, an older lead farmer in a hat. One young woman stands, mid-sentence, hands open; others lean in, some laughing.…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C9A77C"/>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C1C1C"/>
                </a:solidFill>
                <a:latin typeface="Trebuchet MS"/>
              </a:rPr>
              <a:t>T-D2-03   ·   Poster T-P05</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C1C1C"/>
                </a:solidFill>
                <a:latin typeface="Trebuchet MS"/>
              </a:rPr>
              <a:t>Teach the Teachers</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C1C1C"/>
                </a:solidFill>
                <a:latin typeface="Segoe Print"/>
              </a:rPr>
              <a:t>Which outcome can you see?</a:t>
            </a:r>
          </a:p>
        </p:txBody>
      </p:sp>
      <p:sp>
        <p:nvSpPr>
          <p:cNvPr id="5" name="Rectangle 4"/>
          <p:cNvSpPr/>
          <p:nvPr/>
        </p:nvSpPr>
        <p:spPr>
          <a:xfrm>
            <a:off x="457200" y="1463040"/>
            <a:ext cx="11247120" cy="9525"/>
          </a:xfrm>
          <a:prstGeom prst="rect">
            <a:avLst/>
          </a:prstGeom>
          <a:solidFill>
            <a:srgbClr val="2C6F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800" b="0">
                <a:solidFill>
                  <a:srgbClr val="1C1C1C"/>
                </a:solidFill>
                <a:latin typeface="Trebuchet MS"/>
              </a:rPr>
              <a:t>•  A: understand compost</a:t>
            </a:r>
          </a:p>
          <a:p>
            <a:pPr algn="l">
              <a:spcAft>
                <a:spcPts val="1600"/>
              </a:spcAft>
            </a:pPr>
            <a:r>
              <a:rPr sz="2800" b="0">
                <a:solidFill>
                  <a:srgbClr val="1C1C1C"/>
                </a:solidFill>
                <a:latin typeface="Trebuchet MS"/>
              </a:rPr>
              <a:t>•  B: build a 1 m layered heap</a:t>
            </a:r>
          </a:p>
        </p:txBody>
      </p:sp>
      <p:sp>
        <p:nvSpPr>
          <p:cNvPr id="7" name="Rectangle 6"/>
          <p:cNvSpPr/>
          <p:nvPr/>
        </p:nvSpPr>
        <p:spPr>
          <a:xfrm>
            <a:off x="5852160" y="1691640"/>
            <a:ext cx="5852160" cy="452628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POSTER ART · T-P05-ART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Artwork for T-P05 · Outcomes start with a doing word</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A young farmer stands proudly beside a finished, neatly layered compost heap about waist high, pointing to its layers. A facilitator beside her holds a clipboard and draws a tick shape. In the background, a clock shape on a wall shows the hands near twelve (midday). Three big ochre callout circles sit on: the farmer's pointing hand (①), the heap (②), and…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C9A77C"/>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C1C1C"/>
                </a:solidFill>
                <a:latin typeface="Trebuchet MS"/>
              </a:rPr>
              <a:t>T-D2-04   ·   Poster T-P05</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C1C1C"/>
                </a:solidFill>
                <a:latin typeface="Trebuchet MS"/>
              </a:rPr>
              <a:t>Teach the Teachers</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C1C1C"/>
                </a:solidFill>
                <a:latin typeface="Segoe Print"/>
              </a:rPr>
              <a:t>Start with a doing word</a:t>
            </a:r>
          </a:p>
        </p:txBody>
      </p:sp>
      <p:sp>
        <p:nvSpPr>
          <p:cNvPr id="5" name="Rectangle 4"/>
          <p:cNvSpPr/>
          <p:nvPr/>
        </p:nvSpPr>
        <p:spPr>
          <a:xfrm>
            <a:off x="457200" y="1463040"/>
            <a:ext cx="11247120" cy="9525"/>
          </a:xfrm>
          <a:prstGeom prst="rect">
            <a:avLst/>
          </a:prstGeom>
          <a:solidFill>
            <a:srgbClr val="2C6F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400" b="0">
                <a:solidFill>
                  <a:srgbClr val="1C1C1C"/>
                </a:solidFill>
                <a:latin typeface="Trebuchet MS"/>
              </a:rPr>
              <a:t>•  A doing word · What · How well</a:t>
            </a:r>
          </a:p>
          <a:p>
            <a:pPr algn="l">
              <a:spcAft>
                <a:spcPts val="1600"/>
              </a:spcAft>
            </a:pPr>
            <a:r>
              <a:rPr sz="2400" b="0">
                <a:solidFill>
                  <a:srgbClr val="1C1C1C"/>
                </a:solidFill>
                <a:latin typeface="Trebuchet MS"/>
              </a:rPr>
              <a:t>•  Make, show, find, measure, explain</a:t>
            </a:r>
          </a:p>
          <a:p>
            <a:pPr algn="l">
              <a:spcAft>
                <a:spcPts val="1600"/>
              </a:spcAft>
            </a:pPr>
            <a:r>
              <a:rPr sz="2400" b="0">
                <a:solidFill>
                  <a:srgbClr val="1C1C1C"/>
                </a:solidFill>
                <a:latin typeface="Trebuchet MS"/>
              </a:rPr>
              <a:t>•  Could you see it by lunch?</a:t>
            </a:r>
          </a:p>
        </p:txBody>
      </p:sp>
      <p:sp>
        <p:nvSpPr>
          <p:cNvPr id="7" name="Rectangle 6"/>
          <p:cNvSpPr/>
          <p:nvPr/>
        </p:nvSpPr>
        <p:spPr>
          <a:xfrm>
            <a:off x="5852160" y="1691640"/>
            <a:ext cx="5852160" cy="452628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POSTER ART · T-P05-ART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Artwork for T-P05 · Outcomes start with a doing word</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A young farmer stands proudly beside a finished, neatly layered compost heap about waist high, pointing to its layers. A facilitator beside her holds a clipboard and draws a tick shape. In the background, a clock shape on a wall shows the hands near twelve (midday). Three big ochre callout circles sit on: the farmer's pointing hand (①), the heap (②), and…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C9A77C"/>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C1C1C"/>
                </a:solidFill>
                <a:latin typeface="Trebuchet MS"/>
              </a:rPr>
              <a:t>T-D2-05   ·   Poster T-P08</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C1C1C"/>
                </a:solidFill>
                <a:latin typeface="Trebuchet MS"/>
              </a:rPr>
              <a:t>Teach the Teachers</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C1C1C"/>
                </a:solidFill>
                <a:latin typeface="Segoe Print"/>
              </a:rPr>
              <a:t>Three questions</a:t>
            </a:r>
          </a:p>
        </p:txBody>
      </p:sp>
      <p:sp>
        <p:nvSpPr>
          <p:cNvPr id="5" name="Rectangle 4"/>
          <p:cNvSpPr/>
          <p:nvPr/>
        </p:nvSpPr>
        <p:spPr>
          <a:xfrm>
            <a:off x="457200" y="1463040"/>
            <a:ext cx="11247120" cy="9525"/>
          </a:xfrm>
          <a:prstGeom prst="rect">
            <a:avLst/>
          </a:prstGeom>
          <a:solidFill>
            <a:srgbClr val="2C6F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800" b="0">
                <a:solidFill>
                  <a:srgbClr val="1C1C1C"/>
                </a:solidFill>
                <a:latin typeface="Trebuchet MS"/>
              </a:rPr>
              <a:t>•  Is soil alive?</a:t>
            </a:r>
          </a:p>
          <a:p>
            <a:pPr algn="l">
              <a:spcAft>
                <a:spcPts val="1600"/>
              </a:spcAft>
            </a:pPr>
            <a:r>
              <a:rPr sz="2800" b="0">
                <a:solidFill>
                  <a:srgbClr val="1C1C1C"/>
                </a:solidFill>
                <a:latin typeface="Trebuchet MS"/>
              </a:rPr>
              <a:t>•  What lives in soil?</a:t>
            </a:r>
          </a:p>
          <a:p>
            <a:pPr algn="l">
              <a:spcAft>
                <a:spcPts val="1600"/>
              </a:spcAft>
            </a:pPr>
            <a:r>
              <a:rPr sz="2800" b="0">
                <a:solidFill>
                  <a:srgbClr val="1C1C1C"/>
                </a:solidFill>
                <a:latin typeface="Trebuchet MS"/>
              </a:rPr>
              <a:t>•  How could you find out?</a:t>
            </a:r>
          </a:p>
        </p:txBody>
      </p:sp>
      <p:sp>
        <p:nvSpPr>
          <p:cNvPr id="7" name="Rectangle 6"/>
          <p:cNvSpPr/>
          <p:nvPr/>
        </p:nvSpPr>
        <p:spPr>
          <a:xfrm>
            <a:off x="5852160" y="1691640"/>
            <a:ext cx="5852160" cy="452628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ANIMATION · T-ANI-17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Living soil</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Cut-away of dark garden soil under mulch, magnified: earthworms tunnel, fungus threads link roots, tiny specks of life move, crumbs hold air and water droplets; a fallen leaf above is slowly broken down and pulled into the soil. (Replaces the withdrawn clip `soil-health/watch-05-living-soil.mp4`.)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C9A77C"/>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C1C1C"/>
                </a:solidFill>
                <a:latin typeface="Trebuchet MS"/>
              </a:rPr>
              <a:t>T-D2-06   ·   Poster T-P08</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C1C1C"/>
                </a:solidFill>
                <a:latin typeface="Trebuchet MS"/>
              </a:rPr>
              <a:t>Teach the Teachers</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C1C1C"/>
                </a:solidFill>
                <a:latin typeface="Segoe Print"/>
              </a:rPr>
              <a:t>Climb the question ladder</a:t>
            </a:r>
          </a:p>
        </p:txBody>
      </p:sp>
      <p:sp>
        <p:nvSpPr>
          <p:cNvPr id="5" name="Rectangle 4"/>
          <p:cNvSpPr/>
          <p:nvPr/>
        </p:nvSpPr>
        <p:spPr>
          <a:xfrm>
            <a:off x="457200" y="1463040"/>
            <a:ext cx="11247120" cy="9525"/>
          </a:xfrm>
          <a:prstGeom prst="rect">
            <a:avLst/>
          </a:prstGeom>
          <a:solidFill>
            <a:srgbClr val="2C6F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800" b="0">
                <a:solidFill>
                  <a:srgbClr val="1C1C1C"/>
                </a:solidFill>
                <a:latin typeface="Trebuchet MS"/>
              </a:rPr>
              <a:t>•  Closed · Open · Deeper</a:t>
            </a:r>
          </a:p>
          <a:p>
            <a:pPr algn="l">
              <a:spcAft>
                <a:spcPts val="1600"/>
              </a:spcAft>
            </a:pPr>
            <a:r>
              <a:rPr sz="2800" b="0">
                <a:solidFill>
                  <a:srgbClr val="1C1C1C"/>
                </a:solidFill>
                <a:latin typeface="Trebuchet MS"/>
              </a:rPr>
              <a:t>•  Wait 5 seconds</a:t>
            </a:r>
          </a:p>
          <a:p>
            <a:pPr algn="l">
              <a:spcAft>
                <a:spcPts val="1600"/>
              </a:spcAft>
            </a:pPr>
            <a:r>
              <a:rPr sz="2800" b="0">
                <a:solidFill>
                  <a:srgbClr val="1C1C1C"/>
                </a:solidFill>
                <a:latin typeface="Trebuchet MS"/>
              </a:rPr>
              <a:t>•  Bounce it back</a:t>
            </a:r>
          </a:p>
        </p:txBody>
      </p:sp>
      <p:sp>
        <p:nvSpPr>
          <p:cNvPr id="7" name="Rectangle 6"/>
          <p:cNvSpPr/>
          <p:nvPr/>
        </p:nvSpPr>
        <p:spPr>
          <a:xfrm>
            <a:off x="5852160" y="1691640"/>
            <a:ext cx="5852160" cy="452628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POSTER ART · T-P08-ART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Artwork for T-P08 · The question ladder</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A tall wooden ladder with three rungs leans against a tree. On the bottom rung, a small figure beside one short speech-bubble shape (empty). On the middle rung, two figures with several branching bubble shapes. On the top rung, a figure looks out over a whole garden, hand on chin, with a bubble shaped like a sprouting seed. At the ladder's foot: an open…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C9A77C"/>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C1C1C"/>
                </a:solidFill>
                <a:latin typeface="Trebuchet MS"/>
              </a:rPr>
              <a:t>T-D2-07   ·   Poster T-P08</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C1C1C"/>
                </a:solidFill>
                <a:latin typeface="Trebuchet MS"/>
              </a:rPr>
              <a:t>Teach the Teachers</a:t>
            </a:r>
          </a:p>
        </p:txBody>
      </p:sp>
      <p:sp>
        <p:nvSpPr>
          <p:cNvPr id="4" name="Rounded Rectangle 3"/>
          <p:cNvSpPr/>
          <p:nvPr/>
        </p:nvSpPr>
        <p:spPr>
          <a:xfrm>
            <a:off x="457200" y="320040"/>
            <a:ext cx="1737360" cy="411480"/>
          </a:xfrm>
          <a:prstGeom prst="roundRect">
            <a:avLst/>
          </a:prstGeom>
          <a:solidFill>
            <a:srgbClr val="D245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20040"/>
            <a:ext cx="1737360" cy="411480"/>
          </a:xfrm>
          <a:prstGeom prst="rect">
            <a:avLst/>
          </a:prstGeom>
          <a:noFill/>
        </p:spPr>
        <p:txBody>
          <a:bodyPr wrap="square" anchor="ctr" lIns="45720" rIns="45720">
            <a:spAutoFit/>
          </a:bodyPr>
          <a:lstStyle/>
          <a:p>
            <a:pPr algn="ctr">
              <a:spcAft>
                <a:spcPts val="800"/>
              </a:spcAft>
            </a:pPr>
            <a:r>
              <a:rPr sz="1400" b="1">
                <a:solidFill>
                  <a:srgbClr val="C9A77C"/>
                </a:solidFill>
                <a:latin typeface="Trebuchet MS"/>
              </a:rPr>
              <a:t>YOUR TURN</a:t>
            </a:r>
          </a:p>
        </p:txBody>
      </p:sp>
      <p:sp>
        <p:nvSpPr>
          <p:cNvPr id="6" name="TextBox 5"/>
          <p:cNvSpPr txBox="1"/>
          <p:nvPr/>
        </p:nvSpPr>
        <p:spPr>
          <a:xfrm>
            <a:off x="457200" y="822960"/>
            <a:ext cx="11247120" cy="1005840"/>
          </a:xfrm>
          <a:prstGeom prst="rect">
            <a:avLst/>
          </a:prstGeom>
          <a:noFill/>
        </p:spPr>
        <p:txBody>
          <a:bodyPr wrap="square" anchor="t" lIns="45720" rIns="45720">
            <a:spAutoFit/>
          </a:bodyPr>
          <a:lstStyle/>
          <a:p>
            <a:pPr algn="l">
              <a:spcAft>
                <a:spcPts val="800"/>
              </a:spcAft>
            </a:pPr>
            <a:r>
              <a:rPr sz="3800" b="1">
                <a:solidFill>
                  <a:srgbClr val="1C1C1C"/>
                </a:solidFill>
                <a:latin typeface="Segoe Print"/>
              </a:rPr>
              <a:t>Wait and bounce</a:t>
            </a:r>
          </a:p>
        </p:txBody>
      </p:sp>
      <p:sp>
        <p:nvSpPr>
          <p:cNvPr id="7" name="Rectangle 6"/>
          <p:cNvSpPr/>
          <p:nvPr/>
        </p:nvSpPr>
        <p:spPr>
          <a:xfrm>
            <a:off x="457200" y="1874520"/>
            <a:ext cx="11247120" cy="9525"/>
          </a:xfrm>
          <a:prstGeom prst="rect">
            <a:avLst/>
          </a:prstGeom>
          <a:solidFill>
            <a:srgbClr val="2C6F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48840"/>
            <a:ext cx="5120640" cy="3931920"/>
          </a:xfrm>
          <a:prstGeom prst="rect">
            <a:avLst/>
          </a:prstGeom>
          <a:noFill/>
        </p:spPr>
        <p:txBody>
          <a:bodyPr wrap="square" anchor="t" lIns="45720" rIns="45720">
            <a:spAutoFit/>
          </a:bodyPr>
          <a:lstStyle/>
          <a:p>
            <a:pPr algn="l">
              <a:spcAft>
                <a:spcPts val="1600"/>
              </a:spcAft>
            </a:pPr>
            <a:r>
              <a:rPr sz="3000" b="1">
                <a:solidFill>
                  <a:srgbClr val="1C1C1C"/>
                </a:solidFill>
                <a:latin typeface="Trebuchet MS"/>
              </a:rPr>
              <a:t>•  Count five fingers silently</a:t>
            </a:r>
          </a:p>
          <a:p>
            <a:pPr algn="l">
              <a:spcAft>
                <a:spcPts val="1600"/>
              </a:spcAft>
            </a:pPr>
            <a:r>
              <a:rPr sz="3000" b="1">
                <a:solidFill>
                  <a:srgbClr val="1C1C1C"/>
                </a:solidFill>
                <a:latin typeface="Trebuchet MS"/>
              </a:rPr>
              <a:t>•  Don't answer — bounce it back</a:t>
            </a:r>
          </a:p>
          <a:p>
            <a:pPr algn="l">
              <a:spcAft>
                <a:spcPts val="1600"/>
              </a:spcAft>
            </a:pPr>
            <a:r>
              <a:rPr sz="3000" b="1">
                <a:solidFill>
                  <a:srgbClr val="1C1C1C"/>
                </a:solidFill>
                <a:latin typeface="Trebuchet MS"/>
              </a:rPr>
              <a:t>•  12 minutes</a:t>
            </a:r>
          </a:p>
        </p:txBody>
      </p:sp>
      <p:sp>
        <p:nvSpPr>
          <p:cNvPr id="9" name="Rectangle 8"/>
          <p:cNvSpPr/>
          <p:nvPr/>
        </p:nvSpPr>
        <p:spPr>
          <a:xfrm>
            <a:off x="5852160" y="2103120"/>
            <a:ext cx="5852160" cy="411480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286000"/>
            <a:ext cx="539496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POSTER ART · T-P08-ART · coming</a:t>
            </a:r>
          </a:p>
        </p:txBody>
      </p:sp>
      <p:sp>
        <p:nvSpPr>
          <p:cNvPr id="11" name="TextBox 10"/>
          <p:cNvSpPr txBox="1"/>
          <p:nvPr/>
        </p:nvSpPr>
        <p:spPr>
          <a:xfrm>
            <a:off x="6080760" y="2670048"/>
            <a:ext cx="539496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Artwork for T-P08 · The question ladder</a:t>
            </a:r>
          </a:p>
        </p:txBody>
      </p:sp>
      <p:sp>
        <p:nvSpPr>
          <p:cNvPr id="12" name="TextBox 11"/>
          <p:cNvSpPr txBox="1"/>
          <p:nvPr/>
        </p:nvSpPr>
        <p:spPr>
          <a:xfrm>
            <a:off x="6080760" y="3200400"/>
            <a:ext cx="5394960" cy="283464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A tall wooden ladder with three rungs leans against a tree. On the bottom rung, a small figure beside one short speech-bubble shape (empty). On the middle rung, two figures with several branching bubble shapes. On the top rung, a figure looks out over a whole garden, hand on chin, with a bubble shaped like a sprouting seed. At the ladder's foot: an open…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F3A33"/>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F2EFE6"/>
                </a:solidFill>
                <a:latin typeface="Trebuchet MS"/>
              </a:rPr>
              <a:t>T-D2-08   ·   Poster F-P05</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F2EFE6"/>
                </a:solidFill>
                <a:latin typeface="Trebuchet MS"/>
              </a:rPr>
              <a:t>Teach the Teachers</a:t>
            </a:r>
          </a:p>
        </p:txBody>
      </p:sp>
      <p:sp>
        <p:nvSpPr>
          <p:cNvPr id="4" name="TextBox 3"/>
          <p:cNvSpPr txBox="1"/>
          <p:nvPr/>
        </p:nvSpPr>
        <p:spPr>
          <a:xfrm>
            <a:off x="822960" y="1463040"/>
            <a:ext cx="6400800" cy="1645920"/>
          </a:xfrm>
          <a:prstGeom prst="rect">
            <a:avLst/>
          </a:prstGeom>
          <a:noFill/>
        </p:spPr>
        <p:txBody>
          <a:bodyPr wrap="square" anchor="b" lIns="45720" rIns="45720">
            <a:spAutoFit/>
          </a:bodyPr>
          <a:lstStyle/>
          <a:p>
            <a:pPr algn="l">
              <a:spcAft>
                <a:spcPts val="800"/>
              </a:spcAft>
            </a:pPr>
            <a:r>
              <a:rPr sz="4800" b="1">
                <a:solidFill>
                  <a:srgbClr val="F2EFE6"/>
                </a:solidFill>
                <a:latin typeface="Segoe Print"/>
              </a:rPr>
              <a:t>Model lesson under a tree</a:t>
            </a:r>
          </a:p>
        </p:txBody>
      </p:sp>
      <p:sp>
        <p:nvSpPr>
          <p:cNvPr id="5" name="Rectangle 4"/>
          <p:cNvSpPr/>
          <p:nvPr/>
        </p:nvSpPr>
        <p:spPr>
          <a:xfrm>
            <a:off x="822960" y="3246120"/>
            <a:ext cx="1463040" cy="73152"/>
          </a:xfrm>
          <a:prstGeom prst="rect">
            <a:avLst/>
          </a:prstGeom>
          <a:solidFill>
            <a:srgbClr val="D245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474720"/>
            <a:ext cx="6035040" cy="1828800"/>
          </a:xfrm>
          <a:prstGeom prst="rect">
            <a:avLst/>
          </a:prstGeom>
          <a:noFill/>
        </p:spPr>
        <p:txBody>
          <a:bodyPr wrap="square" anchor="t" lIns="45720" rIns="45720">
            <a:spAutoFit/>
          </a:bodyPr>
          <a:lstStyle/>
          <a:p>
            <a:pPr algn="l">
              <a:spcAft>
                <a:spcPts val="800"/>
              </a:spcAft>
            </a:pPr>
            <a:r>
              <a:rPr sz="2400" b="0">
                <a:solidFill>
                  <a:srgbClr val="F2EFE6"/>
                </a:solidFill>
                <a:latin typeface="Trebuchet MS"/>
              </a:rPr>
              <a:t>Read the land and water</a:t>
            </a:r>
          </a:p>
          <a:p>
            <a:pPr algn="l">
              <a:spcAft>
                <a:spcPts val="800"/>
              </a:spcAft>
            </a:pPr>
            <a:r>
              <a:rPr sz="2400" b="0">
                <a:solidFill>
                  <a:srgbClr val="F2EFE6"/>
                </a:solidFill>
                <a:latin typeface="Trebuchet MS"/>
              </a:rPr>
              <a:t>Recorders: count question types</a:t>
            </a:r>
          </a:p>
        </p:txBody>
      </p:sp>
      <p:sp>
        <p:nvSpPr>
          <p:cNvPr id="7" name="Rectangle 6"/>
          <p:cNvSpPr/>
          <p:nvPr/>
        </p:nvSpPr>
        <p:spPr>
          <a:xfrm>
            <a:off x="7498079" y="914400"/>
            <a:ext cx="4206240" cy="475488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1097280"/>
            <a:ext cx="374904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IMAGE · T-IMG-08 · coming</a:t>
            </a:r>
          </a:p>
        </p:txBody>
      </p:sp>
      <p:sp>
        <p:nvSpPr>
          <p:cNvPr id="9" name="TextBox 8"/>
          <p:cNvSpPr txBox="1"/>
          <p:nvPr/>
        </p:nvSpPr>
        <p:spPr>
          <a:xfrm>
            <a:off x="7726679" y="1481328"/>
            <a:ext cx="374904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Tree talk</a:t>
            </a:r>
          </a:p>
        </p:txBody>
      </p:sp>
      <p:sp>
        <p:nvSpPr>
          <p:cNvPr id="10" name="TextBox 9"/>
          <p:cNvSpPr txBox="1"/>
          <p:nvPr/>
        </p:nvSpPr>
        <p:spPr>
          <a:xfrm>
            <a:off x="7726679" y="2011680"/>
            <a:ext cx="3749040" cy="347472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A teaching circle under a big shade tree: a poster tied to the trunk at seated eye level; about twelve learners in a horseshoe on chairs and a log, faces in shade, the sun behind them in the upper part of the scene (north). The facilitator stands to one side of the poster. On the ground in the middle: two cut-open 2 ℓ bottles and a cardboard house. 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C9A77C"/>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C1C1C"/>
                </a:solidFill>
                <a:latin typeface="Trebuchet MS"/>
              </a:rPr>
              <a:t>T-D2-09   ·   Poster F-P05</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C1C1C"/>
                </a:solidFill>
                <a:latin typeface="Trebuchet MS"/>
              </a:rPr>
              <a:t>Teach the Teachers</a:t>
            </a:r>
          </a:p>
        </p:txBody>
      </p:sp>
      <p:sp>
        <p:nvSpPr>
          <p:cNvPr id="4" name="Rounded Rectangle 3"/>
          <p:cNvSpPr/>
          <p:nvPr/>
        </p:nvSpPr>
        <p:spPr>
          <a:xfrm>
            <a:off x="457200" y="320040"/>
            <a:ext cx="1737360" cy="411480"/>
          </a:xfrm>
          <a:prstGeom prst="roundRect">
            <a:avLst/>
          </a:prstGeom>
          <a:solidFill>
            <a:srgbClr val="D245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20040"/>
            <a:ext cx="1737360" cy="411480"/>
          </a:xfrm>
          <a:prstGeom prst="rect">
            <a:avLst/>
          </a:prstGeom>
          <a:noFill/>
        </p:spPr>
        <p:txBody>
          <a:bodyPr wrap="square" anchor="ctr" lIns="45720" rIns="45720">
            <a:spAutoFit/>
          </a:bodyPr>
          <a:lstStyle/>
          <a:p>
            <a:pPr algn="ctr">
              <a:spcAft>
                <a:spcPts val="800"/>
              </a:spcAft>
            </a:pPr>
            <a:r>
              <a:rPr sz="1400" b="1">
                <a:solidFill>
                  <a:srgbClr val="C9A77C"/>
                </a:solidFill>
                <a:latin typeface="Trebuchet MS"/>
              </a:rPr>
              <a:t>YOUR TURN</a:t>
            </a:r>
          </a:p>
        </p:txBody>
      </p:sp>
      <p:sp>
        <p:nvSpPr>
          <p:cNvPr id="6" name="TextBox 5"/>
          <p:cNvSpPr txBox="1"/>
          <p:nvPr/>
        </p:nvSpPr>
        <p:spPr>
          <a:xfrm>
            <a:off x="457200" y="822960"/>
            <a:ext cx="11247120" cy="1005840"/>
          </a:xfrm>
          <a:prstGeom prst="rect">
            <a:avLst/>
          </a:prstGeom>
          <a:noFill/>
        </p:spPr>
        <p:txBody>
          <a:bodyPr wrap="square" anchor="t" lIns="45720" rIns="45720">
            <a:spAutoFit/>
          </a:bodyPr>
          <a:lstStyle/>
          <a:p>
            <a:pPr algn="l">
              <a:spcAft>
                <a:spcPts val="800"/>
              </a:spcAft>
            </a:pPr>
            <a:r>
              <a:rPr sz="3800" b="1">
                <a:solidFill>
                  <a:srgbClr val="1C1C1C"/>
                </a:solidFill>
                <a:latin typeface="Segoe Print"/>
              </a:rPr>
              <a:t>Where is the sun?</a:t>
            </a:r>
          </a:p>
        </p:txBody>
      </p:sp>
      <p:sp>
        <p:nvSpPr>
          <p:cNvPr id="7" name="Rectangle 6"/>
          <p:cNvSpPr/>
          <p:nvPr/>
        </p:nvSpPr>
        <p:spPr>
          <a:xfrm>
            <a:off x="457200" y="1874520"/>
            <a:ext cx="11247120" cy="9525"/>
          </a:xfrm>
          <a:prstGeom prst="rect">
            <a:avLst/>
          </a:prstGeom>
          <a:solidFill>
            <a:srgbClr val="2C6F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48840"/>
            <a:ext cx="5120640" cy="3931920"/>
          </a:xfrm>
          <a:prstGeom prst="rect">
            <a:avLst/>
          </a:prstGeom>
          <a:noFill/>
        </p:spPr>
        <p:txBody>
          <a:bodyPr wrap="square" anchor="t" lIns="45720" rIns="45720">
            <a:spAutoFit/>
          </a:bodyPr>
          <a:lstStyle/>
          <a:p>
            <a:pPr algn="l">
              <a:spcAft>
                <a:spcPts val="1600"/>
              </a:spcAft>
            </a:pPr>
            <a:r>
              <a:rPr sz="2600" b="1">
                <a:solidFill>
                  <a:srgbClr val="1C1C1C"/>
                </a:solidFill>
                <a:latin typeface="Trebuchet MS"/>
              </a:rPr>
              <a:t>•  Window faces north</a:t>
            </a:r>
          </a:p>
          <a:p>
            <a:pPr algn="l">
              <a:spcAft>
                <a:spcPts val="1600"/>
              </a:spcAft>
            </a:pPr>
            <a:r>
              <a:rPr sz="2600" b="1">
                <a:solidFill>
                  <a:srgbClr val="1C1C1C"/>
                </a:solidFill>
                <a:latin typeface="Trebuchet MS"/>
              </a:rPr>
              <a:t>•  Mark winter shade with sticks</a:t>
            </a:r>
          </a:p>
          <a:p>
            <a:pPr algn="l">
              <a:spcAft>
                <a:spcPts val="1600"/>
              </a:spcAft>
            </a:pPr>
            <a:r>
              <a:rPr sz="2600" b="1">
                <a:solidFill>
                  <a:srgbClr val="1C1C1C"/>
                </a:solidFill>
                <a:latin typeface="Trebuchet MS"/>
              </a:rPr>
              <a:t>•  Which way does the shadow point?</a:t>
            </a:r>
          </a:p>
        </p:txBody>
      </p:sp>
      <p:sp>
        <p:nvSpPr>
          <p:cNvPr id="9" name="Rectangle 8"/>
          <p:cNvSpPr/>
          <p:nvPr/>
        </p:nvSpPr>
        <p:spPr>
          <a:xfrm>
            <a:off x="5852160" y="2103120"/>
            <a:ext cx="5852160" cy="411480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286000"/>
            <a:ext cx="539496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IMAGE · T-IMG-07 · coming</a:t>
            </a:r>
          </a:p>
        </p:txBody>
      </p:sp>
      <p:sp>
        <p:nvSpPr>
          <p:cNvPr id="11" name="TextBox 10"/>
          <p:cNvSpPr txBox="1"/>
          <p:nvPr/>
        </p:nvSpPr>
        <p:spPr>
          <a:xfrm>
            <a:off x="6080760" y="2670048"/>
            <a:ext cx="539496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The cardboard house and the sun</a:t>
            </a:r>
          </a:p>
        </p:txBody>
      </p:sp>
      <p:sp>
        <p:nvSpPr>
          <p:cNvPr id="12" name="TextBox 11"/>
          <p:cNvSpPr txBox="1"/>
          <p:nvPr/>
        </p:nvSpPr>
        <p:spPr>
          <a:xfrm>
            <a:off x="6080760" y="3200400"/>
            <a:ext cx="5394960" cy="283464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Close view on bare ground: a shoebox house with a card triangle roof and small windows on each side, sitting on a patch of soil. A compass arrow drawn on the ground points up-screen (north). Sunlight comes from the north (upper part), low (winter), casting a long shadow of the house down-screen (south). Small sticks mark the edge of the shadow. Two hands…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C9A77C"/>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C1C1C"/>
                </a:solidFill>
                <a:latin typeface="Trebuchet MS"/>
              </a:rPr>
              <a:t>T-D2-10   ·   Poster F-P07</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C1C1C"/>
                </a:solidFill>
                <a:latin typeface="Trebuchet MS"/>
              </a:rPr>
              <a:t>Teach the Teachers</a:t>
            </a:r>
          </a:p>
        </p:txBody>
      </p:sp>
      <p:sp>
        <p:nvSpPr>
          <p:cNvPr id="4" name="Rounded Rectangle 3"/>
          <p:cNvSpPr/>
          <p:nvPr/>
        </p:nvSpPr>
        <p:spPr>
          <a:xfrm>
            <a:off x="457200" y="320040"/>
            <a:ext cx="1737360" cy="411480"/>
          </a:xfrm>
          <a:prstGeom prst="roundRect">
            <a:avLst/>
          </a:prstGeom>
          <a:solidFill>
            <a:srgbClr val="D245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20040"/>
            <a:ext cx="1737360" cy="411480"/>
          </a:xfrm>
          <a:prstGeom prst="rect">
            <a:avLst/>
          </a:prstGeom>
          <a:noFill/>
        </p:spPr>
        <p:txBody>
          <a:bodyPr wrap="square" anchor="ctr" lIns="45720" rIns="45720">
            <a:spAutoFit/>
          </a:bodyPr>
          <a:lstStyle/>
          <a:p>
            <a:pPr algn="ctr">
              <a:spcAft>
                <a:spcPts val="800"/>
              </a:spcAft>
            </a:pPr>
            <a:r>
              <a:rPr sz="1400" b="1">
                <a:solidFill>
                  <a:srgbClr val="C9A77C"/>
                </a:solidFill>
                <a:latin typeface="Trebuchet MS"/>
              </a:rPr>
              <a:t>YOUR TURN</a:t>
            </a:r>
          </a:p>
        </p:txBody>
      </p:sp>
      <p:sp>
        <p:nvSpPr>
          <p:cNvPr id="6" name="TextBox 5"/>
          <p:cNvSpPr txBox="1"/>
          <p:nvPr/>
        </p:nvSpPr>
        <p:spPr>
          <a:xfrm>
            <a:off x="457200" y="822960"/>
            <a:ext cx="11247120" cy="1005840"/>
          </a:xfrm>
          <a:prstGeom prst="rect">
            <a:avLst/>
          </a:prstGeom>
          <a:noFill/>
        </p:spPr>
        <p:txBody>
          <a:bodyPr wrap="square" anchor="t" lIns="45720" rIns="45720">
            <a:spAutoFit/>
          </a:bodyPr>
          <a:lstStyle/>
          <a:p>
            <a:pPr algn="l">
              <a:spcAft>
                <a:spcPts val="800"/>
              </a:spcAft>
            </a:pPr>
            <a:r>
              <a:rPr sz="3800" b="1">
                <a:solidFill>
                  <a:srgbClr val="1C1C1C"/>
                </a:solidFill>
                <a:latin typeface="Segoe Print"/>
              </a:rPr>
              <a:t>Where does the water go?</a:t>
            </a:r>
          </a:p>
        </p:txBody>
      </p:sp>
      <p:sp>
        <p:nvSpPr>
          <p:cNvPr id="7" name="Rectangle 6"/>
          <p:cNvSpPr/>
          <p:nvPr/>
        </p:nvSpPr>
        <p:spPr>
          <a:xfrm>
            <a:off x="457200" y="1874520"/>
            <a:ext cx="11247120" cy="9525"/>
          </a:xfrm>
          <a:prstGeom prst="rect">
            <a:avLst/>
          </a:prstGeom>
          <a:solidFill>
            <a:srgbClr val="2C6F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48840"/>
            <a:ext cx="5120640" cy="3931920"/>
          </a:xfrm>
          <a:prstGeom prst="rect">
            <a:avLst/>
          </a:prstGeom>
          <a:noFill/>
        </p:spPr>
        <p:txBody>
          <a:bodyPr wrap="square" anchor="t" lIns="45720" rIns="45720">
            <a:spAutoFit/>
          </a:bodyPr>
          <a:lstStyle/>
          <a:p>
            <a:pPr algn="l">
              <a:spcAft>
                <a:spcPts val="1600"/>
              </a:spcAft>
            </a:pPr>
            <a:r>
              <a:rPr sz="3000" b="1">
                <a:solidFill>
                  <a:srgbClr val="1C1C1C"/>
                </a:solidFill>
                <a:latin typeface="Trebuchet MS"/>
              </a:rPr>
              <a:t>•  Pour 500 ml on each bottle</a:t>
            </a:r>
          </a:p>
          <a:p>
            <a:pPr algn="l">
              <a:spcAft>
                <a:spcPts val="1600"/>
              </a:spcAft>
            </a:pPr>
            <a:r>
              <a:rPr sz="3000" b="1">
                <a:solidFill>
                  <a:srgbClr val="1C1C1C"/>
                </a:solidFill>
                <a:latin typeface="Trebuchet MS"/>
              </a:rPr>
              <a:t>•  Catch and measure the runoff</a:t>
            </a:r>
          </a:p>
          <a:p>
            <a:pPr algn="l">
              <a:spcAft>
                <a:spcPts val="1600"/>
              </a:spcAft>
            </a:pPr>
            <a:r>
              <a:rPr sz="3000" b="1">
                <a:solidFill>
                  <a:srgbClr val="1C1C1C"/>
                </a:solidFill>
                <a:latin typeface="Trebuchet MS"/>
              </a:rPr>
              <a:t>•  Find three water signs</a:t>
            </a:r>
          </a:p>
        </p:txBody>
      </p:sp>
      <p:sp>
        <p:nvSpPr>
          <p:cNvPr id="9" name="Rectangle 8"/>
          <p:cNvSpPr/>
          <p:nvPr/>
        </p:nvSpPr>
        <p:spPr>
          <a:xfrm>
            <a:off x="5852160" y="2103120"/>
            <a:ext cx="5852160" cy="411480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286000"/>
            <a:ext cx="539496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ANIMATION · T-ANI-14 · coming</a:t>
            </a:r>
          </a:p>
        </p:txBody>
      </p:sp>
      <p:sp>
        <p:nvSpPr>
          <p:cNvPr id="11" name="TextBox 10"/>
          <p:cNvSpPr txBox="1"/>
          <p:nvPr/>
        </p:nvSpPr>
        <p:spPr>
          <a:xfrm>
            <a:off x="6080760" y="2670048"/>
            <a:ext cx="539496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Water movement</a:t>
            </a:r>
          </a:p>
        </p:txBody>
      </p:sp>
      <p:sp>
        <p:nvSpPr>
          <p:cNvPr id="12" name="TextBox 11"/>
          <p:cNvSpPr txBox="1"/>
          <p:nvPr/>
        </p:nvSpPr>
        <p:spPr>
          <a:xfrm>
            <a:off x="6080760" y="3200400"/>
            <a:ext cx="5394960" cy="283464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A homestead on a gentle slope in a summer storm: rain falls on roof, road and yard; blue flow lines gather into channels and run downhill carrying soil. Then the same slope with stone lines and grass strips, where the water spreads and sinks in. (Replaces the withdrawn clip `reading-landscape/watch-05-water-movement.mp4`.)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C9A77C"/>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C1C1C"/>
                </a:solidFill>
                <a:latin typeface="Trebuchet MS"/>
              </a:rPr>
              <a:t>T-D2-11   ·   Poster T-P12</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C1C1C"/>
                </a:solidFill>
                <a:latin typeface="Trebuchet MS"/>
              </a:rPr>
              <a:t>Teach the Teachers</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C1C1C"/>
                </a:solidFill>
                <a:latin typeface="Segoe Print"/>
              </a:rPr>
              <a:t>Tree talk</a:t>
            </a:r>
          </a:p>
        </p:txBody>
      </p:sp>
      <p:sp>
        <p:nvSpPr>
          <p:cNvPr id="5" name="Rectangle 4"/>
          <p:cNvSpPr/>
          <p:nvPr/>
        </p:nvSpPr>
        <p:spPr>
          <a:xfrm>
            <a:off x="457200" y="1463040"/>
            <a:ext cx="11247120" cy="9525"/>
          </a:xfrm>
          <a:prstGeom prst="rect">
            <a:avLst/>
          </a:prstGeom>
          <a:solidFill>
            <a:srgbClr val="2C6F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800" b="0">
                <a:solidFill>
                  <a:srgbClr val="1C1C1C"/>
                </a:solidFill>
                <a:latin typeface="Trebuchet MS"/>
              </a:rPr>
              <a:t>•  Sun behind learners</a:t>
            </a:r>
          </a:p>
          <a:p>
            <a:pPr algn="l">
              <a:spcAft>
                <a:spcPts val="1600"/>
              </a:spcAft>
            </a:pPr>
            <a:r>
              <a:rPr sz="2800" b="0">
                <a:solidFill>
                  <a:srgbClr val="1C1C1C"/>
                </a:solidFill>
                <a:latin typeface="Trebuchet MS"/>
              </a:rPr>
              <a:t>•  Poster at eye level</a:t>
            </a:r>
          </a:p>
          <a:p>
            <a:pPr algn="l">
              <a:spcAft>
                <a:spcPts val="1600"/>
              </a:spcAft>
            </a:pPr>
            <a:r>
              <a:rPr sz="2800" b="0">
                <a:solidFill>
                  <a:srgbClr val="1C1C1C"/>
                </a:solidFill>
                <a:latin typeface="Trebuchet MS"/>
              </a:rPr>
              <a:t>•  Stop, then talk</a:t>
            </a:r>
          </a:p>
        </p:txBody>
      </p:sp>
      <p:sp>
        <p:nvSpPr>
          <p:cNvPr id="7" name="Rectangle 6"/>
          <p:cNvSpPr/>
          <p:nvPr/>
        </p:nvSpPr>
        <p:spPr>
          <a:xfrm>
            <a:off x="5852160" y="1691640"/>
            <a:ext cx="5852160" cy="452628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POSTER ART · T-P12-ART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Artwork for T-P12 · Teach with what you have (tree talk)</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A teaching circle under a large shade tree. A poster is tied to the trunk at the eye level of seated people. Learners sit in a horseshoe facing the trunk, the sun shape behind them in the upper part of the scene (north, marked by a small compass arrow pointing up), so their faces are in shade. The facilitator stands to one side of the poster, wind lines…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F3A33"/>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F2EFE6"/>
                </a:solidFill>
                <a:latin typeface="Trebuchet MS"/>
              </a:rPr>
              <a:t>T-D2-12   ·   Poster T-P13</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F2EFE6"/>
                </a:solidFill>
                <a:latin typeface="Trebuchet MS"/>
              </a:rPr>
              <a:t>Teach the Teachers</a:t>
            </a:r>
          </a:p>
        </p:txBody>
      </p:sp>
      <p:sp>
        <p:nvSpPr>
          <p:cNvPr id="4" name="TextBox 3"/>
          <p:cNvSpPr txBox="1"/>
          <p:nvPr/>
        </p:nvSpPr>
        <p:spPr>
          <a:xfrm>
            <a:off x="822960" y="1463040"/>
            <a:ext cx="6400800" cy="1645920"/>
          </a:xfrm>
          <a:prstGeom prst="rect">
            <a:avLst/>
          </a:prstGeom>
          <a:noFill/>
        </p:spPr>
        <p:txBody>
          <a:bodyPr wrap="square" anchor="b" lIns="45720" rIns="45720">
            <a:spAutoFit/>
          </a:bodyPr>
          <a:lstStyle/>
          <a:p>
            <a:pPr algn="l">
              <a:spcAft>
                <a:spcPts val="800"/>
              </a:spcAft>
            </a:pPr>
            <a:r>
              <a:rPr sz="4800" b="1">
                <a:solidFill>
                  <a:srgbClr val="F2EFE6"/>
                </a:solidFill>
                <a:latin typeface="Segoe Print"/>
              </a:rPr>
              <a:t>Mode 1: posters only</a:t>
            </a:r>
          </a:p>
        </p:txBody>
      </p:sp>
      <p:sp>
        <p:nvSpPr>
          <p:cNvPr id="5" name="Rectangle 4"/>
          <p:cNvSpPr/>
          <p:nvPr/>
        </p:nvSpPr>
        <p:spPr>
          <a:xfrm>
            <a:off x="822960" y="3246120"/>
            <a:ext cx="1463040" cy="73152"/>
          </a:xfrm>
          <a:prstGeom prst="rect">
            <a:avLst/>
          </a:prstGeom>
          <a:solidFill>
            <a:srgbClr val="D245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474720"/>
            <a:ext cx="6035040" cy="1828800"/>
          </a:xfrm>
          <a:prstGeom prst="rect">
            <a:avLst/>
          </a:prstGeom>
          <a:noFill/>
        </p:spPr>
        <p:txBody>
          <a:bodyPr wrap="square" anchor="t" lIns="45720" rIns="45720">
            <a:spAutoFit/>
          </a:bodyPr>
          <a:lstStyle/>
          <a:p>
            <a:pPr algn="l">
              <a:spcAft>
                <a:spcPts val="800"/>
              </a:spcAft>
            </a:pPr>
            <a:r>
              <a:rPr sz="2400" b="0">
                <a:solidFill>
                  <a:srgbClr val="F2EFE6"/>
                </a:solidFill>
                <a:latin typeface="Trebuchet MS"/>
              </a:rPr>
              <a:t>One lesson, three ways</a:t>
            </a:r>
          </a:p>
          <a:p>
            <a:pPr algn="l">
              <a:spcAft>
                <a:spcPts val="800"/>
              </a:spcAft>
            </a:pPr>
            <a:r>
              <a:rPr sz="2400" b="0">
                <a:solidFill>
                  <a:srgbClr val="F2EFE6"/>
                </a:solidFill>
                <a:latin typeface="Trebuchet MS"/>
              </a:rPr>
              <a:t>Today: the poster</a:t>
            </a:r>
          </a:p>
        </p:txBody>
      </p:sp>
      <p:sp>
        <p:nvSpPr>
          <p:cNvPr id="7" name="Rectangle 6"/>
          <p:cNvSpPr/>
          <p:nvPr/>
        </p:nvSpPr>
        <p:spPr>
          <a:xfrm>
            <a:off x="7498079" y="914400"/>
            <a:ext cx="4206240" cy="475488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1097280"/>
            <a:ext cx="374904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POSTER ART · T-P13-ART · coming</a:t>
            </a:r>
          </a:p>
        </p:txBody>
      </p:sp>
      <p:sp>
        <p:nvSpPr>
          <p:cNvPr id="9" name="TextBox 8"/>
          <p:cNvSpPr txBox="1"/>
          <p:nvPr/>
        </p:nvSpPr>
        <p:spPr>
          <a:xfrm>
            <a:off x="7726679" y="1481328"/>
            <a:ext cx="374904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Artwork for T-P13 · One lesson, three ways</a:t>
            </a:r>
          </a:p>
        </p:txBody>
      </p:sp>
      <p:sp>
        <p:nvSpPr>
          <p:cNvPr id="10" name="TextBox 9"/>
          <p:cNvSpPr txBox="1"/>
          <p:nvPr/>
        </p:nvSpPr>
        <p:spPr>
          <a:xfrm>
            <a:off x="7726679" y="2011680"/>
            <a:ext cx="3749040" cy="347472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Three tall columns. Left: a poster on a fence with a group of five standing, one pointing. Middle, top: a laptop connected to a TV on a table in a shaded room with seated learners; middle, bottom: a group of five crowded around a tablet held by one of them. Right: a group of five watching a phone; beneath it, a hand signing on a phone screen with 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C9A77C"/>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C1C1C"/>
                </a:solidFill>
                <a:latin typeface="Trebuchet MS"/>
              </a:rPr>
              <a:t>T-D2-13   ·   Poster T-P13</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C1C1C"/>
                </a:solidFill>
                <a:latin typeface="Trebuchet MS"/>
              </a:rPr>
              <a:t>Teach the Teachers</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C1C1C"/>
                </a:solidFill>
                <a:latin typeface="Segoe Print"/>
              </a:rPr>
              <a:t>Teach from a poster</a:t>
            </a:r>
          </a:p>
        </p:txBody>
      </p:sp>
      <p:sp>
        <p:nvSpPr>
          <p:cNvPr id="5" name="Rectangle 4"/>
          <p:cNvSpPr/>
          <p:nvPr/>
        </p:nvSpPr>
        <p:spPr>
          <a:xfrm>
            <a:off x="457200" y="1463040"/>
            <a:ext cx="11247120" cy="9525"/>
          </a:xfrm>
          <a:prstGeom prst="rect">
            <a:avLst/>
          </a:prstGeom>
          <a:solidFill>
            <a:srgbClr val="2C6F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800" b="0">
                <a:solidFill>
                  <a:srgbClr val="1C1C1C"/>
                </a:solidFill>
                <a:latin typeface="Trebuchet MS"/>
              </a:rPr>
              <a:t>•  Cover and reveal</a:t>
            </a:r>
          </a:p>
          <a:p>
            <a:pPr algn="l">
              <a:spcAft>
                <a:spcPts val="1600"/>
              </a:spcAft>
            </a:pPr>
            <a:r>
              <a:rPr sz="2800" b="0">
                <a:solidFill>
                  <a:srgbClr val="1C1C1C"/>
                </a:solidFill>
                <a:latin typeface="Trebuchet MS"/>
              </a:rPr>
              <a:t>•  Point and ask</a:t>
            </a:r>
          </a:p>
          <a:p>
            <a:pPr algn="l">
              <a:spcAft>
                <a:spcPts val="1600"/>
              </a:spcAft>
            </a:pPr>
            <a:r>
              <a:rPr sz="2800" b="0">
                <a:solidFill>
                  <a:srgbClr val="1C1C1C"/>
                </a:solidFill>
                <a:latin typeface="Trebuchet MS"/>
              </a:rPr>
              <a:t>•  Learners come to the poster</a:t>
            </a:r>
          </a:p>
        </p:txBody>
      </p:sp>
      <p:sp>
        <p:nvSpPr>
          <p:cNvPr id="7" name="Rectangle 6"/>
          <p:cNvSpPr/>
          <p:nvPr/>
        </p:nvSpPr>
        <p:spPr>
          <a:xfrm>
            <a:off x="5852160" y="1691640"/>
            <a:ext cx="5852160" cy="452628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IMAGE · T-IMG-02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Notes on the phone, poster on the fence</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A young female facilitator stands beside (not in front of) a poster tied to a wire fence with cable ties. She holds a phone low in one hand, glancing at it, and points with an open hand at a numbered circle on the poster. Five learners stand in a horseshoe facing the poster, one stepping forward to touch it. Garden beds behind. Poster content drawn as…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C9A77C"/>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C1C1C"/>
                </a:solidFill>
                <a:latin typeface="Trebuchet MS"/>
              </a:rPr>
              <a:t>T-D2-14   ·   Poster T-P17</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C1C1C"/>
                </a:solidFill>
                <a:latin typeface="Trebuchet MS"/>
              </a:rPr>
              <a:t>Teach the Teachers</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C1C1C"/>
                </a:solidFill>
                <a:latin typeface="Segoe Print"/>
              </a:rPr>
              <a:t>Everyone learns</a:t>
            </a:r>
          </a:p>
        </p:txBody>
      </p:sp>
      <p:sp>
        <p:nvSpPr>
          <p:cNvPr id="5" name="Rectangle 4"/>
          <p:cNvSpPr/>
          <p:nvPr/>
        </p:nvSpPr>
        <p:spPr>
          <a:xfrm>
            <a:off x="457200" y="1463040"/>
            <a:ext cx="11247120" cy="9525"/>
          </a:xfrm>
          <a:prstGeom prst="rect">
            <a:avLst/>
          </a:prstGeom>
          <a:solidFill>
            <a:srgbClr val="2C6F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800" b="0">
                <a:solidFill>
                  <a:srgbClr val="1C1C1C"/>
                </a:solidFill>
                <a:latin typeface="Trebuchet MS"/>
              </a:rPr>
              <a:t>•  Language time: retell it</a:t>
            </a:r>
          </a:p>
          <a:p>
            <a:pPr algn="l">
              <a:spcAft>
                <a:spcPts val="1600"/>
              </a:spcAft>
            </a:pPr>
            <a:r>
              <a:rPr sz="2800" b="0">
                <a:solidFill>
                  <a:srgbClr val="1C1C1C"/>
                </a:solidFill>
                <a:latin typeface="Trebuchet MS"/>
              </a:rPr>
              <a:t>•  A role for everyone</a:t>
            </a:r>
          </a:p>
          <a:p>
            <a:pPr algn="l">
              <a:spcAft>
                <a:spcPts val="1600"/>
              </a:spcAft>
            </a:pPr>
            <a:r>
              <a:rPr sz="2800" b="0">
                <a:solidFill>
                  <a:srgbClr val="1C1C1C"/>
                </a:solidFill>
                <a:latin typeface="Trebuchet MS"/>
              </a:rPr>
              <a:t>•  Seated jobs, picture labels</a:t>
            </a:r>
          </a:p>
        </p:txBody>
      </p:sp>
      <p:sp>
        <p:nvSpPr>
          <p:cNvPr id="7" name="Rectangle 6"/>
          <p:cNvSpPr/>
          <p:nvPr/>
        </p:nvSpPr>
        <p:spPr>
          <a:xfrm>
            <a:off x="5852160" y="1691640"/>
            <a:ext cx="5852160" cy="452628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POSTER ART · T-P17-ART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Artwork for T-P17 · Everyone learns</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A mixed group of five at a raised table outside, mixing seedling soil: a gogo seated, showing seeds in her palm to others; a young man in a wheelchair at the table's end mixing soil with both hands; a young mother with a baby tied on her back; an older man seated close to the facilitator, watching her face as she speaks; two young women talking side by…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C9A77C"/>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C1C1C"/>
                </a:solidFill>
                <a:latin typeface="Trebuchet MS"/>
              </a:rPr>
              <a:t>T-D2-15   ·   Poster T-P04</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C1C1C"/>
                </a:solidFill>
                <a:latin typeface="Trebuchet MS"/>
              </a:rPr>
              <a:t>Teach the Teachers</a:t>
            </a:r>
          </a:p>
        </p:txBody>
      </p:sp>
      <p:sp>
        <p:nvSpPr>
          <p:cNvPr id="4" name="Rounded Rectangle 3"/>
          <p:cNvSpPr/>
          <p:nvPr/>
        </p:nvSpPr>
        <p:spPr>
          <a:xfrm>
            <a:off x="457200" y="320040"/>
            <a:ext cx="1737360" cy="411480"/>
          </a:xfrm>
          <a:prstGeom prst="roundRect">
            <a:avLst/>
          </a:prstGeom>
          <a:solidFill>
            <a:srgbClr val="D245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20040"/>
            <a:ext cx="1737360" cy="411480"/>
          </a:xfrm>
          <a:prstGeom prst="rect">
            <a:avLst/>
          </a:prstGeom>
          <a:noFill/>
        </p:spPr>
        <p:txBody>
          <a:bodyPr wrap="square" anchor="ctr" lIns="45720" rIns="45720">
            <a:spAutoFit/>
          </a:bodyPr>
          <a:lstStyle/>
          <a:p>
            <a:pPr algn="ctr">
              <a:spcAft>
                <a:spcPts val="800"/>
              </a:spcAft>
            </a:pPr>
            <a:r>
              <a:rPr sz="1400" b="1">
                <a:solidFill>
                  <a:srgbClr val="C9A77C"/>
                </a:solidFill>
                <a:latin typeface="Trebuchet MS"/>
              </a:rPr>
              <a:t>YOUR TURN</a:t>
            </a:r>
          </a:p>
        </p:txBody>
      </p:sp>
      <p:sp>
        <p:nvSpPr>
          <p:cNvPr id="6" name="TextBox 5"/>
          <p:cNvSpPr txBox="1"/>
          <p:nvPr/>
        </p:nvSpPr>
        <p:spPr>
          <a:xfrm>
            <a:off x="457200" y="822960"/>
            <a:ext cx="11247120" cy="1005840"/>
          </a:xfrm>
          <a:prstGeom prst="rect">
            <a:avLst/>
          </a:prstGeom>
          <a:noFill/>
        </p:spPr>
        <p:txBody>
          <a:bodyPr wrap="square" anchor="t" lIns="45720" rIns="45720">
            <a:spAutoFit/>
          </a:bodyPr>
          <a:lstStyle/>
          <a:p>
            <a:pPr algn="l">
              <a:spcAft>
                <a:spcPts val="800"/>
              </a:spcAft>
            </a:pPr>
            <a:r>
              <a:rPr sz="3800" b="1">
                <a:solidFill>
                  <a:srgbClr val="1C1C1C"/>
                </a:solidFill>
                <a:latin typeface="Segoe Print"/>
              </a:rPr>
              <a:t>Micro-teaching Round 2</a:t>
            </a:r>
          </a:p>
        </p:txBody>
      </p:sp>
      <p:sp>
        <p:nvSpPr>
          <p:cNvPr id="7" name="Rectangle 6"/>
          <p:cNvSpPr/>
          <p:nvPr/>
        </p:nvSpPr>
        <p:spPr>
          <a:xfrm>
            <a:off x="457200" y="1874520"/>
            <a:ext cx="11247120" cy="9525"/>
          </a:xfrm>
          <a:prstGeom prst="rect">
            <a:avLst/>
          </a:prstGeom>
          <a:solidFill>
            <a:srgbClr val="2C6F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48840"/>
            <a:ext cx="5120640" cy="3931920"/>
          </a:xfrm>
          <a:prstGeom prst="rect">
            <a:avLst/>
          </a:prstGeom>
          <a:noFill/>
        </p:spPr>
        <p:txBody>
          <a:bodyPr wrap="square" anchor="t" lIns="45720" rIns="45720">
            <a:spAutoFit/>
          </a:bodyPr>
          <a:lstStyle/>
          <a:p>
            <a:pPr algn="l">
              <a:spcAft>
                <a:spcPts val="1600"/>
              </a:spcAft>
            </a:pPr>
            <a:r>
              <a:rPr sz="2600" b="1">
                <a:solidFill>
                  <a:srgbClr val="1C1C1C"/>
                </a:solidFill>
                <a:latin typeface="Trebuchet MS"/>
              </a:rPr>
              <a:t>•  10 minutes, solo, posters only</a:t>
            </a:r>
          </a:p>
          <a:p>
            <a:pPr algn="l">
              <a:spcAft>
                <a:spcPts val="1600"/>
              </a:spcAft>
            </a:pPr>
            <a:r>
              <a:rPr sz="2600" b="1">
                <a:solidFill>
                  <a:srgbClr val="1C1C1C"/>
                </a:solidFill>
                <a:latin typeface="Trebuchet MS"/>
              </a:rPr>
              <a:t>•  Observer counts talk and questions</a:t>
            </a:r>
          </a:p>
          <a:p>
            <a:pPr algn="l">
              <a:spcAft>
                <a:spcPts val="1600"/>
              </a:spcAft>
            </a:pPr>
            <a:r>
              <a:rPr sz="2600" b="1">
                <a:solidFill>
                  <a:srgbClr val="1C1C1C"/>
                </a:solidFill>
                <a:latin typeface="Trebuchet MS"/>
              </a:rPr>
              <a:t>•  6 minutes feedback</a:t>
            </a:r>
          </a:p>
        </p:txBody>
      </p:sp>
      <p:sp>
        <p:nvSpPr>
          <p:cNvPr id="9" name="Rectangle 8"/>
          <p:cNvSpPr/>
          <p:nvPr/>
        </p:nvSpPr>
        <p:spPr>
          <a:xfrm>
            <a:off x="5852160" y="2103120"/>
            <a:ext cx="5852160" cy="411480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286000"/>
            <a:ext cx="539496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IMAGE · T-IMG-05 · coming</a:t>
            </a:r>
          </a:p>
        </p:txBody>
      </p:sp>
      <p:sp>
        <p:nvSpPr>
          <p:cNvPr id="11" name="TextBox 10"/>
          <p:cNvSpPr txBox="1"/>
          <p:nvPr/>
        </p:nvSpPr>
        <p:spPr>
          <a:xfrm>
            <a:off x="6080760" y="2670048"/>
            <a:ext cx="539496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A micro-teach in a small circle</a:t>
            </a:r>
          </a:p>
        </p:txBody>
      </p:sp>
      <p:sp>
        <p:nvSpPr>
          <p:cNvPr id="12" name="TextBox 11"/>
          <p:cNvSpPr txBox="1"/>
          <p:nvPr/>
        </p:nvSpPr>
        <p:spPr>
          <a:xfrm>
            <a:off x="6080760" y="3200400"/>
            <a:ext cx="5394960" cy="283464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Five adults in a small circle of chairs in the corner of a hall. One young man (teaching) holds up a cut-open 2 ℓ bottle of soil while three peers lean forward, one pouring water. A fourth person, an older woman, sits slightly back with a clipboard, making tally marks (simple strokes). A second person holds up a small red card (the STOP card, no text). 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C9A77C"/>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C1C1C"/>
                </a:solidFill>
                <a:latin typeface="Trebuchet MS"/>
              </a:rPr>
              <a:t>T-D2-16   ·   Poster T-P04</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C1C1C"/>
                </a:solidFill>
                <a:latin typeface="Trebuchet MS"/>
              </a:rPr>
              <a:t>Teach the Teachers</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C1C1C"/>
                </a:solidFill>
                <a:latin typeface="Segoe Print"/>
              </a:rPr>
              <a:t>The talk scoreboard</a:t>
            </a:r>
          </a:p>
        </p:txBody>
      </p:sp>
      <p:sp>
        <p:nvSpPr>
          <p:cNvPr id="5" name="Rectangle 4"/>
          <p:cNvSpPr/>
          <p:nvPr/>
        </p:nvSpPr>
        <p:spPr>
          <a:xfrm>
            <a:off x="457200" y="1463040"/>
            <a:ext cx="11247120" cy="9525"/>
          </a:xfrm>
          <a:prstGeom prst="rect">
            <a:avLst/>
          </a:prstGeom>
          <a:solidFill>
            <a:srgbClr val="2C6F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800" b="0">
                <a:solidFill>
                  <a:srgbClr val="1C1C1C"/>
                </a:solidFill>
                <a:latin typeface="Trebuchet MS"/>
              </a:rPr>
              <a:t>•  Write your own talk %</a:t>
            </a:r>
          </a:p>
          <a:p>
            <a:pPr algn="l">
              <a:spcAft>
                <a:spcPts val="1600"/>
              </a:spcAft>
            </a:pPr>
            <a:r>
              <a:rPr sz="2800" b="0">
                <a:solidFill>
                  <a:srgbClr val="1C1C1C"/>
                </a:solidFill>
                <a:latin typeface="Trebuchet MS"/>
              </a:rPr>
              <a:t>•  What helped you talk less?</a:t>
            </a:r>
          </a:p>
        </p:txBody>
      </p:sp>
      <p:sp>
        <p:nvSpPr>
          <p:cNvPr id="7" name="Rectangle 6"/>
          <p:cNvSpPr/>
          <p:nvPr/>
        </p:nvSpPr>
        <p:spPr>
          <a:xfrm>
            <a:off x="5852160" y="1691640"/>
            <a:ext cx="5852160" cy="452628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POSTER ART · T-P04-ART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Artwork for T-P04 · The teacher-talk meter</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Top half: a big half-circle gauge, like a fuel gauge, split into ten equal wedges — three Ochre wedges on the left, seven Leaf-green wedges on the right (the Leaf wedges also carry small dot pattern so it works in black and white). A thick Ink needle points into the third Ochre wedge. Bottom half: a facilitator stands to one side with an open hand…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C9A77C"/>
        </a:solidFill>
        <a:effectLst/>
      </p:bgPr>
    </p:bg>
    <p:spTree>
      <p:nvGrpSpPr>
        <p:cNvPr id="1" name=""/>
        <p:cNvGrpSpPr/>
        <p:nvPr/>
      </p:nvGrpSpPr>
      <p:grpSpPr/>
      <p:sp>
        <p:nvSpPr>
          <p:cNvPr id="2" name="TextBox 1"/>
          <p:cNvSpPr txBox="1"/>
          <p:nvPr/>
        </p:nvSpPr>
        <p:spPr>
          <a:xfrm>
            <a:off x="457200" y="6446520"/>
            <a:ext cx="7315200" cy="320040"/>
          </a:xfrm>
          <a:prstGeom prst="rect">
            <a:avLst/>
          </a:prstGeom>
          <a:noFill/>
        </p:spPr>
        <p:txBody>
          <a:bodyPr wrap="square" anchor="t" lIns="45720" rIns="45720">
            <a:spAutoFit/>
          </a:bodyPr>
          <a:lstStyle/>
          <a:p>
            <a:pPr algn="l">
              <a:spcAft>
                <a:spcPts val="800"/>
              </a:spcAft>
            </a:pPr>
            <a:r>
              <a:rPr sz="1000" b="0">
                <a:solidFill>
                  <a:srgbClr val="1C1C1C"/>
                </a:solidFill>
                <a:latin typeface="Trebuchet MS"/>
              </a:rPr>
              <a:t>T-D2-17   ·   Poster T-P17</a:t>
            </a:r>
          </a:p>
        </p:txBody>
      </p:sp>
      <p:sp>
        <p:nvSpPr>
          <p:cNvPr id="3" name="TextBox 2"/>
          <p:cNvSpPr txBox="1"/>
          <p:nvPr/>
        </p:nvSpPr>
        <p:spPr>
          <a:xfrm>
            <a:off x="8077200" y="6446520"/>
            <a:ext cx="3657600" cy="320040"/>
          </a:xfrm>
          <a:prstGeom prst="rect">
            <a:avLst/>
          </a:prstGeom>
          <a:noFill/>
        </p:spPr>
        <p:txBody>
          <a:bodyPr wrap="square" anchor="t" lIns="45720" rIns="45720">
            <a:spAutoFit/>
          </a:bodyPr>
          <a:lstStyle/>
          <a:p>
            <a:pPr algn="r">
              <a:spcAft>
                <a:spcPts val="800"/>
              </a:spcAft>
            </a:pPr>
            <a:r>
              <a:rPr sz="1000" b="0">
                <a:solidFill>
                  <a:srgbClr val="1C1C1C"/>
                </a:solidFill>
                <a:latin typeface="Trebuchet MS"/>
              </a:rPr>
              <a:t>Teach the Teachers</a:t>
            </a:r>
          </a:p>
        </p:txBody>
      </p:sp>
      <p:sp>
        <p:nvSpPr>
          <p:cNvPr id="4" name="TextBox 3"/>
          <p:cNvSpPr txBox="1"/>
          <p:nvPr/>
        </p:nvSpPr>
        <p:spPr>
          <a:xfrm>
            <a:off x="457200" y="411480"/>
            <a:ext cx="11247120" cy="1005840"/>
          </a:xfrm>
          <a:prstGeom prst="rect">
            <a:avLst/>
          </a:prstGeom>
          <a:noFill/>
        </p:spPr>
        <p:txBody>
          <a:bodyPr wrap="square" anchor="t" lIns="45720" rIns="45720">
            <a:spAutoFit/>
          </a:bodyPr>
          <a:lstStyle/>
          <a:p>
            <a:pPr algn="l">
              <a:spcAft>
                <a:spcPts val="800"/>
              </a:spcAft>
            </a:pPr>
            <a:r>
              <a:rPr sz="3800" b="1">
                <a:solidFill>
                  <a:srgbClr val="1C1C1C"/>
                </a:solidFill>
                <a:latin typeface="Segoe Print"/>
              </a:rPr>
              <a:t>Course craft: POPIA</a:t>
            </a:r>
          </a:p>
        </p:txBody>
      </p:sp>
      <p:sp>
        <p:nvSpPr>
          <p:cNvPr id="5" name="Rectangle 4"/>
          <p:cNvSpPr/>
          <p:nvPr/>
        </p:nvSpPr>
        <p:spPr>
          <a:xfrm>
            <a:off x="457200" y="1463040"/>
            <a:ext cx="11247120" cy="9525"/>
          </a:xfrm>
          <a:prstGeom prst="rect">
            <a:avLst/>
          </a:prstGeom>
          <a:solidFill>
            <a:srgbClr val="2C6F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5120640" cy="4343400"/>
          </a:xfrm>
          <a:prstGeom prst="rect">
            <a:avLst/>
          </a:prstGeom>
          <a:noFill/>
        </p:spPr>
        <p:txBody>
          <a:bodyPr wrap="square" anchor="t" lIns="45720" rIns="45720">
            <a:spAutoFit/>
          </a:bodyPr>
          <a:lstStyle/>
          <a:p>
            <a:pPr algn="l">
              <a:spcAft>
                <a:spcPts val="1600"/>
              </a:spcAft>
            </a:pPr>
            <a:r>
              <a:rPr sz="2800" b="0">
                <a:solidFill>
                  <a:srgbClr val="1C1C1C"/>
                </a:solidFill>
                <a:latin typeface="Trebuchet MS"/>
              </a:rPr>
              <a:t>•  Consent before the camera</a:t>
            </a:r>
          </a:p>
          <a:p>
            <a:pPr algn="l">
              <a:spcAft>
                <a:spcPts val="1600"/>
              </a:spcAft>
            </a:pPr>
            <a:r>
              <a:rPr sz="2800" b="0">
                <a:solidFill>
                  <a:srgbClr val="1C1C1C"/>
                </a:solidFill>
                <a:latin typeface="Trebuchet MS"/>
              </a:rPr>
              <a:t>•  Green dot = no photos</a:t>
            </a:r>
          </a:p>
          <a:p>
            <a:pPr algn="l">
              <a:spcAft>
                <a:spcPts val="1600"/>
              </a:spcAft>
            </a:pPr>
            <a:r>
              <a:rPr sz="2800" b="0">
                <a:solidFill>
                  <a:srgbClr val="1C1C1C"/>
                </a:solidFill>
                <a:latin typeface="Trebuchet MS"/>
              </a:rPr>
              <a:t>•  Share only what was agreed</a:t>
            </a:r>
          </a:p>
        </p:txBody>
      </p:sp>
      <p:sp>
        <p:nvSpPr>
          <p:cNvPr id="7" name="Rectangle 6"/>
          <p:cNvSpPr/>
          <p:nvPr/>
        </p:nvSpPr>
        <p:spPr>
          <a:xfrm>
            <a:off x="5852160" y="1691640"/>
            <a:ext cx="5852160" cy="4526280"/>
          </a:xfrm>
          <a:prstGeom prst="rect">
            <a:avLst/>
          </a:prstGeom>
          <a:solidFill>
            <a:srgbClr val="C9A77C"/>
          </a:solidFill>
          <a:ln w="15875">
            <a:solidFill>
              <a:srgbClr val="2C6FB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1874520"/>
            <a:ext cx="5394960" cy="365760"/>
          </a:xfrm>
          <a:prstGeom prst="rect">
            <a:avLst/>
          </a:prstGeom>
          <a:noFill/>
        </p:spPr>
        <p:txBody>
          <a:bodyPr wrap="square" anchor="t" lIns="45720" rIns="45720">
            <a:spAutoFit/>
          </a:bodyPr>
          <a:lstStyle/>
          <a:p>
            <a:pPr algn="l">
              <a:spcAft>
                <a:spcPts val="800"/>
              </a:spcAft>
            </a:pPr>
            <a:r>
              <a:rPr sz="1200" b="1">
                <a:solidFill>
                  <a:srgbClr val="D2452C"/>
                </a:solidFill>
                <a:latin typeface="Trebuchet MS"/>
              </a:rPr>
              <a:t>IMAGE · T-IMG-15 · coming</a:t>
            </a:r>
          </a:p>
        </p:txBody>
      </p:sp>
      <p:sp>
        <p:nvSpPr>
          <p:cNvPr id="9" name="TextBox 8"/>
          <p:cNvSpPr txBox="1"/>
          <p:nvPr/>
        </p:nvSpPr>
        <p:spPr>
          <a:xfrm>
            <a:off x="6080760" y="2258568"/>
            <a:ext cx="5394960" cy="457200"/>
          </a:xfrm>
          <a:prstGeom prst="rect">
            <a:avLst/>
          </a:prstGeom>
          <a:noFill/>
        </p:spPr>
        <p:txBody>
          <a:bodyPr wrap="square" anchor="t" lIns="45720" rIns="45720">
            <a:spAutoFit/>
          </a:bodyPr>
          <a:lstStyle/>
          <a:p>
            <a:pPr algn="l">
              <a:spcAft>
                <a:spcPts val="800"/>
              </a:spcAft>
            </a:pPr>
            <a:r>
              <a:rPr sz="1800" b="1">
                <a:solidFill>
                  <a:srgbClr val="1C1C1C"/>
                </a:solidFill>
                <a:latin typeface="Segoe Print"/>
              </a:rPr>
              <a:t>The register at the door</a:t>
            </a:r>
          </a:p>
        </p:txBody>
      </p:sp>
      <p:sp>
        <p:nvSpPr>
          <p:cNvPr id="10" name="TextBox 9"/>
          <p:cNvSpPr txBox="1"/>
          <p:nvPr/>
        </p:nvSpPr>
        <p:spPr>
          <a:xfrm>
            <a:off x="6080760" y="2788920"/>
            <a:ext cx="5394960" cy="3246120"/>
          </a:xfrm>
          <a:prstGeom prst="rect">
            <a:avLst/>
          </a:prstGeom>
          <a:noFill/>
        </p:spPr>
        <p:txBody>
          <a:bodyPr wrap="square" anchor="t" lIns="45720" rIns="45720">
            <a:spAutoFit/>
          </a:bodyPr>
          <a:lstStyle/>
          <a:p>
            <a:pPr algn="l">
              <a:spcAft>
                <a:spcPts val="800"/>
              </a:spcAft>
            </a:pPr>
            <a:r>
              <a:rPr sz="1100" b="0">
                <a:solidFill>
                  <a:srgbClr val="1C1C1C"/>
                </a:solidFill>
                <a:latin typeface="Trebuchet MS"/>
              </a:rPr>
              <a:t>A small table at a hall doorway in the morning light. A young man signs a register on a clipboard (grid lines, no letters) while an older woman presses her thumb onto an ink pad to mark her name. A facilitator beside them holds name tags; a small sheet of green dot stickers sits on the table. A queue of three learners waits, chatting.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