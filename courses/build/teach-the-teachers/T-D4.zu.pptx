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T-D4-S0. A trainee who has not led yet runs the energiser.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1. Tell the story without the slide if you can; show the picture after.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2–3. Groups make and tell a 2-minute story from a pool-A topic.</a:t>
            </a:r>
          </a:p>
          <a:p/>
          <a:p>
            <a:r>
              <a:t>Poster: T-P17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4. Songs carry messages home for readers and non-readers.</a:t>
            </a:r>
          </a:p>
          <a:p/>
          <a:p>
            <a:r>
              <a:t>Poster: T-P11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 5. Safety first: if anyone is at risk, stop and get help.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T-D4-S1 steps 6–8. Hand out the help-lines list in the plenary. You're not a counsellor.</a:t>
            </a:r>
          </a:p>
          <a:p/>
          <a:p>
            <a:r>
              <a:t>Poster: T-P22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 1. Hold up a real leaf; hold the answers until the end.</a:t>
            </a:r>
          </a:p>
          <a:p/>
          <a:p>
            <a:r>
              <a:t>Poster: F-P16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2–3. Groups start at stations 1, 2, 4, 5. Trainer at station 3 (pest or friend).</a:t>
            </a:r>
          </a:p>
          <a:p/>
          <a:p>
            <a:r>
              <a:t>Poster: F-P14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4–5. Walk the ladder from the bottom; read marks from two stations.</a:t>
            </a:r>
          </a:p>
          <a:p/>
          <a:p>
            <a:r>
              <a:t>Poster: F-P16</a:t>
            </a:r>
          </a:p>
          <a:p>
            <a:r>
              <a:t>Clip T-ANI-20: public/course-animations/plant-guilds/Imbewu-Guilds-04-Helpful-insects.mp4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T-D4-S2 steps 6–7. Then content questions: spacing, seedlings, seed (clip T-ANI-22 for storage).</a:t>
            </a:r>
          </a:p>
          <a:p/>
          <a:p>
            <a:r>
              <a:t>Poster: F-P18</a:t>
            </a:r>
          </a:p>
          <a:p>
            <a:r>
              <a:t>Clip T-ANI-21: public/course-animations/seeds-sovereignty/seed-dry-processing.mp4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T-D4-S3. Run [APP] or its [PAPER] twin — same time, same outcome.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A. Lessons saved via My Studies → Study offline → Save available lessons to</a:t>
            </a:r>
          </a:p>
          <a:p>
            <a:r>
              <a:t>this phone. [PAPER]: picture-sequence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B. Check green dots before the photo. Delete the test event after.</a:t>
            </a:r>
          </a:p>
          <a:p>
            <a:r>
              <a:t>[PAPER]: forms.md §1 and §7.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T-D4-S3 [APP] station C and step 3 rules. A result is a question for the group, not the answer.</a:t>
            </a:r>
          </a:p>
          <a:p>
            <a:r>
              <a:t>[PAPER]: hand lens and picture cards.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T-D4-S4. Each partner uses a mode new to them (Mode tracker). Every teach still has a hands-on moment.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T-D4-S4 step 3. Device-fail drill once per stream, never on a nervous trainee's first device lesson.</a:t>
            </a:r>
          </a:p>
          <a:p/>
          <a:p>
            <a:r>
              <a:t>Poster: T-P13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T-D4-SC. Streams change tomorrow. Bring a hand-made A1 poster, lesson plan, kit list, Teach it card.</a:t>
            </a:r>
          </a:p>
          <a:p/>
          <a:p>
            <a:r>
              <a:t>Poster: T-P15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T-D4-01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Usuku 4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Izindlela eziningi zokungena</a:t>
            </a:r>
          </a:p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Usuku 4 kwezi-5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T-D4-02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Abafowethu ababili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Ungacela imbewu komuphi umfowabo?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T-D4-03   ·   Poster T-P17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Isimo sendaba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Umuntu ofana nathi, nenkinga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Lokho akuzamile, nokwenzekile</a:t>
            </a:r>
          </a:p>
          <a:p>
            <a:pPr algn="l">
              <a:spcAft>
                <a:spcPts val="1600"/>
              </a:spcAft>
            </a:pPr>
            <a:r>
              <a:rPr sz="2800" b="0">
                <a:solidFill>
                  <a:srgbClr val="1C1C1C"/>
                </a:solidFill>
                <a:latin typeface="Trebuchet MS"/>
              </a:rPr>
              <a:t>•  Umbuzo kulabo abasegumbini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T-D4-04   ·   Poster T-P11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Qambani ingoma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Iculo wonke umuntu alaziyo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Umlayezo owodwa obalulekile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Imizuzu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T-D4-05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Ukuzola esikhathini esinzima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Phefumula · Kusho ngomusa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Lalela, ubuze · Nikeza indlela eya phambili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Landelela ngasese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T-P22-ART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T-P22 · Calm in a difficult moment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Main scene: a facilitator stands relaxed with open palms, shoulders down, facing a learner who is standing and gesturing angrily; other learners seated watch. Small inset lower right: the same facilitator and learner seated together on a bench with cups of tea, talking quietly, the learner calmer. No weapons, no aggression beyond gesture.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T-D4-06   ·   Poster T-P22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Lingisani ngabathathu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Umqeqeshi · Umfundi · Umbukeli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3 yokulingisa, imizuzu 3 yokukhuluma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Shintshanani kathathu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T-IMG-10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Role play in threes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adults standing on a veranda. An older man plays an annoyed learner, arms crossed, frowning (acted, a little comic). A young woman plays the facilitator: relaxed shoulders, open palms, calm face. A third person watches from the side holding a card and smiling. In the background other trios doing the same. Friendly, safe mood.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T-D4-07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Isifundo esiyisibonelo: ukuhamba emibukisweni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Ubani owenze lezi zimbobo?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T-D4-08   ·   Poster F-P14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Iziteshi eziyisithupha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Umsebenzi esiteshini ngasinye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6, bese niya phambili njengewashi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Shiyani uphawu lweqembu lenu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T-IMG-09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gallery walk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An outdoor space with six stations along a fence and two walls, each with a poster (simple shapes) and a small table of objects: seed trays, string, jars, seed packets, insect picture cards. Four small groups are each busy at a different station — sowing, measuring with string, sorting cards. A facilitator rings a small hand bell near the middle.…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T-D4-09   ·   Poster F-P16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Vimbela kuqala, fafaza ekugcineni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Inhlabathi ephilile, izitshalo ezixubile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Bheka njalo, wenze masinyane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Fafaza ekugcineni</a:t>
            </a:r>
          </a:p>
        </p:txBody>
      </p:sp>
      <p:pic>
        <p:nvPicPr>
          <p:cNvPr id="7" name="Picture 6" descr="Imbewu-Guilds-04-Helpful-insect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T-ANI-20 · play from the tablet: Imbewu-Guilds-04-Helpful-insects.mp4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T-D4-10   ·   Poster F-P18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Phumani: sihlaziye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Yini eyenze ukuhamba kwaphumelela?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Uzokusebenzisa nini?</a:t>
            </a:r>
          </a:p>
        </p:txBody>
      </p:sp>
      <p:pic>
        <p:nvPicPr>
          <p:cNvPr id="7" name="Picture 6" descr="seed-dry-proces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308860"/>
            <a:ext cx="5852160" cy="329184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5852160" y="5806440"/>
            <a:ext cx="5852160" cy="411480"/>
          </a:xfrm>
          <a:prstGeom prst="rect">
            <a:avLst/>
          </a:prstGeom>
          <a:solidFill>
            <a:srgbClr val="1C1C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0" y="5815584"/>
            <a:ext cx="5669280" cy="38404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C9A77C"/>
                </a:solidFill>
                <a:latin typeface="Trebuchet MS"/>
              </a:rPr>
              <a:t>▶  Clip T-ANI-21 · play from the tablet: seed-dry-processing.mp4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3A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T-D4-11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F2EFE6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6400800" cy="1645920"/>
          </a:xfrm>
          <a:prstGeom prst="rect">
            <a:avLst/>
          </a:prstGeom>
          <a:noFill/>
        </p:spPr>
        <p:txBody>
          <a:bodyPr wrap="square" anchor="b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4800" b="1">
                <a:solidFill>
                  <a:srgbClr val="F2EFE6"/>
                </a:solidFill>
                <a:latin typeface="Segoe Print"/>
              </a:rPr>
              <a:t>Indlela 3: i-app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246120"/>
            <a:ext cx="1463040" cy="73152"/>
          </a:xfrm>
          <a:prstGeom prst="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474720"/>
            <a:ext cx="6035040" cy="1828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2400" b="0">
                <a:solidFill>
                  <a:srgbClr val="F2EFE6"/>
                </a:solidFill>
                <a:latin typeface="Trebuchet MS"/>
              </a:rPr>
              <a:t>Bonisa · Rekhoda · Buza ubheke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79" y="914400"/>
            <a:ext cx="4206240" cy="47548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26679" y="1097280"/>
            <a:ext cx="3749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POSTER ART · T-P13-ART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26679" y="1481328"/>
            <a:ext cx="37490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Artwork for T-P13 · One lesson, three ways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26679" y="2011680"/>
            <a:ext cx="3749040" cy="34747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Three tall columns. Left: a poster on a fence with a group of five standing, one pointing. Middle, top: a laptop connected to a TV on a table in a shaded room with seated learners; middle, bottom: a group of five crowded around a tablet held by one of them. Right: a group of five watching a phone; beneath it, a hand signing on a phone screen with a…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T-D4-12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My Studies, ngaphandle kwe-inthanethi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Vulani i-flight mode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Bukani ividiyo, bese niyenza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Ividiyo ingabonisa ini?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T-IMG-17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My Studies → Study offline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live ImbewuField app on a phone (sample account, no personal data): **My Studies** with the **Study offline** panel open and the button "Save available lessons to this phone" visible. Frame it inside a simple drawn phone outline on Paper background, 16:9. Re-capture whenever the screen changes.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T-D4-13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Mentor → Training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Indawo, usuku, ababekhona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Amasiginesha nesithombe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Impendulo, igcinwe ngaphandle kwe-inthanethi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T-IMG-18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Mentor → Training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mode only — invented sample names, no real people): the **Mentor** workspace, **Training** view showing an attendance list, a signature box and the venue/date fields. Blur or replace any real names. Frame in a phone or tablet outline.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T-D4-14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728960" y="274320"/>
            <a:ext cx="1005840" cy="365760"/>
          </a:xfrm>
          <a:prstGeom prst="round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28960" y="274320"/>
            <a:ext cx="1005840" cy="3657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200" b="1">
                <a:solidFill>
                  <a:srgbClr val="C9A77C"/>
                </a:solidFill>
                <a:latin typeface="Trebuchet MS"/>
              </a:rPr>
              <a:t>APP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Lima Vision: siyavumelana?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Thathani isithombe seqabunga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Fundani umphumela ndawonye</a:t>
            </a:r>
          </a:p>
          <a:p>
            <a:pPr algn="l">
              <a:spcAft>
                <a:spcPts val="1600"/>
              </a:spcAft>
            </a:pPr>
            <a:r>
              <a:rPr sz="3000" b="1">
                <a:solidFill>
                  <a:srgbClr val="1C1C1C"/>
                </a:solidFill>
                <a:latin typeface="Trebuchet MS"/>
              </a:rPr>
              <a:t>•  Singahlola kanjani?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T-IMG-19 · coming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Screenshot: Lima Vision result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Capture from the app (sample account): a **Lima Vision** result for a photo of a leafy crop, showing the crop identification and the yield/weigh screen. Photo subject must be a plant, not a person. Frame in a phone outline.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T-D4-15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320040"/>
            <a:ext cx="1737360" cy="411480"/>
          </a:xfrm>
          <a:prstGeom prst="roundRect">
            <a:avLst/>
          </a:prstGeom>
          <a:solidFill>
            <a:srgbClr val="D245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320040"/>
            <a:ext cx="1737360" cy="4114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>
              <a:spcAft>
                <a:spcPts val="800"/>
              </a:spcAft>
            </a:pPr>
            <a:r>
              <a:rPr sz="1400" b="1">
                <a:solidFill>
                  <a:srgbClr val="C9A77C"/>
                </a:solidFill>
                <a:latin typeface="Trebuchet MS"/>
              </a:rPr>
              <a:t>SEBENZANI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2296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Ukufundisa okuncane: Round 4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87452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148840"/>
            <a:ext cx="5120640" cy="3931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Imizuzu 20, ngababili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Ama-slide noma i-app — khethani</a:t>
            </a:r>
          </a:p>
          <a:p>
            <a:pPr algn="l">
              <a:spcAft>
                <a:spcPts val="1600"/>
              </a:spcAft>
            </a:pPr>
            <a:r>
              <a:rPr sz="2600" b="1">
                <a:solidFill>
                  <a:srgbClr val="1C1C1C"/>
                </a:solidFill>
                <a:latin typeface="Trebuchet MS"/>
              </a:rPr>
              <a:t>•  Idivayisi ingahluleka ngamabomu</a:t>
            </a:r>
          </a:p>
        </p:txBody>
      </p:sp>
      <p:sp>
        <p:nvSpPr>
          <p:cNvPr id="9" name="Rectangle 8"/>
          <p:cNvSpPr/>
          <p:nvPr/>
        </p:nvSpPr>
        <p:spPr>
          <a:xfrm>
            <a:off x="5852160" y="2103120"/>
            <a:ext cx="5852160" cy="411480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80760" y="22860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T-IMG-04 · coming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267004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A tablet for a group of five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80760" y="3200400"/>
            <a:ext cx="5394960" cy="2834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Five learners crowd round a tablet held by a young man (the Recorder) at a garden table outdoors in shade. The tablet screen shows a simple animation frame of water soaking into soil (Water blue, soil Ochre). An older woman points at the screen; a young woman beside her already has her hands in a tray of soil, doing what they just watched. A facilitator…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T-D4-16   ·   Poster T-P13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Uma idivayisi ihluleka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Shintsha ngemizuzwana 30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Iphosta noma incwajana yezithombe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Ungaxolisi, qhubeka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T-IMG-03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Projector in daylight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Split image. Left: a bright church hall with open windows; a projector on a table throws a pale, washed-out rectangle onto a white wall — nothing on it can be seen; learners at the back squint and shade their eyes. Right: the same group in a shaded corner of the hall, gathered close around a large TV on a table; the TV shows a clear picture of a green…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9A77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6446520"/>
            <a:ext cx="73152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T-D4-17   ·   Poster T-P15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07720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spcAft>
                <a:spcPts val="800"/>
              </a:spcAft>
            </a:pPr>
            <a:r>
              <a:rPr sz="1000" b="0">
                <a:solidFill>
                  <a:srgbClr val="1C1C1C"/>
                </a:solidFill>
                <a:latin typeface="Trebuchet MS"/>
              </a:rPr>
              <a:t>Teach the Teachers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10058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3800" b="1">
                <a:solidFill>
                  <a:srgbClr val="1C1C1C"/>
                </a:solidFill>
                <a:latin typeface="Segoe Print"/>
              </a:rPr>
              <a:t>Ubuciko besifundo: umbiko nezitifiketi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463040"/>
            <a:ext cx="11247120" cy="9525"/>
          </a:xfrm>
          <a:prstGeom prst="rect">
            <a:avLst/>
          </a:prstGeom>
          <a:solidFill>
            <a:srgbClr val="2C6FB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737360"/>
            <a:ext cx="5120640" cy="4343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Umbiko wansuku zonke nesithombe serejista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Ukuba khona, hhayi iziqu</a:t>
            </a:r>
          </a:p>
          <a:p>
            <a:pPr algn="l">
              <a:spcAft>
                <a:spcPts val="1600"/>
              </a:spcAft>
            </a:pPr>
            <a:r>
              <a:rPr sz="2400" b="0">
                <a:solidFill>
                  <a:srgbClr val="1C1C1C"/>
                </a:solidFill>
                <a:latin typeface="Trebuchet MS"/>
              </a:rPr>
              <a:t>•  Kusasa: Round 5, imizuzu 30</a:t>
            </a:r>
          </a:p>
        </p:txBody>
      </p:sp>
      <p:sp>
        <p:nvSpPr>
          <p:cNvPr id="7" name="Rectangle 6"/>
          <p:cNvSpPr/>
          <p:nvPr/>
        </p:nvSpPr>
        <p:spPr>
          <a:xfrm>
            <a:off x="5852160" y="1691640"/>
            <a:ext cx="5852160" cy="4526280"/>
          </a:xfrm>
          <a:prstGeom prst="rect">
            <a:avLst/>
          </a:prstGeom>
          <a:solidFill>
            <a:srgbClr val="C9A77C"/>
          </a:solidFill>
          <a:ln w="15875">
            <a:solidFill>
              <a:srgbClr val="2C6FB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080760" y="187452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D2452C"/>
                </a:solidFill>
                <a:latin typeface="Trebuchet MS"/>
              </a:rPr>
              <a:t>IMAGE · T-IMG-13 · coming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2258568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1">
                <a:solidFill>
                  <a:srgbClr val="1C1C1C"/>
                </a:solidFill>
                <a:latin typeface="Segoe Print"/>
              </a:rPr>
              <a:t>The certificate handshake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80760" y="2788920"/>
            <a:ext cx="5394960" cy="3246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800"/>
              </a:spcAft>
            </a:pPr>
            <a:r>
              <a:rPr sz="1100" b="0">
                <a:solidFill>
                  <a:srgbClr val="1C1C1C"/>
                </a:solidFill>
                <a:latin typeface="Trebuchet MS"/>
              </a:rPr>
              <a:t>Inside a hall decorated with posters, an older male trainer shakes hands with a young woman trainee while handing her a certificate (a sheet with a border and a seal shape, no readable text). Colleagues around them clap. Warm, proud mood.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