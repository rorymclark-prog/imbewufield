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T-D2-S0. A trainee runs the register. Energiser by a volunteer. "You said, we did" — answer</a:t>
            </a:r>
          </a:p>
          <a:p>
            <a:r>
              <a:t>yesterday's wishes in two sentences.</a:t>
            </a:r>
          </a:p>
          <a:p/>
          <a:p>
            <a:r>
              <a:t>Poster: T-P01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T-D2-S0 steps 4–6. Questions to the Question Tree. Roles rotate; say today's promise.</a:t>
            </a:r>
          </a:p>
          <a:p/>
          <a:p>
            <a:r>
              <a:t>Poster: T-P11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 1. Ask: at 12:30, how would you know? Only B can be seen.</a:t>
            </a:r>
          </a:p>
          <a:p/>
          <a:p>
            <a:r>
              <a:t>Poster: T-P05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steps 2–4. Foggy words: understand, know, learn about, appreciate. Groups fix six foggy</a:t>
            </a:r>
          </a:p>
          <a:p>
            <a:r>
              <a:t>cards; then pairs fix their own Round 2 outcome. Ten minutes = one small outcome.</a:t>
            </a:r>
          </a:p>
          <a:p/>
          <a:p>
            <a:r>
              <a:t>Poster: T-P05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 5. Ask each, wait after each. Which got the best thinking?</a:t>
            </a:r>
          </a:p>
          <a:p/>
          <a:p>
            <a:r>
              <a:t>Poster: T-P08</a:t>
            </a:r>
          </a:p>
          <a:p>
            <a:r>
              <a:t>Clip T-ANI-17: public/course-media/teach-the-teachers/T-ANI-17.mp4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steps 6–7. Not "Any questions?" but "What questions do you have?" Pairs write a ladder</a:t>
            </a:r>
          </a:p>
          <a:p>
            <a:r>
              <a:t>for a Course 1 poster.</a:t>
            </a:r>
          </a:p>
          <a:p/>
          <a:p>
            <a:r>
              <a:t>Poster: T-P08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 8. Four farmer questions; then give the short content answers from the day file.</a:t>
            </a:r>
          </a:p>
          <a:p>
            <a:r>
              <a:t>Take home: three ladder questions into the Round 2 plan.</a:t>
            </a:r>
          </a:p>
          <a:p/>
          <a:p>
            <a:r>
              <a:t>Poster: T-P08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Ladder tally card to each Recorder. Walk out; F-P05 on the trunk; sun behind learners.</a:t>
            </a:r>
          </a:p>
          <a:p/>
          <a:p>
            <a:r>
              <a:t>Poster: F-P05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steps 2–3. Cardboard house per group, torch or real sun. Stick shadow points south at noon.</a:t>
            </a:r>
          </a:p>
          <a:p/>
          <a:p>
            <a:r>
              <a:t>Poster: F-P05</a:t>
            </a:r>
          </a:p>
          <a:p>
            <a:r>
              <a:t>Also: T-ANI-13</a:t>
            </a:r>
          </a:p>
          <a:p>
            <a:r>
              <a:t>Clip T-ANI-13: public/course-media/teach-the-teachers/T-ANI-13.mp4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steps 4–6. Debrief on F-P07; roof sum on F-P08 (60 m² × 10 mm = 600 ℓ, about 500 caught).</a:t>
            </a:r>
          </a:p>
          <a:p>
            <a:r>
              <a:t>Clip T-ANI-15 for the roof.</a:t>
            </a:r>
          </a:p>
          <a:p/>
          <a:p>
            <a:r>
              <a:t>Poster: F-P07</a:t>
            </a:r>
          </a:p>
          <a:p>
            <a:r>
              <a:t>Clip T-ANI-14: public/course-media/teach-the-teachers/T-ANI-14.mp4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steps 7–10. Ladder counts; tree-talk rules; improvised-aids brainstorm (8 free things per</a:t>
            </a:r>
          </a:p>
          <a:p>
            <a:r>
              <a:t>group); roof-sum practice. 1 mm on 1 m² = 1 litre.</a:t>
            </a:r>
          </a:p>
          <a:p/>
          <a:p>
            <a:r>
              <a:t>Poster: T-P12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T-D2-S3. Energiser by a trainee first.</a:t>
            </a:r>
          </a:p>
          <a:p/>
          <a:p>
            <a:r>
              <a:t>Poster: T-P13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T-D2-S3 steps 2–3. Co-trainer teaches F-P06 badly (90 s) then well (90 s). Stand to the side;</a:t>
            </a:r>
          </a:p>
          <a:p>
            <a:r>
              <a:t>notes on the A5 card or phone.</a:t>
            </a:r>
          </a:p>
          <a:p/>
          <a:p>
            <a:r>
              <a:t>Poster: T-P13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T-D2-S3 steps 4–6. Language-time demo with the roof sum; six scenario cards; then studio: improve</a:t>
            </a:r>
          </a:p>
          <a:p>
            <a:r>
              <a:t>the poster and write a 5-prompt Teach it card.</a:t>
            </a:r>
          </a:p>
          <a:p/>
          <a:p>
            <a:r>
              <a:t>Poster: T-P17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T-D2-S4 steps 1–4. Reverse order. Talk % = marks ÷ 10 × 100. Trainers observe two full teaches each.</a:t>
            </a:r>
          </a:p>
          <a:p/>
          <a:p>
            <a:r>
              <a:t>Poster: T-P04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T-D2-S4 steps 5–7. No comments on others' numbers. Add tips to "Our teaching tips". Tick Poster.</a:t>
            </a:r>
          </a:p>
          <a:p/>
          <a:p>
            <a:r>
              <a:t>Poster: T-P04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T-D2-SC. Eight "OK or not?" cards. Pairs made inside groups; pool B cards for Round 3 (15 min, with</a:t>
            </a:r>
          </a:p>
          <a:p>
            <a:r>
              <a:t>a practical).</a:t>
            </a:r>
          </a:p>
          <a:p/>
          <a:p>
            <a:r>
              <a:t>Poster: T-P17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3A33"/>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F2EFE6"/>
                </a:solidFill>
                <a:latin typeface="Trebuchet MS"/>
              </a:rPr>
              <a:t>T-D2-01   ·   Poster T-P01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F2EFE6"/>
                </a:solidFill>
                <a:latin typeface="Trebuchet MS"/>
              </a:rPr>
              <a:t>Teach the Teachers</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F2EFE6"/>
                </a:solidFill>
                <a:latin typeface="Segoe Print"/>
              </a:rPr>
              <a:t>Usuku 2</a:t>
            </a:r>
          </a:p>
        </p:txBody>
      </p:sp>
      <p:sp>
        <p:nvSpPr>
          <p:cNvPr id="5" name="Rectangle 4"/>
          <p:cNvSpPr/>
          <p:nvPr/>
        </p:nvSpPr>
        <p:spPr>
          <a:xfrm>
            <a:off x="822960" y="3246120"/>
            <a:ext cx="1463040" cy="73152"/>
          </a:xfrm>
          <a:prstGeom prst="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F2EFE6"/>
                </a:solidFill>
                <a:latin typeface="Trebuchet MS"/>
              </a:rPr>
              <a:t>Khuluma kancane, buza kakhulu</a:t>
            </a:r>
          </a:p>
          <a:p>
            <a:pPr algn="l">
              <a:spcAft>
                <a:spcPts val="800"/>
              </a:spcAft>
            </a:pPr>
            <a:r>
              <a:rPr sz="2400" b="0">
                <a:solidFill>
                  <a:srgbClr val="F2EFE6"/>
                </a:solidFill>
                <a:latin typeface="Trebuchet MS"/>
              </a:rPr>
              <a:t>Usuku 2 kwezi-5</a:t>
            </a:r>
          </a:p>
        </p:txBody>
      </p:sp>
      <p:sp>
        <p:nvSpPr>
          <p:cNvPr id="7" name="Rectangle 6"/>
          <p:cNvSpPr/>
          <p:nvPr/>
        </p:nvSpPr>
        <p:spPr>
          <a:xfrm>
            <a:off x="7498079" y="914400"/>
            <a:ext cx="4206240" cy="47548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T-IMG-08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Tree talk</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teaching circle under a big shade tree: a poster tied to the trunk at seated eye level; about twelve learners in a horseshoe on chairs and a log, faces in shade, the sun behind them in the upper part of the scene (north). The facilitator stands to one side of the poster. On the ground in the middle: two cut-open 2 ℓ bottles and a cardboard house.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T-D2-02   ·   Poster T-P11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Nilale nicabanga ngani?</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Into eyodwa oyikhumbulayo</a:t>
            </a:r>
          </a:p>
          <a:p>
            <a:pPr algn="l">
              <a:spcAft>
                <a:spcPts val="1600"/>
              </a:spcAft>
            </a:pPr>
            <a:r>
              <a:rPr sz="2800" b="0">
                <a:solidFill>
                  <a:srgbClr val="1C1C1C"/>
                </a:solidFill>
                <a:latin typeface="Trebuchet MS"/>
              </a:rPr>
              <a:t>•  Umbuzo owodwa ovuke nawo</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T-IMG-01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 learning circle under a tree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Twenty adults sit in a wide circle on plastic chairs and a wooden bench under a big shade tree beside a rural community hall. Mixed ages: young graduates in trainers and T-shirts, two extension officers in work shirts, gogos in headscarves, an older lead farmer in a hat. One young woman stands, mid-sentence, hands open; others lean in, some laughing.…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T-D2-03   ·   Poster T-P05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Yimuphi umphumela ongawubona?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C1C1C"/>
                </a:solidFill>
                <a:latin typeface="Trebuchet MS"/>
              </a:rPr>
              <a:t>•  A: ukuqonda i-compost</a:t>
            </a:r>
          </a:p>
          <a:p>
            <a:pPr algn="l">
              <a:spcAft>
                <a:spcPts val="1600"/>
              </a:spcAft>
            </a:pPr>
            <a:r>
              <a:rPr sz="2400" b="0">
                <a:solidFill>
                  <a:srgbClr val="1C1C1C"/>
                </a:solidFill>
                <a:latin typeface="Trebuchet MS"/>
              </a:rPr>
              <a:t>•  B: ukwakha inqwaba ye-compost engu-1 m enezingqimba</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T-P05-ART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T-P05 · Outcomes start with a doing word</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young farmer stands proudly beside a finished, neatly layered compost heap about waist high, pointing to its layers. A facilitator beside her holds a clipboard and draws a tick shape. In the background, a clock shape on a wall shows the hands near twelve (midday). Three big ochre callout circles sit on: the farmer's pointing hand (①), the heap (②), 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T-D2-04   ·   Poster T-P05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Qala ngesenzo</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C1C1C"/>
                </a:solidFill>
                <a:latin typeface="Trebuchet MS"/>
              </a:rPr>
              <a:t>•  Isenzo · Kuyini · Kahle kangakanani</a:t>
            </a:r>
          </a:p>
          <a:p>
            <a:pPr algn="l">
              <a:spcAft>
                <a:spcPts val="1600"/>
              </a:spcAft>
            </a:pPr>
            <a:r>
              <a:rPr sz="2400" b="0">
                <a:solidFill>
                  <a:srgbClr val="1C1C1C"/>
                </a:solidFill>
                <a:latin typeface="Trebuchet MS"/>
              </a:rPr>
              <a:t>•  Yenza, bonisa, thola, linganisa, chaza</a:t>
            </a:r>
          </a:p>
          <a:p>
            <a:pPr algn="l">
              <a:spcAft>
                <a:spcPts val="1600"/>
              </a:spcAft>
            </a:pPr>
            <a:r>
              <a:rPr sz="2400" b="0">
                <a:solidFill>
                  <a:srgbClr val="1C1C1C"/>
                </a:solidFill>
                <a:latin typeface="Trebuchet MS"/>
              </a:rPr>
              <a:t>•  Ungakubona ngaphambi kwasemini?</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T-P05-ART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T-P05 · Outcomes start with a doing word</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young farmer stands proudly beside a finished, neatly layered compost heap about waist high, pointing to its layers. A facilitator beside her holds a clipboard and draws a tick shape. In the background, a clock shape on a wall shows the hands near twelve (midday). Three big ochre callout circles sit on: the farmer's pointing hand (①), the heap (②), 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T-D2-05   ·   Poster T-P08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Imibuzo emithathu</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Ingabe inhlabathi iyaphila?</a:t>
            </a:r>
          </a:p>
          <a:p>
            <a:pPr algn="l">
              <a:spcAft>
                <a:spcPts val="1600"/>
              </a:spcAft>
            </a:pPr>
            <a:r>
              <a:rPr sz="2800" b="0">
                <a:solidFill>
                  <a:srgbClr val="1C1C1C"/>
                </a:solidFill>
                <a:latin typeface="Trebuchet MS"/>
              </a:rPr>
              <a:t>•  Yini ephila enhlabathini?</a:t>
            </a:r>
          </a:p>
          <a:p>
            <a:pPr algn="l">
              <a:spcAft>
                <a:spcPts val="1600"/>
              </a:spcAft>
            </a:pPr>
            <a:r>
              <a:rPr sz="2800" b="0">
                <a:solidFill>
                  <a:srgbClr val="1C1C1C"/>
                </a:solidFill>
                <a:latin typeface="Trebuchet MS"/>
              </a:rPr>
              <a:t>•  Ungathola kanjani?</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ANIMATION · T-ANI-17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Living soil</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Cut-away of dark garden soil under mulch, magnified: earthworms tunnel, fungus threads link roots, tiny specks of life move, crumbs hold air and water droplets; a fallen leaf above is slowly broken down and pulled into the soil. (Replaces the withdrawn clip `soil-health/watch-05-living-soil.mp4`.)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T-D2-06   ·   Poster T-P08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Khwela isitebhisi semibuzo</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Ovaliwe · Ovulekile · Ojulile</a:t>
            </a:r>
          </a:p>
          <a:p>
            <a:pPr algn="l">
              <a:spcAft>
                <a:spcPts val="1600"/>
              </a:spcAft>
            </a:pPr>
            <a:r>
              <a:rPr sz="2800" b="0">
                <a:solidFill>
                  <a:srgbClr val="1C1C1C"/>
                </a:solidFill>
                <a:latin typeface="Trebuchet MS"/>
              </a:rPr>
              <a:t>•  Linda imizuzwana 5</a:t>
            </a:r>
          </a:p>
          <a:p>
            <a:pPr algn="l">
              <a:spcAft>
                <a:spcPts val="1600"/>
              </a:spcAft>
            </a:pPr>
            <a:r>
              <a:rPr sz="2800" b="0">
                <a:solidFill>
                  <a:srgbClr val="1C1C1C"/>
                </a:solidFill>
                <a:latin typeface="Trebuchet MS"/>
              </a:rPr>
              <a:t>•  Wubuyisele eqenjini</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T-P08-ART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T-P08 · The question ladder</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tall wooden ladder with three rungs leans against a tree. On the bottom rung, a small figure beside one short speech-bubble shape (empty). On the middle rung, two figures with several branching bubble shapes. On the top rung, a figure looks out over a whole garden, hand on chin, with a bubble shaped like a sprouting seed. At the ladder's foot: an open…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T-D2-07   ·   Poster T-P08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Lindani futhi nibuyisele</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C1C1C"/>
                </a:solidFill>
                <a:latin typeface="Trebuchet MS"/>
              </a:rPr>
              <a:t>•  Balani iminwe emihlanu buthule</a:t>
            </a:r>
          </a:p>
          <a:p>
            <a:pPr algn="l">
              <a:spcAft>
                <a:spcPts val="1600"/>
              </a:spcAft>
            </a:pPr>
            <a:r>
              <a:rPr sz="2600" b="1">
                <a:solidFill>
                  <a:srgbClr val="1C1C1C"/>
                </a:solidFill>
                <a:latin typeface="Trebuchet MS"/>
              </a:rPr>
              <a:t>•  Ningaphenduli — wubuyiseleni eqenjini</a:t>
            </a:r>
          </a:p>
          <a:p>
            <a:pPr algn="l">
              <a:spcAft>
                <a:spcPts val="1600"/>
              </a:spcAft>
            </a:pPr>
            <a:r>
              <a:rPr sz="2600" b="1">
                <a:solidFill>
                  <a:srgbClr val="1C1C1C"/>
                </a:solidFill>
                <a:latin typeface="Trebuchet MS"/>
              </a:rPr>
              <a:t>•  Imizuzu 12</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T-P08-ART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T-P08 · The question ladder</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tall wooden ladder with three rungs leans against a tree. On the bottom rung, a small figure beside one short speech-bubble shape (empty). On the middle rung, two figures with several branching bubble shapes. On the top rung, a figure looks out over a whole garden, hand on chin, with a bubble shaped like a sprouting seed. At the ladder's foot: an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F3A33"/>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F2EFE6"/>
                </a:solidFill>
                <a:latin typeface="Trebuchet MS"/>
              </a:rPr>
              <a:t>T-D2-08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F2EFE6"/>
                </a:solidFill>
                <a:latin typeface="Trebuchet MS"/>
              </a:rPr>
              <a:t>Teach the Teachers</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F2EFE6"/>
                </a:solidFill>
                <a:latin typeface="Segoe Print"/>
              </a:rPr>
              <a:t>Isifundo esiyisibonelo ngaphansi kwesihlahla</a:t>
            </a:r>
          </a:p>
        </p:txBody>
      </p:sp>
      <p:sp>
        <p:nvSpPr>
          <p:cNvPr id="5" name="Rectangle 4"/>
          <p:cNvSpPr/>
          <p:nvPr/>
        </p:nvSpPr>
        <p:spPr>
          <a:xfrm>
            <a:off x="822960" y="3246120"/>
            <a:ext cx="1463040" cy="73152"/>
          </a:xfrm>
          <a:prstGeom prst="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F2EFE6"/>
                </a:solidFill>
                <a:latin typeface="Trebuchet MS"/>
              </a:rPr>
              <a:t>Funda umhlaba namanzi</a:t>
            </a:r>
          </a:p>
          <a:p>
            <a:pPr algn="l">
              <a:spcAft>
                <a:spcPts val="800"/>
              </a:spcAft>
            </a:pPr>
            <a:r>
              <a:rPr sz="2400" b="0">
                <a:solidFill>
                  <a:srgbClr val="F2EFE6"/>
                </a:solidFill>
                <a:latin typeface="Trebuchet MS"/>
              </a:rPr>
              <a:t>Ababhali: balani izinhlobo zemibuzo</a:t>
            </a:r>
          </a:p>
        </p:txBody>
      </p:sp>
      <p:sp>
        <p:nvSpPr>
          <p:cNvPr id="7" name="Rectangle 6"/>
          <p:cNvSpPr/>
          <p:nvPr/>
        </p:nvSpPr>
        <p:spPr>
          <a:xfrm>
            <a:off x="7498079" y="914400"/>
            <a:ext cx="4206240" cy="47548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T-IMG-08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Tree talk</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teaching circle under a big shade tree: a poster tied to the trunk at seated eye level; about twelve learners in a horseshoe on chairs and a log, faces in shade, the sun behind them in the upper part of the scene (north). The facilitator stands to one side of the poster. On the ground in the middle: two cut-open 2 ℓ bottles and a cardboard house. 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T-D2-09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Ilanga likuphi?</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C1C1C"/>
                </a:solidFill>
                <a:latin typeface="Trebuchet MS"/>
              </a:rPr>
              <a:t>•  Iwindi libheke enyakatho</a:t>
            </a:r>
          </a:p>
          <a:p>
            <a:pPr algn="l">
              <a:spcAft>
                <a:spcPts val="1600"/>
              </a:spcAft>
            </a:pPr>
            <a:r>
              <a:rPr sz="2600" b="1">
                <a:solidFill>
                  <a:srgbClr val="1C1C1C"/>
                </a:solidFill>
                <a:latin typeface="Trebuchet MS"/>
              </a:rPr>
              <a:t>•  Makani umthunzi wasebusika ngezinduku</a:t>
            </a:r>
          </a:p>
          <a:p>
            <a:pPr algn="l">
              <a:spcAft>
                <a:spcPts val="1600"/>
              </a:spcAft>
            </a:pPr>
            <a:r>
              <a:rPr sz="2600" b="1">
                <a:solidFill>
                  <a:srgbClr val="1C1C1C"/>
                </a:solidFill>
                <a:latin typeface="Trebuchet MS"/>
              </a:rPr>
              <a:t>•  Isithunzi sikhomba ngaphi?</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T-IMG-07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The cardboard house and the sun</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Close view on bare ground: a shoebox house with a card triangle roof and small windows on each side, sitting on a patch of soil. A compass arrow drawn on the ground points up-screen (north). Sunlight comes from the north (upper part), low (winter), casting a long shadow of the house down-screen (south). Small sticks mark the edge of the shadow. Two hands…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T-D2-10   ·   Poster F-P07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Amanzi aya kuphi?</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C1C1C"/>
                </a:solidFill>
                <a:latin typeface="Trebuchet MS"/>
              </a:rPr>
              <a:t>•  Thelani 500 ml ebhodleleni ngalinye</a:t>
            </a:r>
          </a:p>
          <a:p>
            <a:pPr algn="l">
              <a:spcAft>
                <a:spcPts val="1600"/>
              </a:spcAft>
            </a:pPr>
            <a:r>
              <a:rPr sz="2600" b="1">
                <a:solidFill>
                  <a:srgbClr val="1C1C1C"/>
                </a:solidFill>
                <a:latin typeface="Trebuchet MS"/>
              </a:rPr>
              <a:t>•  Bambani nilinganise amanzi agelezayo</a:t>
            </a:r>
          </a:p>
          <a:p>
            <a:pPr algn="l">
              <a:spcAft>
                <a:spcPts val="1600"/>
              </a:spcAft>
            </a:pPr>
            <a:r>
              <a:rPr sz="2600" b="1">
                <a:solidFill>
                  <a:srgbClr val="1C1C1C"/>
                </a:solidFill>
                <a:latin typeface="Trebuchet MS"/>
              </a:rPr>
              <a:t>•  Tholani izimpawu ezintathu zamanzi</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ANIMATION · T-ANI-14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Water movement</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homestead on a gentle slope in a summer storm: rain falls on roof, road and yard; blue flow lines gather into channels and run downhill carrying soil. Then the same slope with stone lines and grass strips, where the water spreads and sinks in. (Replaces the withdrawn clip `reading-landscape/watch-05-water-movement.mp4`.)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T-D2-11   ·   Poster T-P12</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Ukufundisa ngaphansi kwesihlahla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Ilanga ngemuva kwabafundi</a:t>
            </a:r>
          </a:p>
          <a:p>
            <a:pPr algn="l">
              <a:spcAft>
                <a:spcPts val="1600"/>
              </a:spcAft>
            </a:pPr>
            <a:r>
              <a:rPr sz="2800" b="0">
                <a:solidFill>
                  <a:srgbClr val="1C1C1C"/>
                </a:solidFill>
                <a:latin typeface="Trebuchet MS"/>
              </a:rPr>
              <a:t>•  Iphosta ezingeni lamehlo</a:t>
            </a:r>
          </a:p>
          <a:p>
            <a:pPr algn="l">
              <a:spcAft>
                <a:spcPts val="1600"/>
              </a:spcAft>
            </a:pPr>
            <a:r>
              <a:rPr sz="2800" b="0">
                <a:solidFill>
                  <a:srgbClr val="1C1C1C"/>
                </a:solidFill>
                <a:latin typeface="Trebuchet MS"/>
              </a:rPr>
              <a:t>•  Yima, bese ukhuluma</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T-P12-ART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T-P12 · Teach with what you have (tree talk)</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teaching circle under a large shade tree. A poster is tied to the trunk at the eye level of seated people. Learners sit in a horseshoe facing the trunk, the sun shape behind them in the upper part of the scene (north, marked by a small compass arrow pointing up), so their faces are in shade. The facilitator stands to one side of the poster, wind 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F3A33"/>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F2EFE6"/>
                </a:solidFill>
                <a:latin typeface="Trebuchet MS"/>
              </a:rPr>
              <a:t>T-D2-12   ·   Poster T-P13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F2EFE6"/>
                </a:solidFill>
                <a:latin typeface="Trebuchet MS"/>
              </a:rPr>
              <a:t>Teach the Teachers</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F2EFE6"/>
                </a:solidFill>
                <a:latin typeface="Segoe Print"/>
              </a:rPr>
              <a:t>Indlela 1: amaphosta kuphela</a:t>
            </a:r>
          </a:p>
        </p:txBody>
      </p:sp>
      <p:sp>
        <p:nvSpPr>
          <p:cNvPr id="5" name="Rectangle 4"/>
          <p:cNvSpPr/>
          <p:nvPr/>
        </p:nvSpPr>
        <p:spPr>
          <a:xfrm>
            <a:off x="822960" y="3246120"/>
            <a:ext cx="1463040" cy="73152"/>
          </a:xfrm>
          <a:prstGeom prst="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F2EFE6"/>
                </a:solidFill>
                <a:latin typeface="Trebuchet MS"/>
              </a:rPr>
              <a:t>Isifundo esisodwa, izindlela ezintathu</a:t>
            </a:r>
          </a:p>
          <a:p>
            <a:pPr algn="l">
              <a:spcAft>
                <a:spcPts val="800"/>
              </a:spcAft>
            </a:pPr>
            <a:r>
              <a:rPr sz="2400" b="0">
                <a:solidFill>
                  <a:srgbClr val="F2EFE6"/>
                </a:solidFill>
                <a:latin typeface="Trebuchet MS"/>
              </a:rPr>
              <a:t>Namuhla: iphosta</a:t>
            </a:r>
          </a:p>
        </p:txBody>
      </p:sp>
      <p:sp>
        <p:nvSpPr>
          <p:cNvPr id="7" name="Rectangle 6"/>
          <p:cNvSpPr/>
          <p:nvPr/>
        </p:nvSpPr>
        <p:spPr>
          <a:xfrm>
            <a:off x="7498079" y="914400"/>
            <a:ext cx="4206240" cy="47548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T-P13-ART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T-P13 · One lesson, three ways</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Three tall columns. Left: a poster on a fence with a group of five standing, one pointing. Middle, top: a laptop connected to a TV on a table in a shaded room with seated learners; middle, bottom: a group of five crowded around a tablet held by one of them. Right: a group of five watching a phone; beneath it, a hand signing on a phone screen with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T-D2-13   ·   Poster T-P13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Fundisa ngephosta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Mboza bese uyambula</a:t>
            </a:r>
          </a:p>
          <a:p>
            <a:pPr algn="l">
              <a:spcAft>
                <a:spcPts val="1600"/>
              </a:spcAft>
            </a:pPr>
            <a:r>
              <a:rPr sz="2800" b="0">
                <a:solidFill>
                  <a:srgbClr val="1C1C1C"/>
                </a:solidFill>
                <a:latin typeface="Trebuchet MS"/>
              </a:rPr>
              <a:t>•  Khomba bese ubuza</a:t>
            </a:r>
          </a:p>
          <a:p>
            <a:pPr algn="l">
              <a:spcAft>
                <a:spcPts val="1600"/>
              </a:spcAft>
            </a:pPr>
            <a:r>
              <a:rPr sz="2800" b="0">
                <a:solidFill>
                  <a:srgbClr val="1C1C1C"/>
                </a:solidFill>
                <a:latin typeface="Trebuchet MS"/>
              </a:rPr>
              <a:t>•  Abafundi beza ephosteni</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T-IMG-02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Notes on the phone, poster on the fence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young female facilitator stands beside (not in front of) a poster tied to a wire fence with cable ties. She holds a phone low in one hand, glancing at it, and points with an open hand at a numbered circle on the poster. Five learners stand in a horseshoe facing the poster, one stepping forward to touch it. Garden beds behind. Poster content drawn 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T-D2-14   ·   Poster T-P17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Wonke umuntu uyafunda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C1C1C"/>
                </a:solidFill>
                <a:latin typeface="Trebuchet MS"/>
              </a:rPr>
              <a:t>•  Isikhathi solimi: bayaphinda bayixoxe</a:t>
            </a:r>
          </a:p>
          <a:p>
            <a:pPr algn="l">
              <a:spcAft>
                <a:spcPts val="1600"/>
              </a:spcAft>
            </a:pPr>
            <a:r>
              <a:rPr sz="2400" b="0">
                <a:solidFill>
                  <a:srgbClr val="1C1C1C"/>
                </a:solidFill>
                <a:latin typeface="Trebuchet MS"/>
              </a:rPr>
              <a:t>•  Umsebenzi womuntu wonke</a:t>
            </a:r>
          </a:p>
          <a:p>
            <a:pPr algn="l">
              <a:spcAft>
                <a:spcPts val="1600"/>
              </a:spcAft>
            </a:pPr>
            <a:r>
              <a:rPr sz="2400" b="0">
                <a:solidFill>
                  <a:srgbClr val="1C1C1C"/>
                </a:solidFill>
                <a:latin typeface="Trebuchet MS"/>
              </a:rPr>
              <a:t>•  Imisebenzi yokuhlala phansi, amalebula ezithombe</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T-P17-ART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T-P17 · Everyone learns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mixed group of five at a raised table outside, mixing seedling soil: a gogo seated, showing seeds in her palm to others; a young man in a wheelchair at the table's end mixing soil with both hands; a young mother with a baby tied on her back; an older man seated close to the facilitator, watching her face as she speaks; two young women talking side by…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T-D2-15   ·   Poster T-P04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SEBENZANI</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Ukufundisa okuncane: Round 2</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C1C1C"/>
                </a:solidFill>
                <a:latin typeface="Trebuchet MS"/>
              </a:rPr>
              <a:t>•  Imizuzu 10, uwedwa, amaphosta kuphela</a:t>
            </a:r>
          </a:p>
          <a:p>
            <a:pPr algn="l">
              <a:spcAft>
                <a:spcPts val="1600"/>
              </a:spcAft>
            </a:pPr>
            <a:r>
              <a:rPr sz="2600" b="1">
                <a:solidFill>
                  <a:srgbClr val="1C1C1C"/>
                </a:solidFill>
                <a:latin typeface="Trebuchet MS"/>
              </a:rPr>
              <a:t>•  Umbukeli ubala ukukhuluma nemibuzo</a:t>
            </a:r>
          </a:p>
          <a:p>
            <a:pPr algn="l">
              <a:spcAft>
                <a:spcPts val="1600"/>
              </a:spcAft>
            </a:pPr>
            <a:r>
              <a:rPr sz="2600" b="1">
                <a:solidFill>
                  <a:srgbClr val="1C1C1C"/>
                </a:solidFill>
                <a:latin typeface="Trebuchet MS"/>
              </a:rPr>
              <a:t>•  Imizuzu 6 yempendulo</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T-IMG-05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 micro-teach in a small circle</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Five adults in a small circle of chairs in the corner of a hall. One young man (teaching) holds up a cut-open 2 ℓ bottle of soil while three peers lean forward, one pouring water. A fourth person, an older woman, sits slightly back with a clipboard, making tally marks (simple strokes). A second person holds up a small red card (the STOP card, no text). 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T-D2-16   ·   Poster T-P04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Ibhodi lokukhuluma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C1C1C"/>
                </a:solidFill>
                <a:latin typeface="Trebuchet MS"/>
              </a:rPr>
              <a:t>•  Bhala i-% yakho yokukhuluma</a:t>
            </a:r>
          </a:p>
          <a:p>
            <a:pPr algn="l">
              <a:spcAft>
                <a:spcPts val="1600"/>
              </a:spcAft>
            </a:pPr>
            <a:r>
              <a:rPr sz="2400" b="0">
                <a:solidFill>
                  <a:srgbClr val="1C1C1C"/>
                </a:solidFill>
                <a:latin typeface="Trebuchet MS"/>
              </a:rPr>
              <a:t>•  Yini ekusizile ukuthi ukhulume kancane?</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T-P04-ART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T-P04 · The teacher-talk meter</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Top half: a big half-circle gauge, like a fuel gauge, split into ten equal wedges — three Ochre wedges on the left, seven Leaf-green wedges on the right (the Leaf wedges also carry small dot pattern so it works in black and white). A thick Ink needle points into the third Ochre wedge. Bottom half: a facilitator stands to one side with an open hand…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T-D2-17   ·   Poster T-P17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Ubuciko besifundo: i-POPIA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C1C1C"/>
                </a:solidFill>
                <a:latin typeface="Trebuchet MS"/>
              </a:rPr>
              <a:t>•  Imvume ngaphambi kwekhamera</a:t>
            </a:r>
          </a:p>
          <a:p>
            <a:pPr algn="l">
              <a:spcAft>
                <a:spcPts val="1600"/>
              </a:spcAft>
            </a:pPr>
            <a:r>
              <a:rPr sz="2400" b="0">
                <a:solidFill>
                  <a:srgbClr val="1C1C1C"/>
                </a:solidFill>
                <a:latin typeface="Trebuchet MS"/>
              </a:rPr>
              <a:t>•  Ichashaza eliluhlaza = azikho izithombe</a:t>
            </a:r>
          </a:p>
          <a:p>
            <a:pPr algn="l">
              <a:spcAft>
                <a:spcPts val="1600"/>
              </a:spcAft>
            </a:pPr>
            <a:r>
              <a:rPr sz="2400" b="0">
                <a:solidFill>
                  <a:srgbClr val="1C1C1C"/>
                </a:solidFill>
                <a:latin typeface="Trebuchet MS"/>
              </a:rPr>
              <a:t>•  Yabelana ngalokho okuvunyelwene ngakho kuphela</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T-IMG-15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The register at the door</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small table at a hall doorway in the morning light. A young man signs a register on a clipboard (grid lines, no letters) while an older woman presses her thumb onto an ink pad to mark her name. A facilitator beside them holds name tags; a small sheet of green dot stickers sits on the table. A queue of three learners waits, chatting.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