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T-D2-S0. A trainee runs the register. Energiser by a volunteer. "You said, we did" — answer</a:t>
            </a:r>
          </a:p>
          <a:p>
            <a:r>
              <a:t>yesterday's wishes in two sentences.</a:t>
            </a:r>
          </a:p>
          <a:p/>
          <a:p>
            <a:r>
              <a:t>Poster: T-P01</a:t>
            </a:r>
          </a:p>
          <a:p>
            <a:r>
              <a:t>Picture T-IMG-08 (coming) — Tree talk: A teaching circle under a big shade tree: a poster tied to the trunk at seated eye level; about twelve learners in a horseshoe on chairs and a log, faces in shade, the sun behind them in the upper part of the scene (north). The facilitator stands to one side of the poster. On the ground in the middle: two cut-open 2 ℓ bottles and a cardboard house. A dirt road in the far background.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T-D2-S0 steps 4–6. Questions to the Question Tree. Roles rotate; say today's promise.</a:t>
            </a:r>
          </a:p>
          <a:p/>
          <a:p>
            <a:r>
              <a:t>Poster: T-P11</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1. Ask: at 12:30, how would you know? Only B can be seen.</a:t>
            </a:r>
          </a:p>
          <a:p/>
          <a:p>
            <a:r>
              <a:t>Poster: T-P05</a:t>
            </a:r>
          </a:p>
          <a:p>
            <a:r>
              <a:t>Picture T-P05-ART (coming) — Artwork for T-P05 · Outcomes start with a doing word: A young farmer stands proudly beside a finished, neatly layered compost heap about waist high, pointing to its layers. A facilitator beside her holds a clipboard and draws a tick shape. In the background, a clock shape on a wall shows the hands near twelve (midday). Three big ochre callout circles sit on: the farmer's pointing hand (①), the heap (②), and the heap's visible layers (③).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steps 2–4. Foggy words: understand, know, learn about, appreciate. Groups fix six foggy</a:t>
            </a:r>
          </a:p>
          <a:p>
            <a:r>
              <a:t>cards; then pairs fix their own Round 2 outcome. Ten minutes = one small outcome.</a:t>
            </a:r>
          </a:p>
          <a:p/>
          <a:p>
            <a:r>
              <a:t>Poster: T-P05</a:t>
            </a:r>
          </a:p>
          <a:p>
            <a:r>
              <a:t>Picture T-P05-ART (coming) — Artwork for T-P05 · Outcomes start with a doing word: A young farmer stands proudly beside a finished, neatly layered compost heap about waist high, pointing to its layers. A facilitator beside her holds a clipboard and draws a tick shape. In the background, a clock shape on a wall shows the hands near twelve (midday). Three big ochre callout circles sit on: the farmer's pointing hand (①), the heap (②), and the heap's visible layers (③).</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5. Ask each, wait after each. Which got the best thinking?</a:t>
            </a:r>
          </a:p>
          <a:p/>
          <a:p>
            <a:r>
              <a:t>Poster: T-P08</a:t>
            </a:r>
          </a:p>
          <a:p>
            <a:r>
              <a:t>Clip T-ANI-17: public/course-media/teach-the-teachers/T-ANI-17.mp4</a:t>
            </a:r>
          </a:p>
          <a:p>
            <a:r>
              <a:t>Picture T-ANI-17 (coming) — Living soil: Cut-away of dark garden soil under mulch, magnified: earthworms tunnel, fungus threads link roots, tiny specks of life move, crumbs hold air and water droplets; a fallen leaf above is slowly broken down and pulled into the soil. (Replaces the withdrawn clip `soil-health/watch-05-living-soil.mp4`.)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steps 6–7. Not "Any questions?" but "What questions do you have?" Pairs write a ladder</a:t>
            </a:r>
          </a:p>
          <a:p>
            <a:r>
              <a:t>for a Course 1 poster.</a:t>
            </a:r>
          </a:p>
          <a:p/>
          <a:p>
            <a:r>
              <a:t>Poster: T-P08</a:t>
            </a:r>
          </a:p>
          <a:p>
            <a:r>
              <a:t>Picture T-P08-ART (coming) — Artwork for T-P08 · The question ladder: A tall wooden ladder with three rungs leans against a tree. On the bottom rung, a small figure beside one short speech-bubble shape (empty). On the middle rung, two figures with several branching bubble shapes. On the top rung, a figure looks out over a whole garden, hand on chin, with a bubble shaped like a sprouting seed. At the ladder's foot: an open hand with five fingers spread (wait), and a group of three passing a ball between them (bounce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8. Four farmer questions; then give the short content answers from the day file.</a:t>
            </a:r>
          </a:p>
          <a:p>
            <a:r>
              <a:t>Take home: three ladder questions into the Round 2 plan.</a:t>
            </a:r>
          </a:p>
          <a:p/>
          <a:p>
            <a:r>
              <a:t>Poster: T-P08</a:t>
            </a:r>
          </a:p>
          <a:p>
            <a:r>
              <a:t>Picture T-P08-ART (coming) — Artwork for T-P08 · The question ladder: A tall wooden ladder with three rungs leans against a tree. On the bottom rung, a small figure beside one short speech-bubble shape (empty). On the middle rung, two figures with several branching bubble shapes. On the top rung, a figure looks out over a whole garden, hand on chin, with a bubble shaped like a sprouting seed. At the ladder's foot: an open hand with five fingers spread (wait), and a group of three passing a ball between them (bounce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Ladder tally card to each Recorder. Walk out; F-P05 on the trunk; sun behind learners.</a:t>
            </a:r>
          </a:p>
          <a:p/>
          <a:p>
            <a:r>
              <a:t>Poster: F-P05</a:t>
            </a:r>
          </a:p>
          <a:p>
            <a:r>
              <a:t>Picture T-IMG-08 (coming) — Tree talk: A teaching circle under a big shade tree: a poster tied to the trunk at seated eye level; about twelve learners in a horseshoe on chairs and a log, faces in shade, the sun behind them in the upper part of the scene (north). The facilitator stands to one side of the poster. On the ground in the middle: two cut-open 2 ℓ bottles and a cardboard house. A dirt road in the far background.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2–3. Cardboard house per group, torch or real sun. Stick shadow points south at noon.</a:t>
            </a:r>
          </a:p>
          <a:p/>
          <a:p>
            <a:r>
              <a:t>Poster: F-P05</a:t>
            </a:r>
          </a:p>
          <a:p>
            <a:r>
              <a:t>Also: T-ANI-13</a:t>
            </a:r>
          </a:p>
          <a:p>
            <a:r>
              <a:t>Picture T-IMG-07 (coming) — The cardboard house and the sun: Close view on bare ground: a shoebox house with a card triangle roof and small windows on each side, sitting on a patch of soil. A compass arrow drawn on the ground points up-screen (north). Sunlight comes from the north (upper part), low (winter), casting a long shadow of the house down-screen (south). Small sticks mark the edge of the shadow. Two hands hold a torch low from the north side, and another hand pushes a stick into the ground.</a:t>
            </a:r>
          </a:p>
          <a:p>
            <a:r>
              <a:t>Clip T-ANI-13: public/course-media/teach-the-teachers/T-ANI-13.mp4</a:t>
            </a:r>
          </a:p>
          <a:p>
            <a:r>
              <a:t>Picture T-ANI-13 (coming) — Sun and shadows: A small house on open ground seen from the side at an angle. The sun travels in a low arc across the NORTH side of the sky from east (right) to west (left); the house's shadow sweeps across the ground on the SOUTH side. Then winter: the arc drops lower and the shadow grows longer. Loops. (Replaces the withdrawn clip `reading-landscape/watch-09-sun-shadows.mp4`.)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4–6. Debrief on F-P07; roof sum on F-P08 (60 m² × 10 mm = 600 ℓ, about 500 caught).</a:t>
            </a:r>
          </a:p>
          <a:p>
            <a:r>
              <a:t>Clip T-ANI-15 for the roof.</a:t>
            </a:r>
          </a:p>
          <a:p/>
          <a:p>
            <a:r>
              <a:t>Poster: F-P07</a:t>
            </a:r>
          </a:p>
          <a:p>
            <a:r>
              <a:t>Clip T-ANI-14: public/course-media/teach-the-teachers/T-ANI-14.mp4</a:t>
            </a:r>
          </a:p>
          <a:p>
            <a:r>
              <a:t>Picture T-ANI-14 (coming) — Water movement: A homestead on a gentle slope in a summer storm: rain falls on roof, road and yard; blue flow lines gather into channels and run downhill carrying soil. Then the same slope with stone lines and grass strips, where the water spreads and sinks in. (Replaces the withdrawn clip `reading-landscape/watch-05-water-movement.mp4`.)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7–10. Ladder counts; tree-talk rules; improvised-aids brainstorm (8 free things per</a:t>
            </a:r>
          </a:p>
          <a:p>
            <a:r>
              <a:t>group); roof-sum practice. 1 mm on 1 m² = 1 litre.</a:t>
            </a:r>
          </a:p>
          <a:p/>
          <a:p>
            <a:r>
              <a:t>Poster: T-P12</a:t>
            </a:r>
          </a:p>
          <a:p>
            <a:r>
              <a:t>Picture T-P12-ART (coming) — Artwork for T-P12 · Teach with what you have (tree talk): A teaching circle under a large shade tree. A poster is tied to the trunk at the eye level of seated people. Learners sit in a horseshoe facing the trunk, the sun shape behind them in the upper part of the scene (north, marked by a small compass arrow pointing up), so their faces are in shade. The facilitator stands to one side of the poster, wind lines blowing from behind her toward the group. On the ground in the middle of the horseshoe: a cardboard house model, two cut-open 2 ℓ bottles with soil, a clear jar with layered soil, two tins with beans, a torch and a coil of knotted string. At the edge, a small group stands still at a marker stake (a stop).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Energiser by a trainee first.</a:t>
            </a:r>
          </a:p>
          <a:p/>
          <a:p>
            <a:r>
              <a:t>Poster: T-P13</a:t>
            </a:r>
          </a:p>
          <a:p>
            <a:r>
              <a:t>Picture T-P13-ART (coming) — Artwork for T-P13 · One lesson, three ways: Three tall columns. Left: a poster on a fence with a group of five standing, one pointing. Middle, top: a laptop connected to a TV on a table in a shaded room with seated learners; middle, bottom: a group of five crowded around a tablet held by one of them. Right: a group of five watching a phone; beneath it, a hand signing on a phone screen with a finger. Under each column, a small drawing of the paper version — a poster roll (left), a ring-bound flip-book of pictures (middle), a paper register on a clipboard (right) — joined to the column above by a curved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steps 2–3. Co-trainer teaches F-P06 badly (90 s) then well (90 s). Stand to the side;</a:t>
            </a:r>
          </a:p>
          <a:p>
            <a:r>
              <a:t>notes on the A5 card or phone.</a:t>
            </a:r>
          </a:p>
          <a:p/>
          <a:p>
            <a:r>
              <a:t>Poster: T-P13</a:t>
            </a:r>
          </a:p>
          <a:p>
            <a:r>
              <a:t>Picture T-IMG-02 (coming) — Notes on the phone, poster on the fence: A young female facilitator stands beside (not in front of) a poster tied to a wire fence with cable ties. She holds a phone low in one hand, glancing at it, and points with an open hand at a numbered circle on the poster. Five learners stand in a horseshoe facing the poster, one stepping forward to touch it. Garden beds behind. Poster content drawn as simple shapes with ochre numbered circles, no letters.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steps 4–6. Language-time demo with the roof sum; six scenario cards; then studio: improve</a:t>
            </a:r>
          </a:p>
          <a:p>
            <a:r>
              <a:t>the poster and write a 5-prompt Teach it card.</a:t>
            </a:r>
          </a:p>
          <a:p/>
          <a:p>
            <a:r>
              <a:t>Poster: T-P17</a:t>
            </a:r>
          </a:p>
          <a:p>
            <a:r>
              <a:t>Picture T-P17-ART (coming) — Artwork for T-P17 · Everyone learns: A mixed group of five at a raised table outside, mixing seedling soil: a gogo seated, showing seeds in her palm to others; a young man in a wheelchair at the table's end mixing soil with both hands; a young mother with a baby tied on her back; an older man seated close to the facilitator, watching her face as she speaks; two young women talking side by side (one explaining to the other). A poster with only pictures hangs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T-D2-S4 steps 1–4. Reverse order. Talk % = marks ÷ 10 × 100. Trainers observe two full teaches each.</a:t>
            </a:r>
          </a:p>
          <a:p/>
          <a:p>
            <a:r>
              <a:t>Poster: T-P04</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T-D2-S4 steps 5–7. No comments on others' numbers. Add tips to "Our teaching tips". Tick Poster.</a:t>
            </a:r>
          </a:p>
          <a:p/>
          <a:p>
            <a:r>
              <a:t>Poster: T-P04</a:t>
            </a:r>
          </a:p>
          <a:p>
            <a:r>
              <a:t>Picture T-P04-ART (coming) — Artwork for T-P04 · The teacher-talk meter: Top half: a big half-circle gauge, like a fuel gauge, split into ten equal wedges — three Ochre wedges on the left, seven Leaf-green wedges on the right (the Leaf wedges also carry small dot pattern so it works in black and white). A thick Ink needle points into the third Ochre wedge. Bottom half: a facilitator stands to one side with an open hand gesturing toward a busy group of five who are talking and working; beside the facilitator a co-facilitator makes tally marks on a clipboard (marks drawn as simple strokes).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T-D2-SC. Eight "OK or not?" cards. Pairs made inside groups; pool B cards for Round 3 (15 min, with</a:t>
            </a:r>
          </a:p>
          <a:p>
            <a:r>
              <a:t>a practical).</a:t>
            </a:r>
          </a:p>
          <a:p/>
          <a:p>
            <a:r>
              <a:t>Poster: T-P17</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T-P01</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Usuku 2</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Khuluma kancane, buza kakhulu</a:t>
            </a:r>
          </a:p>
          <a:p>
            <a:pPr algn="l">
              <a:spcAft>
                <a:spcPts val="800"/>
              </a:spcAft>
            </a:pPr>
            <a:r>
              <a:rPr sz="2400" b="0">
                <a:solidFill>
                  <a:srgbClr val="D5D4CB"/>
                </a:solidFill>
                <a:latin typeface="Trebuchet MS"/>
              </a:rPr>
              <a:t>Usuku 2 kwezi-5</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Tree talk</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T-P11</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2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Nilale nicabanga ngani?</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Into eyodwa oyikhumbulayo</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Umbuzo owodwa ovuke nawo</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T-P05</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3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Yimuphi umphumela ongawubona?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A: ukuqonda i-compost</a:t>
            </a:r>
          </a:p>
          <a:p>
            <a:pPr algn="l" marL="412750" indent="-412750">
              <a:spcAft>
                <a:spcPts val="1800"/>
              </a:spcAft>
            </a:pPr>
            <a:r>
              <a:rPr sz="2600" b="1">
                <a:solidFill>
                  <a:srgbClr val="D2452C"/>
                </a:solidFill>
                <a:latin typeface="Trebuchet MS"/>
              </a:rPr>
              <a:t>›  </a:t>
            </a:r>
            <a:r>
              <a:rPr sz="2600" b="0">
                <a:solidFill>
                  <a:srgbClr val="1C1C1C"/>
                </a:solidFill>
                <a:latin typeface="Trebuchet MS"/>
              </a:rPr>
              <a:t>B: ukwakha inqwaba ye-compost engu-1 m enezingqimba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T-P05 · Outcomes start with a doing word</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T-P05-ART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T-P05</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4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Qala ngesenzo</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Isenzo · Kuyini · Kahle kangakanani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Yenza, bonisa, thola, linganisa, chaza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Ungakubona ngaphambi kwasemini?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T-P05 · Outcomes start with a doing word</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T-P05-ART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T-D2-05</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5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Imibuzo emithathu</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Ingabe inhlabathi iyaphila?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Yini ephila enhlabathini?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Ungathola kanjani?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Living soil</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IVIDIYO · T-ANI-17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6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Khwela isitebhisi semibuzo</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Ovaliwe · Ovulekile · Ojulile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Linda imizuzwana 5</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Wubuyisele eqenjini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T-P08 · The question ladder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T-P08-ART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T-P08</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T-D2-07</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7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Lindani futhi nibuyisele</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Balani iminwe emihlanu buthule</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Ningaphenduli — wubuyiseleni eqenjini</a:t>
            </a:r>
          </a:p>
        </p:txBody>
      </p:sp>
      <p:sp>
        <p:nvSpPr>
          <p:cNvPr id="18" name="Oval 17"/>
          <p:cNvSpPr/>
          <p:nvPr/>
        </p:nvSpPr>
        <p:spPr>
          <a:xfrm>
            <a:off x="731520" y="442163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4216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467352"/>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Imizuzu 12</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T-P08 · The question ladder</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T-P08-ART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F-P05</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T-D2-08</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8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3400" b="1">
                <a:solidFill>
                  <a:srgbClr val="F2EFE6"/>
                </a:solidFill>
                <a:latin typeface="Segoe Print"/>
              </a:rPr>
              <a:t>Isifundo esiyisibonelo ngaphansi kwesihlahla</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Funda umhlaba namanzi</a:t>
            </a:r>
          </a:p>
          <a:p>
            <a:pPr algn="l">
              <a:spcAft>
                <a:spcPts val="800"/>
              </a:spcAft>
            </a:pPr>
            <a:r>
              <a:rPr sz="2400" b="0">
                <a:solidFill>
                  <a:srgbClr val="D5D4CB"/>
                </a:solidFill>
                <a:latin typeface="Trebuchet MS"/>
              </a:rPr>
              <a:t>Ababhali: balani izinhlobo zemibuzo</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Tree talk</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F-P05</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T-D2-09</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9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Ilanga likuphi?</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Iwindi libheke enyakatho</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Makani umthunzi wasebusika ngezinduku</a:t>
            </a:r>
          </a:p>
        </p:txBody>
      </p:sp>
      <p:sp>
        <p:nvSpPr>
          <p:cNvPr id="18" name="Oval 17"/>
          <p:cNvSpPr/>
          <p:nvPr/>
        </p:nvSpPr>
        <p:spPr>
          <a:xfrm>
            <a:off x="731520" y="442163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4216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46735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Isithunzi sikhomba ngaphi?</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cardboard house and the sun</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F-P07</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10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Amanzi aya kuphi?</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Thelani 500 ml ebhodleleni ngalinye</a:t>
            </a:r>
          </a:p>
        </p:txBody>
      </p:sp>
      <p:sp>
        <p:nvSpPr>
          <p:cNvPr id="15" name="Oval 14"/>
          <p:cNvSpPr/>
          <p:nvPr/>
        </p:nvSpPr>
        <p:spPr>
          <a:xfrm>
            <a:off x="731520" y="342595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259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47167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Bambani nilinganise amanzi agelezayo</a:t>
            </a:r>
          </a:p>
        </p:txBody>
      </p:sp>
      <p:sp>
        <p:nvSpPr>
          <p:cNvPr id="18" name="Oval 17"/>
          <p:cNvSpPr/>
          <p:nvPr/>
        </p:nvSpPr>
        <p:spPr>
          <a:xfrm>
            <a:off x="731520" y="442163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4216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46735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Tholani izimpawu ezintathu zamanzi</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82000" y="2996184"/>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Water movement</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IVIDIYO · T-ANI-14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T-P12</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11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Ukufundisa ngaphansi kwesihlahla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Ilanga ngemuva kwabafundi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Iphosta ezingeni lamehlo</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Yima, bese ukhuluma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T-P12 · Teach with what you have (tree talk)</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T-P12-ART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T-P13</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T-D2-12</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12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4200" b="1">
                <a:solidFill>
                  <a:srgbClr val="F2EFE6"/>
                </a:solidFill>
                <a:latin typeface="Segoe Print"/>
              </a:rPr>
              <a:t>Indlela 1: amaphosta kuphela</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Isifundo esisodwa, izindlela ezintathu</a:t>
            </a:r>
          </a:p>
          <a:p>
            <a:pPr algn="l">
              <a:spcAft>
                <a:spcPts val="800"/>
              </a:spcAft>
            </a:pPr>
            <a:r>
              <a:rPr sz="2400" b="0">
                <a:solidFill>
                  <a:srgbClr val="D5D4CB"/>
                </a:solidFill>
                <a:latin typeface="Trebuchet MS"/>
              </a:rPr>
              <a:t>Namuhla: iphosta</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T-P13 · One lesson, three ways</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T-P13-ART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T-P13</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13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Fundisa ngephosta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Mboza bese uyambula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Khomba bese ubuza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Abafundi beza ephosteni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Notes on the phone, poster on the fence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T-P17</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14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Wonke umuntu uyafunda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Isikhathi solimi: bayaphinda bayixoxe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Umsebenzi womuntu wonke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Imisebenzi yokuhlala phansi, amalebula ezithombe</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T-P17 · Everyone learns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T-P17-ART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T-P04</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15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Ukufundisa okuncane: Round 2</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Imizuzu 10, uwedwa, amaphosta kuphela</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Umbukeli ubala ukukhuluma nemibuzo</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Imizuzu 6 yempendulo</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T-P04</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16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Ibhodi lokukhuluma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Bhala i-% yakho yokukhuluma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Yini ekusizile ukuthi ukhulume kancane?</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T-P04 · The teacher-talk meter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T-P04-ART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T-P17</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17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Ubuciko besifundo: i-POPIA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Imvume ngaphambi kwekhamera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Ichashaza eliluhlaza = azikho izithombe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Yabelana ngalokho okuvunyelwene ngakho kuphela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