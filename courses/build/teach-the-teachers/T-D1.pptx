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Register at the door first. Welcome; say the day's promise. Point out that this course</a:t>
            </a:r>
          </a:p>
          <a:p>
            <a:r>
              <a:t>is taught the way they will teach — ask them to watch how, not only what.</a:t>
            </a:r>
          </a:p>
          <a:p/>
          <a:p>
            <a:r>
              <a:t>Poster: T-P01</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step 3. Go first with a coin. After the circle ask: what did we learn about teaching?</a:t>
            </a:r>
          </a:p>
          <a:p/>
          <a:p>
            <a:r>
              <a:t>Poster: T-P01</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steps 5–7. POPIA consent before this slide. Groups of 5 formed; add must-haves; everyone</a:t>
            </a:r>
          </a:p>
          <a:p>
            <a:r>
              <a:t>signs. Agree the call-and-response signal; hand out role cards (T-P06).</a:t>
            </a:r>
          </a:p>
          <a:p/>
          <a:p>
            <a:r>
              <a:t>Poster: T-P01</a:t>
            </a:r>
          </a:p>
          <a:p>
            <a:r>
              <a:t>Picture T-P01-ART (coming) — Artwork for T-P01 · Our learning agreement: Top 45% only. Eight adults of mixed ages sit in a circle on low chairs and a bench under a wide shade tree; a gogo in a headscarf, a young man in a cap, a woman with a notebook, an older man with a walking stick, two young women, an extension officer in a work shirt. In the centre, all their hands rest together on a large blank sheet of paper on the ground. Warm afternoon light from the upper left (north). Lower 55% of the poster is left as plain Paper with faint Hairline ruled lines for writing the group's rules and signatures.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steps 1–3. Harvest one idea per pair; then the worst lesson, fast.</a:t>
            </a:r>
          </a:p>
          <a:p/>
          <a:p>
            <a:r>
              <a:t>Poster: T-P02</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 4. Lead tells only (hands on laps, 2 min); co-trainer shows step by step outside.</a:t>
            </a:r>
          </a:p>
          <a:p>
            <a:r>
              <a:t>Ask which group did better and why.</a:t>
            </a:r>
          </a:p>
          <a:p/>
          <a:p>
            <a:r>
              <a:t>Poster: T-P02</a:t>
            </a:r>
          </a:p>
          <a:p>
            <a:r>
              <a:t>Picture T-IMG-06 (coming) — The poster studio: Seen from slightly above: trainees kneel and sit on a clean hall floor around large sheets of paper, drawing posters with thick markers. One sheet shows a pencilled bean plant with numbered circles; another person holds a finished poster up at arm's length while a partner stands far away checking it. Markers, rulers, Prestik and paper offcuts scattered. No readable letters anywhere — draw text areas as grey bars.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steps 6–7. Place the envelope task on each step. Four facts about adult learners.</a:t>
            </a:r>
          </a:p>
          <a:p>
            <a:r>
              <a:t>Warn: the "learning pyramid" numbers are a myth.</a:t>
            </a:r>
          </a:p>
          <a:p/>
          <a:p>
            <a:r>
              <a:t>Poster: T-P02</a:t>
            </a:r>
          </a:p>
          <a:p>
            <a:r>
              <a:t>Clip T-ANI-01: public/course-media/teach-the-teachers/T-ANI-01.mp4</a:t>
            </a:r>
          </a:p>
          <a:p>
            <a:r>
              <a:t>Picture T-ANI-01 (coming) — The learning cycle: Four scenes appear in turn around a circle, joined by a Mid-green arrow that grows clockwise: (1) hands fold a paper seed envelope (0–4 s); (2) two people look at the torn envelope, one points (4–8 s); (3) a small group draws in the soil with a stick, one nods (8–12 s); (4) at a kitchen table, bean seed pours into a finished envelope (12–16 s); the arrow completes and the loop restarts. No text. Poster frame: all four scenes visible.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 8. Groups map the show-and-try lesson onto the four steps. What was missing?</a:t>
            </a:r>
          </a:p>
          <a:p/>
          <a:p>
            <a:r>
              <a:t>Poster: T-P03</a:t>
            </a:r>
          </a:p>
          <a:p>
            <a:r>
              <a:t>Picture T-P03-ART (coming) — Artwork for T-P03 · Every lesson: Look · Try · Talk · Take home: Four horizontal bands stacked top to bottom, one scene each, same people throughout. ① A facilitator holds up a real cabbage leaf with holes; seated learners lean forward, two pointing. ② A group of five kneels at a bed, every pair of hands in the soil, the facilitator standing back, hands behind her back. ③ The group sits in a circle beside a poster on a fence, one learner speaking, others listening. ④ A learner walks along a village path toward a house carrying a seedling tray. Each band has a thin Hairline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set-up. Talk-tally card to each Recorder: one mark per minute of talk to the whole room.</a:t>
            </a:r>
          </a:p>
          <a:p/>
          <a:p>
            <a:r>
              <a:t>Poster: T-P04</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steps 3–4 (co-trainer). Take one answer per group. Then find the three ethics in the good</a:t>
            </a:r>
          </a:p>
          <a:p>
            <a:r>
              <a:t>garden (F-P02, clip T-ANI-11 optional).</a:t>
            </a:r>
          </a:p>
          <a:p/>
          <a:p>
            <a:r>
              <a:t>Poster: F-P03</a:t>
            </a:r>
          </a:p>
          <a:p>
            <a:r>
              <a:t>Clip T-ANI-12: public/course-media/teach-the-teachers/T-ANI-12.mp4</a:t>
            </a:r>
          </a:p>
          <a:p>
            <a:r>
              <a:t>Picture T-ANI-12 (coming) — Diversity: A bare row of a single crop wilts as pests arrive; beside it a mixed bed (tall grain, climbing bean, spreading pumpkin-like leaves, flowers) stays green while ladybirds and birds visit. Seasons pass and the mixed bed keeps producing. (Replaces the withdrawn clip `intro-permaculture/watch-13-diversity.mp4`.)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 5. Walk and ask "why there?" — don't tell. Call 5 minutes left at 11:02.</a:t>
            </a:r>
          </a:p>
          <a:p/>
          <a:p>
            <a:r>
              <a:t>Poster: T-P19</a:t>
            </a:r>
          </a:p>
          <a:p>
            <a:r>
              <a:t>Picture T-P19-ART (coming) — Artwork for T-P19 · The 10 elements of agroecology: A wide, busy but orderly village landscape, read left to right, with ten clear scenes: (1) a field of maize, beans and pumpkin growing together with a fruit tree; (2) a woman farmer showing neighbours her trench bed; (3) chickens scratching under fruit trees beside the garden; (4) a compost heap next to a bed (no bags of fertiliser); (5) kitchen scraps going into a compost bin; (6) a mulched garden still green beside a dry bare field; (7) youth and elders planning together around a drawing on the ground; (8) a family eating together from shared bowls with local greens; (9) a group at a water tank beside a hand-drawn roster board (lines, not words); (10) a small market stall and a seed-swap table with neighbours. Sun in the north (upper part of the scene).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 6. Reveal T-P19 after the sort; link to T-P20. Content notes in the day file.</a:t>
            </a:r>
          </a:p>
          <a:p>
            <a:r>
              <a:t>Take home: each group names an element to look for at home.</a:t>
            </a:r>
          </a:p>
          <a:p/>
          <a:p>
            <a:r>
              <a:t>Poster: T-P19</a:t>
            </a:r>
          </a:p>
          <a:p>
            <a:r>
              <a:t>Picture T-P20-ART (coming) — Artwork for T-P20 · Twelve design principles: A homestead seen from above in the centre (house, tank, beds, fruit trees, chicken run, swale on the slope), surrounded by twelve small round vignettes like a clock face: (1) a woman sitting watching her yard; (2) a tank full of water and a seed jar; (3) a hand picking spinach; (4) a person checking a flooded bed and redirecting water; (5) the sun and rain falling on a roof; (6) kitchen scraps feeding chickens feeding compost; (7) a view of a whole slope, then a single bed; (8) chickens beside the vegetable garden; (9) one well-made bed; (10) many crops mixed; (11) plants thriving along a fence line; (12) a farmer planting drought-tolerant crops under a hot sky. Thin arrows join each vignette to the part of the homestead it relates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steps 8–11. Average the tallies; reveal the meter. Sticky notes on T-P03. Dot vote; top two</a:t>
            </a:r>
          </a:p>
          <a:p>
            <a:r>
              <a:t>elements explained by trainees first.</a:t>
            </a:r>
          </a:p>
          <a:p/>
          <a:p>
            <a:r>
              <a:t>Poster: T-P04</a:t>
            </a:r>
          </a:p>
          <a:p>
            <a:r>
              <a:t>Picture T-P04-ART (coming) — Artwork for T-P04 · The teacher-talk meter: Top half: a big half-circle gauge, like a fuel gauge, split into ten equal wedges — three Ochre wedges on the left, seven Leaf-green wedges on the right (the Leaf wedges also carry small dot pattern so it works in black and white). A thick Ink needle points into the third Ochre wedge. Bottom half: a facilitator stands to one side with an open hand gesturing toward a busy group of five who are talking and working; beside the facilitator a co-facilitator makes tally marks on a clipboard (marks drawn as simple strokes).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Energiser first (Compost Heap, T-P11) — trainers model it; trainees lead from tomorrow.</a:t>
            </a:r>
          </a:p>
          <a:p/>
          <a:p>
            <a:r>
              <a:t>Poster: T-P09</a:t>
            </a:r>
          </a:p>
          <a:p>
            <a:r>
              <a:t>Picture T-IMG-06 (coming) — The poster studio: Seen from slightly above: trainees kneel and sit on a clean hall floor around large sheets of paper, drawing posters with thick markers. One sheet shows a pencilled bean plant with numbered circles; another person holds a finished poster up at arm's length while a partner stands far away checking it. Markers, rulers, Prestik and paper offcuts scattered. No readable letters anywhere — draw text areas as grey bars.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steps 2–3. Bad poster at 6 m first. Groups turn problems into rules; match to T-P09.</a:t>
            </a:r>
          </a:p>
          <a:p/>
          <a:p>
            <a:r>
              <a:t>Poster: T-P09</a:t>
            </a:r>
          </a:p>
          <a:p>
            <a:r>
              <a:t>Picture T-P09-ART (coming) — Artwork for T-P09 · A poster that teaches: A fence with a teaching poster hung on it by cable ties. The poster is drawn as a simple layout: a dark top band, a big clear drawing of a bean plant with three numbered ochre circles, a band of short grey bars where labels go (bars, not letters), and a thin bar at the bottom. On the ground, a line of six footprints leads away from the fence to a young man and a gogo standing about six metres away, both reading the poster easily, the gogo pointing at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steps 4–7. Pool A cards MT-01 to MT-10; each member a different card.</a:t>
            </a:r>
          </a:p>
          <a:p/>
          <a:p>
            <a:r>
              <a:t>Poster: T-P09</a:t>
            </a:r>
          </a:p>
          <a:p>
            <a:r>
              <a:t>Picture T-PHO-01 (coming) — Trainee-made posters: Take during the first run of this course, **with POPIA consent** from the makers: 3–4 hand-made trainee posters that follow T-P09 (≤ 25 words, big picture, numbered labels), photographed flat, straight on, in daylight, no people in frame. Until then, use T-IMG-06.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T-D1-S4 steps 1–4. Roles: teacher, observer (next teacher), timekeeper (last teacher). Lead models a</a:t>
            </a:r>
          </a:p>
          <a:p>
            <a:r>
              <a:t>5-minute teach (MT-03) first; co-trainer models the feedback.</a:t>
            </a:r>
          </a:p>
          <a:p/>
          <a:p>
            <a:r>
              <a:t>Poster: T-P03</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T-D1-S4 step 3 and plenary. Build "Our teaching tips" after the round. Tick Poster on the Mode tracker.</a:t>
            </a:r>
          </a:p>
          <a:p/>
          <a:p>
            <a:r>
              <a:t>Poster: T-P10</a:t>
            </a:r>
          </a:p>
          <a:p>
            <a:r>
              <a:t>Picture T-P10-ART (coming) — Artwork for T-P10 · Two stars and a wish: A small group of four seated in a circle after a lesson. A young woman (the teacher) speaks first, hand open. Opposite her, an older man with a clipboard (the observer) speaks kindly; above him float two big Ochre star shapes and one Leaf-green sprouting seedling shape. The teacher, now with hand on heart, listens and nods. A third person smiles and holds up one finger (another star).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T-D1-SC. One word; stars and wish for today. Course craft 15 on the register; Mentor → Training</a:t>
            </a:r>
          </a:p>
          <a:p>
            <a:r>
              <a:t>shown if a device is there. Tomorrow: Round 2, 10 minutes, a new card, a written outcome.</a:t>
            </a:r>
          </a:p>
          <a:p/>
          <a:p>
            <a:r>
              <a:t>Poster: T-P16</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T-P01</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Welcome</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Teach the Teachers</a:t>
            </a:r>
          </a:p>
          <a:p>
            <a:pPr algn="l">
              <a:spcAft>
                <a:spcPts val="800"/>
              </a:spcAft>
            </a:pPr>
            <a:r>
              <a:rPr sz="2400" b="0">
                <a:solidFill>
                  <a:srgbClr val="D5D4CB"/>
                </a:solidFill>
                <a:latin typeface="Trebuchet MS"/>
              </a:rPr>
              <a:t>Day 1 of 5 · Learners first</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T-P01</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2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Name and object</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Your name, where you work</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One object you could teach with</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30 seconds each</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T-P01</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3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Our learning agreement</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Three rules that help you learn</a:t>
            </a:r>
          </a:p>
          <a:p>
            <a:pPr algn="l" marL="412750" indent="-412750">
              <a:spcAft>
                <a:spcPts val="1800"/>
              </a:spcAft>
            </a:pPr>
            <a:r>
              <a:rPr sz="2600" b="1">
                <a:solidFill>
                  <a:srgbClr val="D2452C"/>
                </a:solidFill>
                <a:latin typeface="Trebuchet MS"/>
              </a:rPr>
              <a:t>›  </a:t>
            </a:r>
            <a:r>
              <a:rPr sz="2600" b="0">
                <a:solidFill>
                  <a:srgbClr val="1C1C1C"/>
                </a:solidFill>
                <a:latin typeface="Trebuchet MS"/>
              </a:rPr>
              <a:t>One idea per sticky note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We made it, we keep it</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T-P01 · Our learning agreement</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T-P01-ART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T-P02</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T-D1-04</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4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Your best teacher</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Best teacher you ever had</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What did they do?</a:t>
            </a:r>
          </a:p>
        </p:txBody>
      </p:sp>
      <p:sp>
        <p:nvSpPr>
          <p:cNvPr id="18" name="Oval 17"/>
          <p:cNvSpPr/>
          <p:nvPr/>
        </p:nvSpPr>
        <p:spPr>
          <a:xfrm>
            <a:off x="731520" y="376936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3815080"/>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Pairs, 3 minutes</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T-P02</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5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Fold a seed envelope</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Room A: tell only</a:t>
            </a:r>
          </a:p>
        </p:txBody>
      </p:sp>
      <p:sp>
        <p:nvSpPr>
          <p:cNvPr id="15" name="Oval 14"/>
          <p:cNvSpPr/>
          <p:nvPr/>
        </p:nvSpPr>
        <p:spPr>
          <a:xfrm>
            <a:off x="731520" y="277368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281940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Outside: show and try</a:t>
            </a:r>
          </a:p>
        </p:txBody>
      </p:sp>
      <p:sp>
        <p:nvSpPr>
          <p:cNvPr id="18" name="Oval 17"/>
          <p:cNvSpPr/>
          <p:nvPr/>
        </p:nvSpPr>
        <p:spPr>
          <a:xfrm>
            <a:off x="731520" y="376936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381508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Compare your envelopes</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poster studio</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T-P02</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6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How adults learn</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Do · Look back</a:t>
            </a:r>
          </a:p>
          <a:p>
            <a:pPr algn="l" marL="412750" indent="-412750">
              <a:spcAft>
                <a:spcPts val="1800"/>
              </a:spcAft>
            </a:pPr>
            <a:r>
              <a:rPr sz="2600" b="1">
                <a:solidFill>
                  <a:srgbClr val="D2452C"/>
                </a:solidFill>
                <a:latin typeface="Trebuchet MS"/>
              </a:rPr>
              <a:t>›  </a:t>
            </a:r>
            <a:r>
              <a:rPr sz="2600" b="0">
                <a:solidFill>
                  <a:srgbClr val="1C1C1C"/>
                </a:solidFill>
                <a:latin typeface="Trebuchet MS"/>
              </a:rPr>
              <a:t>Make sense · Use it</a:t>
            </a:r>
          </a:p>
          <a:p>
            <a:pPr algn="l" marL="412750" indent="-412750">
              <a:spcAft>
                <a:spcPts val="1800"/>
              </a:spcAft>
            </a:pPr>
            <a:r>
              <a:rPr sz="2600" b="1">
                <a:solidFill>
                  <a:srgbClr val="D2452C"/>
                </a:solidFill>
                <a:latin typeface="Trebuchet MS"/>
              </a:rPr>
              <a:t>›  </a:t>
            </a:r>
            <a:r>
              <a:rPr sz="2600" b="0">
                <a:solidFill>
                  <a:srgbClr val="1C1C1C"/>
                </a:solidFill>
                <a:latin typeface="Trebuchet MS"/>
              </a:rPr>
              <a:t>Go all the way round</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learning cycle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CLIP · T-ANI-01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T-P03</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7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Look · Try · Talk · Take home</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Hook them · Hands on</a:t>
            </a:r>
          </a:p>
          <a:p>
            <a:pPr algn="l" marL="412750" indent="-412750">
              <a:spcAft>
                <a:spcPts val="1800"/>
              </a:spcAft>
            </a:pPr>
            <a:r>
              <a:rPr sz="2600" b="1">
                <a:solidFill>
                  <a:srgbClr val="D2452C"/>
                </a:solidFill>
                <a:latin typeface="Trebuchet MS"/>
              </a:rPr>
              <a:t>›  </a:t>
            </a:r>
            <a:r>
              <a:rPr sz="2600" b="0">
                <a:solidFill>
                  <a:srgbClr val="1C1C1C"/>
                </a:solidFill>
                <a:latin typeface="Trebuchet MS"/>
              </a:rPr>
              <a:t>Three questions · One action</a:t>
            </a:r>
          </a:p>
          <a:p>
            <a:pPr algn="l" marL="412750" indent="-412750">
              <a:spcAft>
                <a:spcPts val="1800"/>
              </a:spcAft>
            </a:pPr>
            <a:r>
              <a:rPr sz="2600" b="1">
                <a:solidFill>
                  <a:srgbClr val="D2452C"/>
                </a:solidFill>
                <a:latin typeface="Trebuchet MS"/>
              </a:rPr>
              <a:t>›  </a:t>
            </a:r>
            <a:r>
              <a:rPr sz="2600" b="0">
                <a:solidFill>
                  <a:srgbClr val="1C1C1C"/>
                </a:solidFill>
                <a:latin typeface="Trebuchet MS"/>
              </a:rPr>
              <a:t>Try comes first</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T-P03 · Every lesson: Look · Try · Talk · Take home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T-P03-ART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T-P04</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T-D1-08</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8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Model lesson</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You are farmers now</a:t>
            </a:r>
          </a:p>
          <a:p>
            <a:pPr algn="l">
              <a:spcAft>
                <a:spcPts val="800"/>
              </a:spcAft>
            </a:pPr>
            <a:r>
              <a:rPr sz="2400" b="0">
                <a:solidFill>
                  <a:srgbClr val="D5D4CB"/>
                </a:solidFill>
                <a:latin typeface="Trebuchet MS"/>
              </a:rPr>
              <a:t>Recorders: count teacher talk</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F-P03</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T-D1-09</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9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Two gardens</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What differences do you see?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Which feeds you in a drought?</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Diversity</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CLIP · T-ANI-12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T-P19</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10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Sort the practices</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Put each photo under an idea</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Our strongest three, weakest one</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15 minutes</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T-P19 · The 10 elements of agroecology</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T-P19-ART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T-P19</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11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Ten elements, twelve principles</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Agroecology: practice and food system</a:t>
            </a:r>
          </a:p>
          <a:p>
            <a:pPr algn="l" marL="412750" indent="-412750">
              <a:spcAft>
                <a:spcPts val="1800"/>
              </a:spcAft>
            </a:pPr>
            <a:r>
              <a:rPr sz="2600" b="1">
                <a:solidFill>
                  <a:srgbClr val="D2452C"/>
                </a:solidFill>
                <a:latin typeface="Trebuchet MS"/>
              </a:rPr>
              <a:t>›  </a:t>
            </a:r>
            <a:r>
              <a:rPr sz="2600" b="0">
                <a:solidFill>
                  <a:srgbClr val="1C1C1C"/>
                </a:solidFill>
                <a:latin typeface="Trebuchet MS"/>
              </a:rPr>
              <a:t>Permaculture: ethics and design toolbox</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We use both</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T-P20 · Twelve design principles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T-P20-ART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T-P04</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12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Step out: unpack</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How many talk minutes?</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What did the teacher do?</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Which element are you unsure of?</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T-P04 · The teacher-talk meter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T-P04-ART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T-P09</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T-D1-13</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13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Poster studio</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A poster that teaches</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poster studio</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T-P09</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14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Six poster rules</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One idea, 25 words max</a:t>
            </a:r>
          </a:p>
          <a:p>
            <a:pPr algn="l" marL="412750" indent="-412750">
              <a:spcAft>
                <a:spcPts val="1800"/>
              </a:spcAft>
            </a:pPr>
            <a:r>
              <a:rPr sz="2600" b="1">
                <a:solidFill>
                  <a:srgbClr val="D2452C"/>
                </a:solidFill>
                <a:latin typeface="Trebuchet MS"/>
              </a:rPr>
              <a:t>›  </a:t>
            </a:r>
            <a:r>
              <a:rPr sz="2600" b="0">
                <a:solidFill>
                  <a:srgbClr val="1C1C1C"/>
                </a:solidFill>
                <a:latin typeface="Trebuchet MS"/>
              </a:rPr>
              <a:t>Big picture, no words inside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Numbered labels, one question</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T-P09 · A poster that teaches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T-P09-ART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T-P09</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15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Draw your poster</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Pick a Round 1 card</a:t>
            </a:r>
          </a:p>
        </p:txBody>
      </p:sp>
      <p:sp>
        <p:nvSpPr>
          <p:cNvPr id="15" name="Oval 14"/>
          <p:cNvSpPr/>
          <p:nvPr/>
        </p:nvSpPr>
        <p:spPr>
          <a:xfrm>
            <a:off x="731520" y="277368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281940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Pencil first, 25 minutes</a:t>
            </a:r>
          </a:p>
        </p:txBody>
      </p:sp>
      <p:sp>
        <p:nvSpPr>
          <p:cNvPr id="18" name="Oval 17"/>
          <p:cNvSpPr/>
          <p:nvPr/>
        </p:nvSpPr>
        <p:spPr>
          <a:xfrm>
            <a:off x="731520" y="376936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381508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Then the 6-metre check</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Trainee-made posters</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PHOTO · T-PHO-01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T-P03</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T-D1-16</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16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Micro-teaching Round 1</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5 minutes, solo, your group</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Then 5 minutes feedback</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Stop on time</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T-P10</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17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Two stars and a wish</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Teacher speaks first</a:t>
            </a:r>
          </a:p>
          <a:p>
            <a:pPr algn="l" marL="412750" indent="-412750">
              <a:spcAft>
                <a:spcPts val="1800"/>
              </a:spcAft>
            </a:pPr>
            <a:r>
              <a:rPr sz="2600" b="1">
                <a:solidFill>
                  <a:srgbClr val="D2452C"/>
                </a:solidFill>
                <a:latin typeface="Trebuchet MS"/>
              </a:rPr>
              <a:t>›  </a:t>
            </a:r>
            <a:r>
              <a:rPr sz="2600" b="0">
                <a:solidFill>
                  <a:srgbClr val="1C1C1C"/>
                </a:solidFill>
                <a:latin typeface="Trebuchet MS"/>
              </a:rPr>
              <a:t>Two stars, one wish</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Say thank you</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T-P10 · Two stars and a wish</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T-P10-ART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T-P16</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18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Course craft: the register</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First in the morning, last at close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Facilitator signs, photo every day</a:t>
            </a:r>
          </a:p>
          <a:p>
            <a:pPr algn="l" marL="412750" indent="-412750">
              <a:spcAft>
                <a:spcPts val="1800"/>
              </a:spcAft>
            </a:pPr>
            <a:r>
              <a:rPr sz="2600" b="1">
                <a:solidFill>
                  <a:srgbClr val="D2452C"/>
                </a:solidFill>
                <a:latin typeface="Trebuchet MS"/>
              </a:rPr>
              <a:t>›  </a:t>
            </a:r>
            <a:r>
              <a:rPr sz="2600" b="0">
                <a:solidFill>
                  <a:srgbClr val="1C1C1C"/>
                </a:solidFill>
                <a:latin typeface="Trebuchet MS"/>
              </a:rPr>
              <a:t>Never from memory</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