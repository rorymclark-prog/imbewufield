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T-D1-S0. Register at the door first. Welcome; say the day's promise. Point out that this course</a:t>
            </a:r>
          </a:p>
          <a:p>
            <a:r>
              <a:t>is taught the way they will teach — ask them to watch how, not only what.</a:t>
            </a:r>
          </a:p>
          <a:p/>
          <a:p>
            <a:r>
              <a:t>Poster: T-P01</a:t>
            </a:r>
          </a:p>
          <a:p>
            <a:r>
              <a:t>Picture T-IMG-01 (coming) — A learning circle under a tree: Twenty adults sit in a wide circle on plastic chairs and a wooden bench under a big shade tree beside a rural community hall. Mixed ages: young graduates in trainers and T-shirts, two extension officers in work shirts, gogos in headscarves, an older lead farmer in a hat. One young woman stands, mid-sentence, hands open; others lean in, some laughing. Posters hang on the hall wall behind them (drawn as rectangles with simple shapes, no letters). Sun high in the upper part of the scene (north); shadows fall toward the viewer.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T-D1-S0 step 3. Go first with a coin. After the circle ask: what did we learn about teaching?</a:t>
            </a:r>
          </a:p>
          <a:p/>
          <a:p>
            <a:r>
              <a:t>Poster: T-P01</a:t>
            </a:r>
          </a:p>
          <a:p>
            <a:r>
              <a:t>Picture T-IMG-05 (coming) — A micro-teach in a small circle: Five adults in a small circle of chairs in the corner of a hall. One young man (teaching) holds up a cut-open 2 ℓ bottle of soil while three peers lean forward, one pouring water. A fourth person, an older woman, sits slightly back with a clipboard, making tally marks (simple strokes). A second person holds up a small red card (the STOP card, no text). A hand-made poster is stuck to the wall behind them with Prestik.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T-D1-S0 steps 5–7. POPIA consent before this slide. Groups of 5 formed; add must-haves; everyone</a:t>
            </a:r>
          </a:p>
          <a:p>
            <a:r>
              <a:t>signs. Agree the call-and-response signal; hand out role cards (T-P06).</a:t>
            </a:r>
          </a:p>
          <a:p/>
          <a:p>
            <a:r>
              <a:t>Poster: T-P01</a:t>
            </a:r>
          </a:p>
          <a:p>
            <a:r>
              <a:t>Picture T-P01-ART (coming) — Artwork for T-P01 · Our learning agreement: Top 45% only. Eight adults of mixed ages sit in a circle on low chairs and a bench under a wide shade tree; a gogo in a headscarf, a young man in a cap, a woman with a notebook, an older man with a walking stick, two young women, an extension officer in a work shirt. In the centre, all their hands rest together on a large blank sheet of paper on the ground. Warm afternoon light from the upper left (north). Lower 55% of the poster is left as plain Paper with faint Hairline ruled lines for writing the group's rules and signatures.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T-D1-S1 steps 1–3. Harvest one idea per pair; then the worst lesson, fast.</a:t>
            </a:r>
          </a:p>
          <a:p/>
          <a:p>
            <a:r>
              <a:t>Poster: T-P02</a:t>
            </a:r>
          </a:p>
          <a:p>
            <a:r>
              <a:t>Picture T-IMG-01 (coming) — A learning circle under a tree: Twenty adults sit in a wide circle on plastic chairs and a wooden bench under a big shade tree beside a rural community hall. Mixed ages: young graduates in trainers and T-shirts, two extension officers in work shirts, gogos in headscarves, an older lead farmer in a hat. One young woman stands, mid-sentence, hands open; others lean in, some laughing. Posters hang on the hall wall behind them (drawn as rectangles with simple shapes, no letters). Sun high in the upper part of the scene (north); shadows fall toward the viewer.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T-D1-S1 step 4. Lead tells only (hands on laps, 2 min); co-trainer shows step by step outside.</a:t>
            </a:r>
          </a:p>
          <a:p>
            <a:r>
              <a:t>Ask which group did better and why.</a:t>
            </a:r>
          </a:p>
          <a:p/>
          <a:p>
            <a:r>
              <a:t>Poster: T-P02</a:t>
            </a:r>
          </a:p>
          <a:p>
            <a:r>
              <a:t>Picture T-IMG-06 (coming) — The poster studio: Seen from slightly above: trainees kneel and sit on a clean hall floor around large sheets of paper, drawing posters with thick markers. One sheet shows a pencilled bean plant with numbered circles; another person holds a finished poster up at arm's length while a partner stands far away checking it. Markers, rulers, Prestik and paper offcuts scattered. No readable letters anywhere — draw text areas as grey bars.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T-D1-S1 steps 6–7. Place the envelope task on each step. Four facts about adult learners.</a:t>
            </a:r>
          </a:p>
          <a:p>
            <a:r>
              <a:t>Warn: the "learning pyramid" numbers are a myth.</a:t>
            </a:r>
          </a:p>
          <a:p/>
          <a:p>
            <a:r>
              <a:t>Poster: T-P02</a:t>
            </a:r>
          </a:p>
          <a:p>
            <a:r>
              <a:t>Clip T-ANI-01: public/course-media/teach-the-teachers/T-ANI-01.mp4</a:t>
            </a:r>
          </a:p>
          <a:p>
            <a:r>
              <a:t>Picture T-ANI-01 (coming) — The learning cycle: Four scenes appear in turn around a circle, joined by a Mid-green arrow that grows clockwise: (1) hands fold a paper seed envelope (0–4 s); (2) two people look at the torn envelope, one points (4–8 s); (3) a small group draws in the soil with a stick, one nods (8–12 s); (4) at a kitchen table, bean seed pours into a finished envelope (12–16 s); the arrow completes and the loop restarts. No text. Poster frame: all four scenes visible.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T-D1-S1 step 8. Groups map the show-and-try lesson onto the four steps. What was missing?</a:t>
            </a:r>
          </a:p>
          <a:p/>
          <a:p>
            <a:r>
              <a:t>Poster: T-P03</a:t>
            </a:r>
          </a:p>
          <a:p>
            <a:r>
              <a:t>Picture T-P03-ART (coming) — Artwork for T-P03 · Every lesson: Look · Try · Talk · Take home: Four horizontal bands stacked top to bottom, one scene each, same people throughout. ① A facilitator holds up a real cabbage leaf with holes; seated learners lean forward, two pointing. ② A group of five kneels at a bed, every pair of hands in the soil, the facilitator standing back, hands behind her back. ③ The group sits in a circle beside a poster on a fence, one learner speaking, others listening. ④ A learner walks along a village path toward a house carrying a seedling tray. Each band has a thin Hairline divider.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T-D1-S2 set-up. Talk-tally card to each Recorder: one mark per minute of talk to the whole room.</a:t>
            </a:r>
          </a:p>
          <a:p/>
          <a:p>
            <a:r>
              <a:t>Poster: T-P04</a:t>
            </a:r>
          </a:p>
          <a:p>
            <a:r>
              <a:t>Picture T-IMG-15 (coming) — The register at the door: A small table at a hall doorway in the morning light. A young man signs a register on a clipboard (grid lines, no letters) while an older woman presses her thumb onto an ink pad to mark her name. A facilitator beside them holds name tags; a small sheet of green dot stickers sits on the table. A queue of three learners waits, chatting.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T-D1-S2 steps 3–4 (co-trainer). Take one answer per group. Then find the three ethics in the good</a:t>
            </a:r>
          </a:p>
          <a:p>
            <a:r>
              <a:t>garden (F-P02, clip T-ANI-11 optional).</a:t>
            </a:r>
          </a:p>
          <a:p/>
          <a:p>
            <a:r>
              <a:t>Poster: F-P03</a:t>
            </a:r>
          </a:p>
          <a:p>
            <a:r>
              <a:t>Clip T-ANI-12: public/course-media/teach-the-teachers/T-ANI-12.mp4</a:t>
            </a:r>
          </a:p>
          <a:p>
            <a:r>
              <a:t>Picture T-ANI-12 (coming) — Diversity: A bare row of a single crop wilts as pests arrive; beside it a mixed bed (tall grain, climbing bean, spreading pumpkin-like leaves, flowers) stays green while ladybirds and birds visit. Seasons pass and the mixed bed keeps producing. (Replaces the withdrawn clip `intro-permaculture/watch-13-diversity.mp4`.)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T-D1-S2 step 5. Walk and ask "why there?" — don't tell. Call 5 minutes left at 11:02.</a:t>
            </a:r>
          </a:p>
          <a:p/>
          <a:p>
            <a:r>
              <a:t>Poster: T-P19</a:t>
            </a:r>
          </a:p>
          <a:p>
            <a:r>
              <a:t>Picture T-P19-ART (coming) — Artwork for T-P19 · The 10 elements of agroecology: A wide, busy but orderly village landscape, read left to right, with ten clear scenes: (1) a field of maize, beans and pumpkin growing together with a fruit tree; (2) a woman farmer showing neighbours her trench bed; (3) chickens scratching under fruit trees beside the garden; (4) a compost heap next to a bed (no bags of fertiliser); (5) kitchen scraps going into a compost bin; (6) a mulched garden still green beside a dry bare field; (7) youth and elders planning together around a drawing on the ground; (8) a family eating together from shared bowls with local greens; (9) a group at a water tank beside a hand-drawn roster board (lines, not words); (10) a small market stall and a seed-swap table with neighbours. Sun in the north (upper part of the scene).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T-D1-S2 step 6. Reveal T-P19 after the sort; link to T-P20. Content notes in the day file.</a:t>
            </a:r>
          </a:p>
          <a:p>
            <a:r>
              <a:t>Take home: each group names an element to look for at home.</a:t>
            </a:r>
          </a:p>
          <a:p/>
          <a:p>
            <a:r>
              <a:t>Poster: T-P19</a:t>
            </a:r>
          </a:p>
          <a:p>
            <a:r>
              <a:t>Picture T-P20-ART (coming) — Artwork for T-P20 · Twelve design principles: A homestead seen from above in the centre (house, tank, beds, fruit trees, chicken run, swale on the slope), surrounded by twelve small round vignettes like a clock face: (1) a woman sitting watching her yard; (2) a tank full of water and a seed jar; (3) a hand picking spinach; (4) a person checking a flooded bed and redirecting water; (5) the sun and rain falling on a roof; (6) kitchen scraps feeding chickens feeding compost; (7) a view of a whole slope, then a single bed; (8) chickens beside the vegetable garden; (9) one well-made bed; (10) many crops mixed; (11) plants thriving along a fence line; (12) a farmer planting drought-tolerant crops under a hot sky. Thin arrows join each vignette to the part of the homestead it relates to.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T-D1-S2 steps 8–11. Average the tallies; reveal the meter. Sticky notes on T-P03. Dot vote; top two</a:t>
            </a:r>
          </a:p>
          <a:p>
            <a:r>
              <a:t>elements explained by trainees first.</a:t>
            </a:r>
          </a:p>
          <a:p/>
          <a:p>
            <a:r>
              <a:t>Poster: T-P04</a:t>
            </a:r>
          </a:p>
          <a:p>
            <a:r>
              <a:t>Picture T-P04-ART (coming) — Artwork for T-P04 · The teacher-talk meter: Top half: a big half-circle gauge, like a fuel gauge, split into ten equal wedges — three Ochre wedges on the left, seven Leaf-green wedges on the right (the Leaf wedges also carry small dot pattern so it works in black and white). A thick Ink needle points into the third Ochre wedge. Bottom half: a facilitator stands to one side with an open hand gesturing toward a busy group of five who are talking and working; beside the facilitator a co-facilitator makes tally marks on a clipboard (marks drawn as simple strokes).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T-D1-S3. Energiser first (Compost Heap, T-P11) — trainers model it; trainees lead from tomorrow.</a:t>
            </a:r>
          </a:p>
          <a:p/>
          <a:p>
            <a:r>
              <a:t>Poster: T-P09</a:t>
            </a:r>
          </a:p>
          <a:p>
            <a:r>
              <a:t>Picture T-IMG-06 (coming) — The poster studio: Seen from slightly above: trainees kneel and sit on a clean hall floor around large sheets of paper, drawing posters with thick markers. One sheet shows a pencilled bean plant with numbered circles; another person holds a finished poster up at arm's length while a partner stands far away checking it. Markers, rulers, Prestik and paper offcuts scattered. No readable letters anywhere — draw text areas as grey bars.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T-D1-S3 steps 2–3. Bad poster at 6 m first. Groups turn problems into rules; match to T-P09.</a:t>
            </a:r>
          </a:p>
          <a:p/>
          <a:p>
            <a:r>
              <a:t>Poster: T-P09</a:t>
            </a:r>
          </a:p>
          <a:p>
            <a:r>
              <a:t>Picture T-P09-ART (coming) — Artwork for T-P09 · A poster that teaches: A fence with a teaching poster hung on it by cable ties. The poster is drawn as a simple layout: a dark top band, a big clear drawing of a bean plant with three numbered ochre circles, a band of short grey bars where labels go (bars, not letters), and a thin bar at the bottom. On the ground, a line of six footprints leads away from the fence to a young man and a gogo standing about six metres away, both reading the poster easily, the gogo pointing at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T-D1-S3 steps 4–7. Pool A cards MT-01 to MT-10; each member a different card.</a:t>
            </a:r>
          </a:p>
          <a:p/>
          <a:p>
            <a:r>
              <a:t>Poster: T-P09</a:t>
            </a:r>
          </a:p>
          <a:p>
            <a:r>
              <a:t>Picture T-PHO-01 (coming) — Trainee-made posters: Take during the first run of this course, **with POPIA consent** from the makers: 3–4 hand-made trainee posters that follow T-P09 (≤ 25 words, big picture, numbered labels), photographed flat, straight on, in daylight, no people in frame. Until then, use T-IMG-06.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T-D1-S4 steps 1–4. Roles: teacher, observer (next teacher), timekeeper (last teacher). Lead models a</a:t>
            </a:r>
          </a:p>
          <a:p>
            <a:r>
              <a:t>5-minute teach (MT-03) first; co-trainer models the feedback.</a:t>
            </a:r>
          </a:p>
          <a:p/>
          <a:p>
            <a:r>
              <a:t>Poster: T-P03</a:t>
            </a:r>
          </a:p>
          <a:p>
            <a:r>
              <a:t>Picture T-IMG-05 (coming) — A micro-teach in a small circle: Five adults in a small circle of chairs in the corner of a hall. One young man (teaching) holds up a cut-open 2 ℓ bottle of soil while three peers lean forward, one pouring water. A fourth person, an older woman, sits slightly back with a clipboard, making tally marks (simple strokes). A second person holds up a small red card (the STOP card, no text). A hand-made poster is stuck to the wall behind them with Prestik.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T-D1-S4 step 3 and plenary. Build "Our teaching tips" after the round. Tick Poster on the Mode tracker.</a:t>
            </a:r>
          </a:p>
          <a:p/>
          <a:p>
            <a:r>
              <a:t>Poster: T-P10</a:t>
            </a:r>
          </a:p>
          <a:p>
            <a:r>
              <a:t>Picture T-P10-ART (coming) — Artwork for T-P10 · Two stars and a wish: A small group of four seated in a circle after a lesson. A young woman (the teacher) speaks first, hand open. Opposite her, an older man with a clipboard (the observer) speaks kindly; above him float two big Ochre star shapes and one Leaf-green sprouting seedling shape. The teacher, now with hand on heart, listens and nods. A third person smiles and holds up one finger (another star).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T-D1-SC. One word; stars and wish for today. Course craft 15 on the register; Mentor → Training</a:t>
            </a:r>
          </a:p>
          <a:p>
            <a:r>
              <a:t>shown if a device is there. Tomorrow: Round 2, 10 minutes, a new card, a written outcome.</a:t>
            </a:r>
          </a:p>
          <a:p/>
          <a:p>
            <a:r>
              <a:t>Poster: T-P16</a:t>
            </a:r>
          </a:p>
          <a:p>
            <a:r>
              <a:t>Picture T-IMG-15 (coming) — The register at the door: A small table at a hall doorway in the morning light. A young man signs a register on a clipboard (grid lines, no letters) while an older woman presses her thumb onto an ink pad to mark her name. A facilitator beside them holds name tags; a small sheet of green dot stickers sits on the table. A queue of three learners waits, chatting.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F3A33"/>
        </a:solidFill>
        <a:effectLst/>
      </p:bgPr>
    </p:bg>
    <p:spTree>
      <p:nvGrpSpPr>
        <p:cNvPr id="1" name=""/>
        <p:cNvGrpSpPr/>
        <p:nvPr/>
      </p:nvGrpSpPr>
      <p:grpSpPr/>
      <p:sp>
        <p:nvSpPr>
          <p:cNvPr id="2" name="Oval 1"/>
          <p:cNvSpPr/>
          <p:nvPr/>
        </p:nvSpPr>
        <p:spPr>
          <a:xfrm>
            <a:off x="-548640" y="4937760"/>
            <a:ext cx="5029200" cy="2377440"/>
          </a:xfrm>
          <a:prstGeom prst="ellipse">
            <a:avLst/>
          </a:prstGeom>
          <a:solidFill>
            <a:srgbClr val="F2EFE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077200" y="-731520"/>
            <a:ext cx="4754880" cy="2194560"/>
          </a:xfrm>
          <a:prstGeom prst="ellipse">
            <a:avLst/>
          </a:prstGeom>
          <a:solidFill>
            <a:srgbClr val="F2EFE6">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6272784"/>
            <a:ext cx="1316228" cy="266700"/>
          </a:xfrm>
          <a:prstGeom prst="roundRect">
            <a:avLst>
              <a:gd name="adj" fmla="val 50000"/>
            </a:avLst>
          </a:prstGeom>
          <a:noFill/>
          <a:ln w="15875">
            <a:solidFill>
              <a:srgbClr val="F2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F2EFE6"/>
                </a:solidFill>
                <a:latin typeface="Trebuchet MS"/>
              </a:rPr>
              <a:t>IPHOSTA T-P01</a:t>
            </a:r>
          </a:p>
        </p:txBody>
      </p:sp>
      <p:sp>
        <p:nvSpPr>
          <p:cNvPr id="6" name="TextBox 5"/>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A4A79E"/>
                </a:solidFill>
                <a:latin typeface="Trebuchet MS"/>
              </a:rPr>
              <a:t>Teach the Teachers  ·  T-D1-01</a:t>
            </a:r>
          </a:p>
        </p:txBody>
      </p:sp>
      <p:sp>
        <p:nvSpPr>
          <p:cNvPr id="7" name="TextBox 6"/>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A4A79E"/>
                </a:solidFill>
                <a:latin typeface="Trebuchet MS"/>
              </a:rPr>
              <a:t>1 / 18</a:t>
            </a:r>
          </a:p>
        </p:txBody>
      </p:sp>
      <p:sp>
        <p:nvSpPr>
          <p:cNvPr id="8" name="TextBox 7"/>
          <p:cNvSpPr txBox="1"/>
          <p:nvPr/>
        </p:nvSpPr>
        <p:spPr>
          <a:xfrm>
            <a:off x="822960" y="960120"/>
            <a:ext cx="6400800" cy="365760"/>
          </a:xfrm>
          <a:prstGeom prst="rect">
            <a:avLst/>
          </a:prstGeom>
          <a:noFill/>
        </p:spPr>
        <p:txBody>
          <a:bodyPr wrap="square" anchor="t" lIns="45720" rIns="45720" tIns="0" bIns="0">
            <a:spAutoFit/>
          </a:bodyPr>
          <a:lstStyle/>
          <a:p>
            <a:pPr algn="l">
              <a:spcAft>
                <a:spcPts val="800"/>
              </a:spcAft>
            </a:pPr>
            <a:r>
              <a:rPr sz="1600" b="1">
                <a:solidFill>
                  <a:srgbClr val="C1C2B9"/>
                </a:solidFill>
                <a:latin typeface="Trebuchet MS"/>
              </a:rPr>
              <a:t>USUKU 1</a:t>
            </a:r>
          </a:p>
        </p:txBody>
      </p:sp>
      <p:sp>
        <p:nvSpPr>
          <p:cNvPr id="9" name="TextBox 8"/>
          <p:cNvSpPr txBox="1"/>
          <p:nvPr/>
        </p:nvSpPr>
        <p:spPr>
          <a:xfrm>
            <a:off x="822960" y="1371600"/>
            <a:ext cx="6400800" cy="2103120"/>
          </a:xfrm>
          <a:prstGeom prst="rect">
            <a:avLst/>
          </a:prstGeom>
          <a:noFill/>
        </p:spPr>
        <p:txBody>
          <a:bodyPr wrap="square" anchor="b" lIns="45720" rIns="45720" tIns="0" bIns="0">
            <a:spAutoFit/>
          </a:bodyPr>
          <a:lstStyle/>
          <a:p>
            <a:pPr algn="l">
              <a:lnSpc>
                <a:spcPct val="95000"/>
              </a:lnSpc>
              <a:spcAft>
                <a:spcPts val="800"/>
              </a:spcAft>
            </a:pPr>
            <a:r>
              <a:rPr sz="5400" b="1">
                <a:solidFill>
                  <a:srgbClr val="F2EFE6"/>
                </a:solidFill>
                <a:latin typeface="Segoe Print"/>
              </a:rPr>
              <a:t>Siyanamukela</a:t>
            </a:r>
          </a:p>
        </p:txBody>
      </p:sp>
      <p:sp>
        <p:nvSpPr>
          <p:cNvPr id="10" name="Rectangle 9"/>
          <p:cNvSpPr/>
          <p:nvPr/>
        </p:nvSpPr>
        <p:spPr>
          <a:xfrm rot="21552000">
            <a:off x="822960" y="3639312"/>
            <a:ext cx="256032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931920"/>
            <a:ext cx="6400800" cy="1645920"/>
          </a:xfrm>
          <a:prstGeom prst="rect">
            <a:avLst/>
          </a:prstGeom>
          <a:noFill/>
        </p:spPr>
        <p:txBody>
          <a:bodyPr wrap="square" anchor="t" lIns="45720" rIns="45720" tIns="0" bIns="0">
            <a:spAutoFit/>
          </a:bodyPr>
          <a:lstStyle/>
          <a:p>
            <a:pPr algn="l">
              <a:spcAft>
                <a:spcPts val="800"/>
              </a:spcAft>
            </a:pPr>
            <a:r>
              <a:rPr sz="2400" b="0">
                <a:solidFill>
                  <a:srgbClr val="D5D4CB"/>
                </a:solidFill>
                <a:latin typeface="Trebuchet MS"/>
              </a:rPr>
              <a:t>Teach the Teachers (Fundisa Abafundisi)</a:t>
            </a:r>
          </a:p>
          <a:p>
            <a:pPr algn="l">
              <a:spcAft>
                <a:spcPts val="800"/>
              </a:spcAft>
            </a:pPr>
            <a:r>
              <a:rPr sz="2400" b="0">
                <a:solidFill>
                  <a:srgbClr val="D5D4CB"/>
                </a:solidFill>
                <a:latin typeface="Trebuchet MS"/>
              </a:rPr>
              <a:t>Usuku 1 kwezi-5 · Abafundi kuqala</a:t>
            </a:r>
          </a:p>
        </p:txBody>
      </p:sp>
      <p:sp>
        <p:nvSpPr>
          <p:cNvPr id="12" name="Rectangle 11"/>
          <p:cNvSpPr/>
          <p:nvPr/>
        </p:nvSpPr>
        <p:spPr>
          <a:xfrm rot="21528000">
            <a:off x="7452360" y="914400"/>
            <a:ext cx="4114800" cy="42062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20520000">
            <a:off x="768096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rot="840000">
            <a:off x="1051560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098280" y="205740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205740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7" name="TextBox 16"/>
          <p:cNvSpPr txBox="1"/>
          <p:nvPr/>
        </p:nvSpPr>
        <p:spPr>
          <a:xfrm>
            <a:off x="7909560" y="3063240"/>
            <a:ext cx="320040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 learning circle under a tree</a:t>
            </a:r>
          </a:p>
        </p:txBody>
      </p:sp>
      <p:sp>
        <p:nvSpPr>
          <p:cNvPr id="18" name="TextBox 17"/>
          <p:cNvSpPr txBox="1"/>
          <p:nvPr/>
        </p:nvSpPr>
        <p:spPr>
          <a:xfrm>
            <a:off x="7909560" y="4480560"/>
            <a:ext cx="320040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ISITHOMBE · T-IMG-01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T-P01</a:t>
            </a:r>
          </a:p>
        </p:txBody>
      </p:sp>
      <p:sp>
        <p:nvSpPr>
          <p:cNvPr id="5" name="TextBox 4"/>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T-D1-02</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2 / 18</a:t>
            </a:r>
          </a:p>
        </p:txBody>
      </p:sp>
      <p:sp>
        <p:nvSpPr>
          <p:cNvPr id="7" name="Rounded Rectangle 6"/>
          <p:cNvSpPr/>
          <p:nvPr/>
        </p:nvSpPr>
        <p:spPr>
          <a:xfrm>
            <a:off x="731520" y="457200"/>
            <a:ext cx="1213866" cy="346710"/>
          </a:xfrm>
          <a:prstGeom prst="roundRect">
            <a:avLst>
              <a:gd name="adj" fmla="val 50000"/>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Trebuchet MS"/>
              </a:rPr>
              <a:t>SEBENZANI</a:t>
            </a:r>
          </a:p>
        </p:txBody>
      </p:sp>
      <p:sp>
        <p:nvSpPr>
          <p:cNvPr id="9" name="TextBox 8"/>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Igama nento</a:t>
            </a:r>
          </a:p>
        </p:txBody>
      </p:sp>
      <p:sp>
        <p:nvSpPr>
          <p:cNvPr id="10" name="Rectangle 9"/>
          <p:cNvSpPr/>
          <p:nvPr/>
        </p:nvSpPr>
        <p:spPr>
          <a:xfrm rot="21552000">
            <a:off x="777240" y="1694688"/>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rot="36000">
            <a:off x="1051560" y="1786128"/>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1</a:t>
            </a:r>
          </a:p>
        </p:txBody>
      </p:sp>
      <p:sp>
        <p:nvSpPr>
          <p:cNvPr id="14" name="TextBox 13"/>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Igama lenu, lapho nisebenza khona</a:t>
            </a:r>
          </a:p>
        </p:txBody>
      </p:sp>
      <p:sp>
        <p:nvSpPr>
          <p:cNvPr id="15" name="Oval 14"/>
          <p:cNvSpPr/>
          <p:nvPr/>
        </p:nvSpPr>
        <p:spPr>
          <a:xfrm>
            <a:off x="731520" y="305612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2</a:t>
            </a:r>
          </a:p>
        </p:txBody>
      </p:sp>
      <p:sp>
        <p:nvSpPr>
          <p:cNvPr id="17" name="TextBox 16"/>
          <p:cNvSpPr txBox="1"/>
          <p:nvPr/>
        </p:nvSpPr>
        <p:spPr>
          <a:xfrm>
            <a:off x="1508760" y="310184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Into eyodwa eningafundisa ngayo</a:t>
            </a:r>
          </a:p>
        </p:txBody>
      </p:sp>
      <p:sp>
        <p:nvSpPr>
          <p:cNvPr id="18" name="Oval 17"/>
          <p:cNvSpPr/>
          <p:nvPr/>
        </p:nvSpPr>
        <p:spPr>
          <a:xfrm>
            <a:off x="731520" y="405180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05180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3</a:t>
            </a:r>
          </a:p>
        </p:txBody>
      </p:sp>
      <p:sp>
        <p:nvSpPr>
          <p:cNvPr id="20" name="TextBox 19"/>
          <p:cNvSpPr txBox="1"/>
          <p:nvPr/>
        </p:nvSpPr>
        <p:spPr>
          <a:xfrm>
            <a:off x="1508760" y="409752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Imizuzwana 30 ngamunye</a:t>
            </a:r>
          </a:p>
        </p:txBody>
      </p:sp>
      <p:sp>
        <p:nvSpPr>
          <p:cNvPr id="21" name="Rectangle 20"/>
          <p:cNvSpPr/>
          <p:nvPr/>
        </p:nvSpPr>
        <p:spPr>
          <a:xfrm rot="21528000">
            <a:off x="5989320" y="1969008"/>
            <a:ext cx="5608320" cy="3974592"/>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rot="20520000">
            <a:off x="621792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rot="840000">
            <a:off x="1054608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82000" y="2996184"/>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26" name="TextBox 25"/>
          <p:cNvSpPr txBox="1"/>
          <p:nvPr/>
        </p:nvSpPr>
        <p:spPr>
          <a:xfrm>
            <a:off x="6446520" y="4002024"/>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 micro-teach in a small circle</a:t>
            </a:r>
          </a:p>
        </p:txBody>
      </p:sp>
      <p:sp>
        <p:nvSpPr>
          <p:cNvPr id="27" name="TextBox 2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ISITHOMBE · T-IMG-05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T-P01</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T-D1-03</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3 / 18</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USUKU 1</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Isivumelwano sethu sokufunda</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Imithetho emithathu esisiza ukufunda</a:t>
            </a:r>
          </a:p>
          <a:p>
            <a:pPr algn="l" marL="412750" indent="-412750">
              <a:spcAft>
                <a:spcPts val="1800"/>
              </a:spcAft>
            </a:pPr>
            <a:r>
              <a:rPr sz="2600" b="1">
                <a:solidFill>
                  <a:srgbClr val="D2452C"/>
                </a:solidFill>
                <a:latin typeface="Trebuchet MS"/>
              </a:rPr>
              <a:t>›  </a:t>
            </a:r>
            <a:r>
              <a:rPr sz="2600" b="0">
                <a:solidFill>
                  <a:srgbClr val="1C1C1C"/>
                </a:solidFill>
                <a:latin typeface="Trebuchet MS"/>
              </a:rPr>
              <a:t>Umqondo owodwa ku-sticky note</a:t>
            </a:r>
          </a:p>
          <a:p>
            <a:pPr algn="l" marL="412750" indent="-412750">
              <a:spcAft>
                <a:spcPts val="1800"/>
              </a:spcAft>
            </a:pPr>
            <a:r>
              <a:rPr sz="2600" b="1">
                <a:solidFill>
                  <a:srgbClr val="D2452C"/>
                </a:solidFill>
                <a:latin typeface="Trebuchet MS"/>
              </a:rPr>
              <a:t>›  </a:t>
            </a:r>
            <a:r>
              <a:rPr sz="2600" b="0">
                <a:solidFill>
                  <a:srgbClr val="1C1C1C"/>
                </a:solidFill>
                <a:latin typeface="Trebuchet MS"/>
              </a:rPr>
              <a:t>Sisenzile, siyasigcina</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T-P01 · Our learning agreement</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T-P01-ART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T-P02</a:t>
            </a:r>
          </a:p>
        </p:txBody>
      </p:sp>
      <p:sp>
        <p:nvSpPr>
          <p:cNvPr id="5" name="TextBox 4"/>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T-D1-04</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4 / 18</a:t>
            </a:r>
          </a:p>
        </p:txBody>
      </p:sp>
      <p:sp>
        <p:nvSpPr>
          <p:cNvPr id="7" name="Rounded Rectangle 6"/>
          <p:cNvSpPr/>
          <p:nvPr/>
        </p:nvSpPr>
        <p:spPr>
          <a:xfrm>
            <a:off x="731520" y="457200"/>
            <a:ext cx="1213866" cy="346710"/>
          </a:xfrm>
          <a:prstGeom prst="roundRect">
            <a:avLst>
              <a:gd name="adj" fmla="val 50000"/>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Trebuchet MS"/>
              </a:rPr>
              <a:t>SEBENZANI</a:t>
            </a:r>
          </a:p>
        </p:txBody>
      </p:sp>
      <p:sp>
        <p:nvSpPr>
          <p:cNvPr id="9" name="TextBox 8"/>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Uthisha wakho ongcono kakhulu</a:t>
            </a:r>
          </a:p>
        </p:txBody>
      </p:sp>
      <p:sp>
        <p:nvSpPr>
          <p:cNvPr id="10" name="Rectangle 9"/>
          <p:cNvSpPr/>
          <p:nvPr/>
        </p:nvSpPr>
        <p:spPr>
          <a:xfrm rot="21552000">
            <a:off x="777240" y="1694688"/>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rot="36000">
            <a:off x="1051560" y="1786128"/>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1</a:t>
            </a:r>
          </a:p>
        </p:txBody>
      </p:sp>
      <p:sp>
        <p:nvSpPr>
          <p:cNvPr id="14" name="TextBox 13"/>
          <p:cNvSpPr txBox="1"/>
          <p:nvPr/>
        </p:nvSpPr>
        <p:spPr>
          <a:xfrm>
            <a:off x="1508760" y="2106168"/>
            <a:ext cx="4160520" cy="1274064"/>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Uthisha ongcono kakhulu owake waba naye</a:t>
            </a:r>
          </a:p>
        </p:txBody>
      </p:sp>
      <p:sp>
        <p:nvSpPr>
          <p:cNvPr id="15" name="Oval 14"/>
          <p:cNvSpPr/>
          <p:nvPr/>
        </p:nvSpPr>
        <p:spPr>
          <a:xfrm>
            <a:off x="731520" y="3425952"/>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425952"/>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2</a:t>
            </a:r>
          </a:p>
        </p:txBody>
      </p:sp>
      <p:sp>
        <p:nvSpPr>
          <p:cNvPr id="17" name="TextBox 16"/>
          <p:cNvSpPr txBox="1"/>
          <p:nvPr/>
        </p:nvSpPr>
        <p:spPr>
          <a:xfrm>
            <a:off x="1508760" y="3471672"/>
            <a:ext cx="4160520" cy="621792"/>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Wenzani?</a:t>
            </a:r>
          </a:p>
        </p:txBody>
      </p:sp>
      <p:sp>
        <p:nvSpPr>
          <p:cNvPr id="18" name="Oval 17"/>
          <p:cNvSpPr/>
          <p:nvPr/>
        </p:nvSpPr>
        <p:spPr>
          <a:xfrm>
            <a:off x="731520" y="4139184"/>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139184"/>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3</a:t>
            </a:r>
          </a:p>
        </p:txBody>
      </p:sp>
      <p:sp>
        <p:nvSpPr>
          <p:cNvPr id="20" name="TextBox 19"/>
          <p:cNvSpPr txBox="1"/>
          <p:nvPr/>
        </p:nvSpPr>
        <p:spPr>
          <a:xfrm>
            <a:off x="1508760" y="4184904"/>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Ngababili, imizuzu 3</a:t>
            </a:r>
          </a:p>
        </p:txBody>
      </p:sp>
      <p:sp>
        <p:nvSpPr>
          <p:cNvPr id="21" name="Rectangle 20"/>
          <p:cNvSpPr/>
          <p:nvPr/>
        </p:nvSpPr>
        <p:spPr>
          <a:xfrm rot="21528000">
            <a:off x="5989320" y="1969008"/>
            <a:ext cx="5608320" cy="3974592"/>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rot="20520000">
            <a:off x="621792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rot="840000">
            <a:off x="1054608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82000" y="2996184"/>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26" name="TextBox 25"/>
          <p:cNvSpPr txBox="1"/>
          <p:nvPr/>
        </p:nvSpPr>
        <p:spPr>
          <a:xfrm>
            <a:off x="6446520" y="4002024"/>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 learning circle under a tree</a:t>
            </a:r>
          </a:p>
        </p:txBody>
      </p:sp>
      <p:sp>
        <p:nvSpPr>
          <p:cNvPr id="27" name="TextBox 2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ISITHOMBE · T-IMG-01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T-P02</a:t>
            </a:r>
          </a:p>
        </p:txBody>
      </p:sp>
      <p:sp>
        <p:nvSpPr>
          <p:cNvPr id="5" name="TextBox 4"/>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T-D1-05</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5 / 18</a:t>
            </a:r>
          </a:p>
        </p:txBody>
      </p:sp>
      <p:sp>
        <p:nvSpPr>
          <p:cNvPr id="7" name="Rounded Rectangle 6"/>
          <p:cNvSpPr/>
          <p:nvPr/>
        </p:nvSpPr>
        <p:spPr>
          <a:xfrm>
            <a:off x="731520" y="457200"/>
            <a:ext cx="1213866" cy="346710"/>
          </a:xfrm>
          <a:prstGeom prst="roundRect">
            <a:avLst>
              <a:gd name="adj" fmla="val 50000"/>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Trebuchet MS"/>
              </a:rPr>
              <a:t>SEBENZANI</a:t>
            </a:r>
          </a:p>
        </p:txBody>
      </p:sp>
      <p:sp>
        <p:nvSpPr>
          <p:cNvPr id="9" name="TextBox 8"/>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Songani imvilophu yembewu</a:t>
            </a:r>
          </a:p>
        </p:txBody>
      </p:sp>
      <p:sp>
        <p:nvSpPr>
          <p:cNvPr id="10" name="Rectangle 9"/>
          <p:cNvSpPr/>
          <p:nvPr/>
        </p:nvSpPr>
        <p:spPr>
          <a:xfrm rot="21552000">
            <a:off x="777240" y="1694688"/>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rot="36000">
            <a:off x="1051560" y="1786128"/>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1</a:t>
            </a:r>
          </a:p>
        </p:txBody>
      </p:sp>
      <p:sp>
        <p:nvSpPr>
          <p:cNvPr id="14" name="TextBox 13"/>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Igumbi A: tshela kuphela</a:t>
            </a:r>
          </a:p>
        </p:txBody>
      </p:sp>
      <p:sp>
        <p:nvSpPr>
          <p:cNvPr id="15" name="Oval 14"/>
          <p:cNvSpPr/>
          <p:nvPr/>
        </p:nvSpPr>
        <p:spPr>
          <a:xfrm>
            <a:off x="731520" y="305612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2</a:t>
            </a:r>
          </a:p>
        </p:txBody>
      </p:sp>
      <p:sp>
        <p:nvSpPr>
          <p:cNvPr id="17" name="TextBox 16"/>
          <p:cNvSpPr txBox="1"/>
          <p:nvPr/>
        </p:nvSpPr>
        <p:spPr>
          <a:xfrm>
            <a:off x="1508760" y="310184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Ngaphandle: bonisa bese bezama</a:t>
            </a:r>
          </a:p>
        </p:txBody>
      </p:sp>
      <p:sp>
        <p:nvSpPr>
          <p:cNvPr id="18" name="Oval 17"/>
          <p:cNvSpPr/>
          <p:nvPr/>
        </p:nvSpPr>
        <p:spPr>
          <a:xfrm>
            <a:off x="731520" y="405180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05180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3</a:t>
            </a:r>
          </a:p>
        </p:txBody>
      </p:sp>
      <p:sp>
        <p:nvSpPr>
          <p:cNvPr id="20" name="TextBox 19"/>
          <p:cNvSpPr txBox="1"/>
          <p:nvPr/>
        </p:nvSpPr>
        <p:spPr>
          <a:xfrm>
            <a:off x="1508760" y="409752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Qhathanisani izimvilophu zenu</a:t>
            </a:r>
          </a:p>
        </p:txBody>
      </p:sp>
      <p:sp>
        <p:nvSpPr>
          <p:cNvPr id="21" name="Rectangle 20"/>
          <p:cNvSpPr/>
          <p:nvPr/>
        </p:nvSpPr>
        <p:spPr>
          <a:xfrm rot="21528000">
            <a:off x="5989320" y="1969008"/>
            <a:ext cx="5608320" cy="3974592"/>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rot="20520000">
            <a:off x="621792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rot="840000">
            <a:off x="1054608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82000" y="2996184"/>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26" name="TextBox 25"/>
          <p:cNvSpPr txBox="1"/>
          <p:nvPr/>
        </p:nvSpPr>
        <p:spPr>
          <a:xfrm>
            <a:off x="6446520" y="4002024"/>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The poster studio</a:t>
            </a:r>
          </a:p>
        </p:txBody>
      </p:sp>
      <p:sp>
        <p:nvSpPr>
          <p:cNvPr id="27" name="TextBox 2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ISITHOMBE · T-IMG-06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T-P02</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T-D1-06</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6 / 18</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USUKU 1</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Abantu abadala bafunda kanjani</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Yenza · Buka emuva</a:t>
            </a:r>
          </a:p>
          <a:p>
            <a:pPr algn="l" marL="412750" indent="-412750">
              <a:spcAft>
                <a:spcPts val="1800"/>
              </a:spcAft>
            </a:pPr>
            <a:r>
              <a:rPr sz="2600" b="1">
                <a:solidFill>
                  <a:srgbClr val="D2452C"/>
                </a:solidFill>
                <a:latin typeface="Trebuchet MS"/>
              </a:rPr>
              <a:t>›  </a:t>
            </a:r>
            <a:r>
              <a:rPr sz="2600" b="0">
                <a:solidFill>
                  <a:srgbClr val="1C1C1C"/>
                </a:solidFill>
                <a:latin typeface="Trebuchet MS"/>
              </a:rPr>
              <a:t>Qonda · Kusebenzise</a:t>
            </a:r>
          </a:p>
          <a:p>
            <a:pPr algn="l" marL="412750" indent="-412750">
              <a:spcAft>
                <a:spcPts val="1800"/>
              </a:spcAft>
            </a:pPr>
            <a:r>
              <a:rPr sz="2600" b="1">
                <a:solidFill>
                  <a:srgbClr val="D2452C"/>
                </a:solidFill>
                <a:latin typeface="Trebuchet MS"/>
              </a:rPr>
              <a:t>›  </a:t>
            </a:r>
            <a:r>
              <a:rPr sz="2600" b="0">
                <a:solidFill>
                  <a:srgbClr val="1C1C1C"/>
                </a:solidFill>
                <a:latin typeface="Trebuchet MS"/>
              </a:rPr>
              <a:t>Zungeza lonke isiyingi</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82000" y="2918460"/>
            <a:ext cx="822960" cy="822960"/>
          </a:xfrm>
          <a:prstGeom prst="ellipse">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The learning cycle</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IVIDIYO · T-ANI-01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T-P03</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T-D1-07</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7 / 18</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USUKU 1</a:t>
            </a:r>
          </a:p>
        </p:txBody>
      </p:sp>
      <p:sp>
        <p:nvSpPr>
          <p:cNvPr id="7" name="TextBox 6"/>
          <p:cNvSpPr txBox="1"/>
          <p:nvPr/>
        </p:nvSpPr>
        <p:spPr>
          <a:xfrm>
            <a:off x="594360" y="804672"/>
            <a:ext cx="11003280" cy="571500"/>
          </a:xfrm>
          <a:prstGeom prst="rect">
            <a:avLst/>
          </a:prstGeom>
          <a:noFill/>
        </p:spPr>
        <p:txBody>
          <a:bodyPr wrap="square" anchor="t" lIns="45720" rIns="45720" tIns="0" bIns="0">
            <a:spAutoFit/>
          </a:bodyPr>
          <a:lstStyle/>
          <a:p>
            <a:pPr algn="l">
              <a:lnSpc>
                <a:spcPct val="95000"/>
              </a:lnSpc>
              <a:spcAft>
                <a:spcPts val="800"/>
              </a:spcAft>
            </a:pPr>
            <a:r>
              <a:rPr sz="3600" b="1">
                <a:solidFill>
                  <a:srgbClr val="1C1C1C"/>
                </a:solidFill>
                <a:latin typeface="Segoe Print"/>
              </a:rPr>
              <a:t>Buka · Zama · Khuluma · Hamba nakho</a:t>
            </a:r>
          </a:p>
        </p:txBody>
      </p:sp>
      <p:sp>
        <p:nvSpPr>
          <p:cNvPr id="8" name="Rectangle 7"/>
          <p:cNvSpPr/>
          <p:nvPr/>
        </p:nvSpPr>
        <p:spPr>
          <a:xfrm rot="21552000">
            <a:off x="640080" y="148590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57734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851660"/>
            <a:ext cx="5074920" cy="413766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Baheheni · Izandla emsebenzini</a:t>
            </a:r>
          </a:p>
          <a:p>
            <a:pPr algn="l" marL="412750" indent="-412750">
              <a:spcAft>
                <a:spcPts val="1800"/>
              </a:spcAft>
            </a:pPr>
            <a:r>
              <a:rPr sz="2600" b="1">
                <a:solidFill>
                  <a:srgbClr val="D2452C"/>
                </a:solidFill>
                <a:latin typeface="Trebuchet MS"/>
              </a:rPr>
              <a:t>›  </a:t>
            </a:r>
            <a:r>
              <a:rPr sz="2600" b="0">
                <a:solidFill>
                  <a:srgbClr val="1C1C1C"/>
                </a:solidFill>
                <a:latin typeface="Trebuchet MS"/>
              </a:rPr>
              <a:t>Imibuzo emithathu · Isenzo esisodwa</a:t>
            </a:r>
          </a:p>
          <a:p>
            <a:pPr algn="l" marL="412750" indent="-412750">
              <a:spcAft>
                <a:spcPts val="1800"/>
              </a:spcAft>
            </a:pPr>
            <a:r>
              <a:rPr sz="2600" b="1">
                <a:solidFill>
                  <a:srgbClr val="D2452C"/>
                </a:solidFill>
                <a:latin typeface="Trebuchet MS"/>
              </a:rPr>
              <a:t>›  </a:t>
            </a:r>
            <a:r>
              <a:rPr sz="2600" b="0">
                <a:solidFill>
                  <a:srgbClr val="1C1C1C"/>
                </a:solidFill>
                <a:latin typeface="Trebuchet MS"/>
              </a:rPr>
              <a:t>Ukuzama kuza kuqala</a:t>
            </a:r>
          </a:p>
        </p:txBody>
      </p:sp>
      <p:sp>
        <p:nvSpPr>
          <p:cNvPr id="11" name="Rectangle 10"/>
          <p:cNvSpPr/>
          <p:nvPr/>
        </p:nvSpPr>
        <p:spPr>
          <a:xfrm rot="21528000">
            <a:off x="5989320" y="1760220"/>
            <a:ext cx="5608320" cy="418338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3220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3220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89179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89179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89763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T-P03 · Every lesson: Look · Try · Talk · Take home</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T-P03-ART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F3A33"/>
        </a:solidFill>
        <a:effectLst/>
      </p:bgPr>
    </p:bg>
    <p:spTree>
      <p:nvGrpSpPr>
        <p:cNvPr id="1" name=""/>
        <p:cNvGrpSpPr/>
        <p:nvPr/>
      </p:nvGrpSpPr>
      <p:grpSpPr/>
      <p:sp>
        <p:nvSpPr>
          <p:cNvPr id="2" name="Oval 1"/>
          <p:cNvSpPr/>
          <p:nvPr/>
        </p:nvSpPr>
        <p:spPr>
          <a:xfrm>
            <a:off x="-548640" y="4937760"/>
            <a:ext cx="5029200" cy="2377440"/>
          </a:xfrm>
          <a:prstGeom prst="ellipse">
            <a:avLst/>
          </a:prstGeom>
          <a:solidFill>
            <a:srgbClr val="F2EFE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077200" y="-731520"/>
            <a:ext cx="4754880" cy="2194560"/>
          </a:xfrm>
          <a:prstGeom prst="ellipse">
            <a:avLst/>
          </a:prstGeom>
          <a:solidFill>
            <a:srgbClr val="F2EFE6">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6272784"/>
            <a:ext cx="1316228" cy="266700"/>
          </a:xfrm>
          <a:prstGeom prst="roundRect">
            <a:avLst>
              <a:gd name="adj" fmla="val 50000"/>
            </a:avLst>
          </a:prstGeom>
          <a:noFill/>
          <a:ln w="15875">
            <a:solidFill>
              <a:srgbClr val="F2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F2EFE6"/>
                </a:solidFill>
                <a:latin typeface="Trebuchet MS"/>
              </a:rPr>
              <a:t>IPHOSTA T-P04</a:t>
            </a:r>
          </a:p>
        </p:txBody>
      </p:sp>
      <p:sp>
        <p:nvSpPr>
          <p:cNvPr id="6" name="TextBox 5"/>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A4A79E"/>
                </a:solidFill>
                <a:latin typeface="Trebuchet MS"/>
              </a:rPr>
              <a:t>Teach the Teachers  ·  T-D1-08</a:t>
            </a:r>
          </a:p>
        </p:txBody>
      </p:sp>
      <p:sp>
        <p:nvSpPr>
          <p:cNvPr id="7" name="TextBox 6"/>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A4A79E"/>
                </a:solidFill>
                <a:latin typeface="Trebuchet MS"/>
              </a:rPr>
              <a:t>8 / 18</a:t>
            </a:r>
          </a:p>
        </p:txBody>
      </p:sp>
      <p:sp>
        <p:nvSpPr>
          <p:cNvPr id="8" name="TextBox 7"/>
          <p:cNvSpPr txBox="1"/>
          <p:nvPr/>
        </p:nvSpPr>
        <p:spPr>
          <a:xfrm>
            <a:off x="822960" y="960120"/>
            <a:ext cx="6400800" cy="365760"/>
          </a:xfrm>
          <a:prstGeom prst="rect">
            <a:avLst/>
          </a:prstGeom>
          <a:noFill/>
        </p:spPr>
        <p:txBody>
          <a:bodyPr wrap="square" anchor="t" lIns="45720" rIns="45720" tIns="0" bIns="0">
            <a:spAutoFit/>
          </a:bodyPr>
          <a:lstStyle/>
          <a:p>
            <a:pPr algn="l">
              <a:spcAft>
                <a:spcPts val="800"/>
              </a:spcAft>
            </a:pPr>
            <a:r>
              <a:rPr sz="1600" b="1">
                <a:solidFill>
                  <a:srgbClr val="C1C2B9"/>
                </a:solidFill>
                <a:latin typeface="Trebuchet MS"/>
              </a:rPr>
              <a:t>USUKU 1</a:t>
            </a:r>
          </a:p>
        </p:txBody>
      </p:sp>
      <p:sp>
        <p:nvSpPr>
          <p:cNvPr id="9" name="TextBox 8"/>
          <p:cNvSpPr txBox="1"/>
          <p:nvPr/>
        </p:nvSpPr>
        <p:spPr>
          <a:xfrm>
            <a:off x="822960" y="1371600"/>
            <a:ext cx="6400800" cy="2103120"/>
          </a:xfrm>
          <a:prstGeom prst="rect">
            <a:avLst/>
          </a:prstGeom>
          <a:noFill/>
        </p:spPr>
        <p:txBody>
          <a:bodyPr wrap="square" anchor="b" lIns="45720" rIns="45720" tIns="0" bIns="0">
            <a:spAutoFit/>
          </a:bodyPr>
          <a:lstStyle/>
          <a:p>
            <a:pPr algn="l">
              <a:lnSpc>
                <a:spcPct val="95000"/>
              </a:lnSpc>
              <a:spcAft>
                <a:spcPts val="800"/>
              </a:spcAft>
            </a:pPr>
            <a:r>
              <a:rPr sz="5400" b="1">
                <a:solidFill>
                  <a:srgbClr val="F2EFE6"/>
                </a:solidFill>
                <a:latin typeface="Segoe Print"/>
              </a:rPr>
              <a:t>Isifundo esiyisibonelo</a:t>
            </a:r>
          </a:p>
        </p:txBody>
      </p:sp>
      <p:sp>
        <p:nvSpPr>
          <p:cNvPr id="10" name="Rectangle 9"/>
          <p:cNvSpPr/>
          <p:nvPr/>
        </p:nvSpPr>
        <p:spPr>
          <a:xfrm rot="21552000">
            <a:off x="822960" y="3639312"/>
            <a:ext cx="256032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931920"/>
            <a:ext cx="6400800" cy="1645920"/>
          </a:xfrm>
          <a:prstGeom prst="rect">
            <a:avLst/>
          </a:prstGeom>
          <a:noFill/>
        </p:spPr>
        <p:txBody>
          <a:bodyPr wrap="square" anchor="t" lIns="45720" rIns="45720" tIns="0" bIns="0">
            <a:spAutoFit/>
          </a:bodyPr>
          <a:lstStyle/>
          <a:p>
            <a:pPr algn="l">
              <a:spcAft>
                <a:spcPts val="800"/>
              </a:spcAft>
            </a:pPr>
            <a:r>
              <a:rPr sz="2400" b="0">
                <a:solidFill>
                  <a:srgbClr val="D5D4CB"/>
                </a:solidFill>
                <a:latin typeface="Trebuchet MS"/>
              </a:rPr>
              <a:t>Manje ningabalimi</a:t>
            </a:r>
          </a:p>
          <a:p>
            <a:pPr algn="l">
              <a:spcAft>
                <a:spcPts val="800"/>
              </a:spcAft>
            </a:pPr>
            <a:r>
              <a:rPr sz="2400" b="0">
                <a:solidFill>
                  <a:srgbClr val="D5D4CB"/>
                </a:solidFill>
                <a:latin typeface="Trebuchet MS"/>
              </a:rPr>
              <a:t>Ababhali: balani ukukhuluma kukathisha</a:t>
            </a:r>
          </a:p>
        </p:txBody>
      </p:sp>
      <p:sp>
        <p:nvSpPr>
          <p:cNvPr id="12" name="Rectangle 11"/>
          <p:cNvSpPr/>
          <p:nvPr/>
        </p:nvSpPr>
        <p:spPr>
          <a:xfrm rot="21528000">
            <a:off x="7452360" y="914400"/>
            <a:ext cx="4114800" cy="42062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20520000">
            <a:off x="768096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rot="840000">
            <a:off x="1051560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098280" y="205740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205740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7" name="TextBox 16"/>
          <p:cNvSpPr txBox="1"/>
          <p:nvPr/>
        </p:nvSpPr>
        <p:spPr>
          <a:xfrm>
            <a:off x="7909560" y="3063240"/>
            <a:ext cx="320040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The register at the door</a:t>
            </a:r>
          </a:p>
        </p:txBody>
      </p:sp>
      <p:sp>
        <p:nvSpPr>
          <p:cNvPr id="18" name="TextBox 17"/>
          <p:cNvSpPr txBox="1"/>
          <p:nvPr/>
        </p:nvSpPr>
        <p:spPr>
          <a:xfrm>
            <a:off x="7909560" y="4480560"/>
            <a:ext cx="320040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ISITHOMBE · T-IMG-15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F-P03</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T-D1-09</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9 / 18</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USUKU 1</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Izingadi ezimbili</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Yini ehlukile eniyibonayo?</a:t>
            </a:r>
          </a:p>
          <a:p>
            <a:pPr algn="l" marL="412750" indent="-412750">
              <a:spcAft>
                <a:spcPts val="1800"/>
              </a:spcAft>
            </a:pPr>
            <a:r>
              <a:rPr sz="2600" b="1">
                <a:solidFill>
                  <a:srgbClr val="D2452C"/>
                </a:solidFill>
                <a:latin typeface="Trebuchet MS"/>
              </a:rPr>
              <a:t>›  </a:t>
            </a:r>
            <a:r>
              <a:rPr sz="2600" b="0">
                <a:solidFill>
                  <a:srgbClr val="1C1C1C"/>
                </a:solidFill>
                <a:latin typeface="Trebuchet MS"/>
              </a:rPr>
              <a:t>Iyiphi ezonondla esomisweni?</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82000" y="2918460"/>
            <a:ext cx="822960" cy="822960"/>
          </a:xfrm>
          <a:prstGeom prst="ellipse">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Diversity</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IVIDIYO · T-ANI-12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T-P19</a:t>
            </a:r>
          </a:p>
        </p:txBody>
      </p:sp>
      <p:sp>
        <p:nvSpPr>
          <p:cNvPr id="5" name="TextBox 4"/>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T-D1-10</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10 / 18</a:t>
            </a:r>
          </a:p>
        </p:txBody>
      </p:sp>
      <p:sp>
        <p:nvSpPr>
          <p:cNvPr id="7" name="Rounded Rectangle 6"/>
          <p:cNvSpPr/>
          <p:nvPr/>
        </p:nvSpPr>
        <p:spPr>
          <a:xfrm>
            <a:off x="731520" y="457200"/>
            <a:ext cx="1213866" cy="346710"/>
          </a:xfrm>
          <a:prstGeom prst="roundRect">
            <a:avLst>
              <a:gd name="adj" fmla="val 50000"/>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Trebuchet MS"/>
              </a:rPr>
              <a:t>SEBENZANI</a:t>
            </a:r>
          </a:p>
        </p:txBody>
      </p:sp>
      <p:sp>
        <p:nvSpPr>
          <p:cNvPr id="9" name="TextBox 8"/>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Hlelani izindlela zokulima</a:t>
            </a:r>
          </a:p>
        </p:txBody>
      </p:sp>
      <p:sp>
        <p:nvSpPr>
          <p:cNvPr id="10" name="Rectangle 9"/>
          <p:cNvSpPr/>
          <p:nvPr/>
        </p:nvSpPr>
        <p:spPr>
          <a:xfrm rot="21552000">
            <a:off x="777240" y="1694688"/>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rot="36000">
            <a:off x="1051560" y="1786128"/>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1</a:t>
            </a:r>
          </a:p>
        </p:txBody>
      </p:sp>
      <p:sp>
        <p:nvSpPr>
          <p:cNvPr id="14" name="TextBox 13"/>
          <p:cNvSpPr txBox="1"/>
          <p:nvPr/>
        </p:nvSpPr>
        <p:spPr>
          <a:xfrm>
            <a:off x="1508760" y="2106168"/>
            <a:ext cx="4160520" cy="1274064"/>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Beka isithombe ngasinye ngaphansi komqondo</a:t>
            </a:r>
          </a:p>
        </p:txBody>
      </p:sp>
      <p:sp>
        <p:nvSpPr>
          <p:cNvPr id="15" name="Oval 14"/>
          <p:cNvSpPr/>
          <p:nvPr/>
        </p:nvSpPr>
        <p:spPr>
          <a:xfrm>
            <a:off x="731520" y="3425952"/>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425952"/>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2</a:t>
            </a:r>
          </a:p>
        </p:txBody>
      </p:sp>
      <p:sp>
        <p:nvSpPr>
          <p:cNvPr id="17" name="TextBox 16"/>
          <p:cNvSpPr txBox="1"/>
          <p:nvPr/>
        </p:nvSpPr>
        <p:spPr>
          <a:xfrm>
            <a:off x="1508760" y="3471672"/>
            <a:ext cx="4160520" cy="1274064"/>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Ezintathu esiqine kuzo, eyodwa ebuthakathaka</a:t>
            </a:r>
          </a:p>
        </p:txBody>
      </p:sp>
      <p:sp>
        <p:nvSpPr>
          <p:cNvPr id="18" name="Oval 17"/>
          <p:cNvSpPr/>
          <p:nvPr/>
        </p:nvSpPr>
        <p:spPr>
          <a:xfrm>
            <a:off x="731520" y="4791456"/>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791456"/>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3</a:t>
            </a:r>
          </a:p>
        </p:txBody>
      </p:sp>
      <p:sp>
        <p:nvSpPr>
          <p:cNvPr id="20" name="TextBox 19"/>
          <p:cNvSpPr txBox="1"/>
          <p:nvPr/>
        </p:nvSpPr>
        <p:spPr>
          <a:xfrm>
            <a:off x="1508760" y="4837176"/>
            <a:ext cx="4160520" cy="621792"/>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Imizuzu 15</a:t>
            </a:r>
          </a:p>
        </p:txBody>
      </p:sp>
      <p:sp>
        <p:nvSpPr>
          <p:cNvPr id="21" name="Rectangle 20"/>
          <p:cNvSpPr/>
          <p:nvPr/>
        </p:nvSpPr>
        <p:spPr>
          <a:xfrm rot="21528000">
            <a:off x="5989320" y="1969008"/>
            <a:ext cx="5608320" cy="3974592"/>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rot="20520000">
            <a:off x="621792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rot="840000">
            <a:off x="1054608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82000" y="2996184"/>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26" name="TextBox 25"/>
          <p:cNvSpPr txBox="1"/>
          <p:nvPr/>
        </p:nvSpPr>
        <p:spPr>
          <a:xfrm>
            <a:off x="6446520" y="4002024"/>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T-P19 · The 10 elements of agroecology</a:t>
            </a:r>
          </a:p>
        </p:txBody>
      </p:sp>
      <p:sp>
        <p:nvSpPr>
          <p:cNvPr id="27" name="TextBox 2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T-P19-ART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T-P19</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T-D1-11</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11 / 18</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USUKU 1</a:t>
            </a:r>
          </a:p>
        </p:txBody>
      </p:sp>
      <p:sp>
        <p:nvSpPr>
          <p:cNvPr id="7" name="TextBox 6"/>
          <p:cNvSpPr txBox="1"/>
          <p:nvPr/>
        </p:nvSpPr>
        <p:spPr>
          <a:xfrm>
            <a:off x="594360" y="804672"/>
            <a:ext cx="11003280" cy="571500"/>
          </a:xfrm>
          <a:prstGeom prst="rect">
            <a:avLst/>
          </a:prstGeom>
          <a:noFill/>
        </p:spPr>
        <p:txBody>
          <a:bodyPr wrap="square" anchor="t" lIns="45720" rIns="45720" tIns="0" bIns="0">
            <a:spAutoFit/>
          </a:bodyPr>
          <a:lstStyle/>
          <a:p>
            <a:pPr algn="l">
              <a:lnSpc>
                <a:spcPct val="95000"/>
              </a:lnSpc>
              <a:spcAft>
                <a:spcPts val="800"/>
              </a:spcAft>
            </a:pPr>
            <a:r>
              <a:rPr sz="3600" b="1">
                <a:solidFill>
                  <a:srgbClr val="1C1C1C"/>
                </a:solidFill>
                <a:latin typeface="Segoe Print"/>
              </a:rPr>
              <a:t>Izinto eziyishumi, imigomo eyi-12</a:t>
            </a:r>
          </a:p>
        </p:txBody>
      </p:sp>
      <p:sp>
        <p:nvSpPr>
          <p:cNvPr id="8" name="Rectangle 7"/>
          <p:cNvSpPr/>
          <p:nvPr/>
        </p:nvSpPr>
        <p:spPr>
          <a:xfrm rot="21552000">
            <a:off x="640080" y="148590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57734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851660"/>
            <a:ext cx="5074920" cy="413766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I-agroecology: ukulima nohlelo lokudla</a:t>
            </a:r>
          </a:p>
          <a:p>
            <a:pPr algn="l" marL="412750" indent="-412750">
              <a:spcAft>
                <a:spcPts val="1800"/>
              </a:spcAft>
            </a:pPr>
            <a:r>
              <a:rPr sz="2600" b="1">
                <a:solidFill>
                  <a:srgbClr val="D2452C"/>
                </a:solidFill>
                <a:latin typeface="Trebuchet MS"/>
              </a:rPr>
              <a:t>›  </a:t>
            </a:r>
            <a:r>
              <a:rPr sz="2600" b="0">
                <a:solidFill>
                  <a:srgbClr val="1C1C1C"/>
                </a:solidFill>
                <a:latin typeface="Trebuchet MS"/>
              </a:rPr>
              <a:t>I-permaculture: imigomo yokuziphatha nethuluzi lokuhlela</a:t>
            </a:r>
          </a:p>
          <a:p>
            <a:pPr algn="l" marL="412750" indent="-412750">
              <a:spcAft>
                <a:spcPts val="1800"/>
              </a:spcAft>
            </a:pPr>
            <a:r>
              <a:rPr sz="2600" b="1">
                <a:solidFill>
                  <a:srgbClr val="D2452C"/>
                </a:solidFill>
                <a:latin typeface="Trebuchet MS"/>
              </a:rPr>
              <a:t>›  </a:t>
            </a:r>
            <a:r>
              <a:rPr sz="2600" b="0">
                <a:solidFill>
                  <a:srgbClr val="1C1C1C"/>
                </a:solidFill>
                <a:latin typeface="Trebuchet MS"/>
              </a:rPr>
              <a:t>Sisebenzisa kokubili</a:t>
            </a:r>
          </a:p>
        </p:txBody>
      </p:sp>
      <p:sp>
        <p:nvSpPr>
          <p:cNvPr id="11" name="Rectangle 10"/>
          <p:cNvSpPr/>
          <p:nvPr/>
        </p:nvSpPr>
        <p:spPr>
          <a:xfrm rot="21528000">
            <a:off x="5989320" y="1760220"/>
            <a:ext cx="5608320" cy="418338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3220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3220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89179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89179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89763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T-P20 · Twelve design principles</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T-P20-ART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T-P04</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T-D1-12</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12 / 18</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USUKU 1</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Phumani: sihlaziye</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Imizuzu emingaki yokukhuluma?</a:t>
            </a:r>
          </a:p>
          <a:p>
            <a:pPr algn="l" marL="412750" indent="-412750">
              <a:spcAft>
                <a:spcPts val="1800"/>
              </a:spcAft>
            </a:pPr>
            <a:r>
              <a:rPr sz="2600" b="1">
                <a:solidFill>
                  <a:srgbClr val="D2452C"/>
                </a:solidFill>
                <a:latin typeface="Trebuchet MS"/>
              </a:rPr>
              <a:t>›  </a:t>
            </a:r>
            <a:r>
              <a:rPr sz="2600" b="0">
                <a:solidFill>
                  <a:srgbClr val="1C1C1C"/>
                </a:solidFill>
                <a:latin typeface="Trebuchet MS"/>
              </a:rPr>
              <a:t>Uthisha wenzeni?</a:t>
            </a:r>
          </a:p>
          <a:p>
            <a:pPr algn="l" marL="412750" indent="-412750">
              <a:spcAft>
                <a:spcPts val="1800"/>
              </a:spcAft>
            </a:pPr>
            <a:r>
              <a:rPr sz="2600" b="1">
                <a:solidFill>
                  <a:srgbClr val="D2452C"/>
                </a:solidFill>
                <a:latin typeface="Trebuchet MS"/>
              </a:rPr>
              <a:t>›  </a:t>
            </a:r>
            <a:r>
              <a:rPr sz="2600" b="0">
                <a:solidFill>
                  <a:srgbClr val="1C1C1C"/>
                </a:solidFill>
                <a:latin typeface="Trebuchet MS"/>
              </a:rPr>
              <a:t>Iyiphi into ongayiqondi kahle?</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T-P04 · The teacher-talk meter</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T-P04-ART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F3A33"/>
        </a:solidFill>
        <a:effectLst/>
      </p:bgPr>
    </p:bg>
    <p:spTree>
      <p:nvGrpSpPr>
        <p:cNvPr id="1" name=""/>
        <p:cNvGrpSpPr/>
        <p:nvPr/>
      </p:nvGrpSpPr>
      <p:grpSpPr/>
      <p:sp>
        <p:nvSpPr>
          <p:cNvPr id="2" name="Oval 1"/>
          <p:cNvSpPr/>
          <p:nvPr/>
        </p:nvSpPr>
        <p:spPr>
          <a:xfrm>
            <a:off x="-548640" y="4937760"/>
            <a:ext cx="5029200" cy="2377440"/>
          </a:xfrm>
          <a:prstGeom prst="ellipse">
            <a:avLst/>
          </a:prstGeom>
          <a:solidFill>
            <a:srgbClr val="F2EFE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077200" y="-731520"/>
            <a:ext cx="4754880" cy="2194560"/>
          </a:xfrm>
          <a:prstGeom prst="ellipse">
            <a:avLst/>
          </a:prstGeom>
          <a:solidFill>
            <a:srgbClr val="F2EFE6">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6272784"/>
            <a:ext cx="1316228" cy="266700"/>
          </a:xfrm>
          <a:prstGeom prst="roundRect">
            <a:avLst>
              <a:gd name="adj" fmla="val 50000"/>
            </a:avLst>
          </a:prstGeom>
          <a:noFill/>
          <a:ln w="15875">
            <a:solidFill>
              <a:srgbClr val="F2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F2EFE6"/>
                </a:solidFill>
                <a:latin typeface="Trebuchet MS"/>
              </a:rPr>
              <a:t>IPHOSTA T-P09</a:t>
            </a:r>
          </a:p>
        </p:txBody>
      </p:sp>
      <p:sp>
        <p:nvSpPr>
          <p:cNvPr id="6" name="TextBox 5"/>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A4A79E"/>
                </a:solidFill>
                <a:latin typeface="Trebuchet MS"/>
              </a:rPr>
              <a:t>Teach the Teachers  ·  T-D1-13</a:t>
            </a:r>
          </a:p>
        </p:txBody>
      </p:sp>
      <p:sp>
        <p:nvSpPr>
          <p:cNvPr id="7" name="TextBox 6"/>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A4A79E"/>
                </a:solidFill>
                <a:latin typeface="Trebuchet MS"/>
              </a:rPr>
              <a:t>13 / 18</a:t>
            </a:r>
          </a:p>
        </p:txBody>
      </p:sp>
      <p:sp>
        <p:nvSpPr>
          <p:cNvPr id="8" name="TextBox 7"/>
          <p:cNvSpPr txBox="1"/>
          <p:nvPr/>
        </p:nvSpPr>
        <p:spPr>
          <a:xfrm>
            <a:off x="822960" y="960120"/>
            <a:ext cx="6400800" cy="365760"/>
          </a:xfrm>
          <a:prstGeom prst="rect">
            <a:avLst/>
          </a:prstGeom>
          <a:noFill/>
        </p:spPr>
        <p:txBody>
          <a:bodyPr wrap="square" anchor="t" lIns="45720" rIns="45720" tIns="0" bIns="0">
            <a:spAutoFit/>
          </a:bodyPr>
          <a:lstStyle/>
          <a:p>
            <a:pPr algn="l">
              <a:spcAft>
                <a:spcPts val="800"/>
              </a:spcAft>
            </a:pPr>
            <a:r>
              <a:rPr sz="1600" b="1">
                <a:solidFill>
                  <a:srgbClr val="C1C2B9"/>
                </a:solidFill>
                <a:latin typeface="Trebuchet MS"/>
              </a:rPr>
              <a:t>USUKU 1</a:t>
            </a:r>
          </a:p>
        </p:txBody>
      </p:sp>
      <p:sp>
        <p:nvSpPr>
          <p:cNvPr id="9" name="TextBox 8"/>
          <p:cNvSpPr txBox="1"/>
          <p:nvPr/>
        </p:nvSpPr>
        <p:spPr>
          <a:xfrm>
            <a:off x="822960" y="1371600"/>
            <a:ext cx="6400800" cy="2103120"/>
          </a:xfrm>
          <a:prstGeom prst="rect">
            <a:avLst/>
          </a:prstGeom>
          <a:noFill/>
        </p:spPr>
        <p:txBody>
          <a:bodyPr wrap="square" anchor="b" lIns="45720" rIns="45720" tIns="0" bIns="0">
            <a:spAutoFit/>
          </a:bodyPr>
          <a:lstStyle/>
          <a:p>
            <a:pPr algn="l">
              <a:lnSpc>
                <a:spcPct val="95000"/>
              </a:lnSpc>
              <a:spcAft>
                <a:spcPts val="800"/>
              </a:spcAft>
            </a:pPr>
            <a:r>
              <a:rPr sz="5400" b="1">
                <a:solidFill>
                  <a:srgbClr val="F2EFE6"/>
                </a:solidFill>
                <a:latin typeface="Segoe Print"/>
              </a:rPr>
              <a:t>Isikhungo samaphosta</a:t>
            </a:r>
          </a:p>
        </p:txBody>
      </p:sp>
      <p:sp>
        <p:nvSpPr>
          <p:cNvPr id="10" name="Rectangle 9"/>
          <p:cNvSpPr/>
          <p:nvPr/>
        </p:nvSpPr>
        <p:spPr>
          <a:xfrm rot="21552000">
            <a:off x="822960" y="3639312"/>
            <a:ext cx="256032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931920"/>
            <a:ext cx="6400800" cy="1645920"/>
          </a:xfrm>
          <a:prstGeom prst="rect">
            <a:avLst/>
          </a:prstGeom>
          <a:noFill/>
        </p:spPr>
        <p:txBody>
          <a:bodyPr wrap="square" anchor="t" lIns="45720" rIns="45720" tIns="0" bIns="0">
            <a:spAutoFit/>
          </a:bodyPr>
          <a:lstStyle/>
          <a:p>
            <a:pPr algn="l">
              <a:spcAft>
                <a:spcPts val="800"/>
              </a:spcAft>
            </a:pPr>
            <a:r>
              <a:rPr sz="2400" b="0">
                <a:solidFill>
                  <a:srgbClr val="D5D4CB"/>
                </a:solidFill>
                <a:latin typeface="Trebuchet MS"/>
              </a:rPr>
              <a:t>Iphosta efundisayo</a:t>
            </a:r>
          </a:p>
        </p:txBody>
      </p:sp>
      <p:sp>
        <p:nvSpPr>
          <p:cNvPr id="12" name="Rectangle 11"/>
          <p:cNvSpPr/>
          <p:nvPr/>
        </p:nvSpPr>
        <p:spPr>
          <a:xfrm rot="21528000">
            <a:off x="7452360" y="914400"/>
            <a:ext cx="4114800" cy="42062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20520000">
            <a:off x="768096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rot="840000">
            <a:off x="1051560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098280" y="205740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205740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7" name="TextBox 16"/>
          <p:cNvSpPr txBox="1"/>
          <p:nvPr/>
        </p:nvSpPr>
        <p:spPr>
          <a:xfrm>
            <a:off x="7909560" y="3063240"/>
            <a:ext cx="320040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The poster studio</a:t>
            </a:r>
          </a:p>
        </p:txBody>
      </p:sp>
      <p:sp>
        <p:nvSpPr>
          <p:cNvPr id="18" name="TextBox 17"/>
          <p:cNvSpPr txBox="1"/>
          <p:nvPr/>
        </p:nvSpPr>
        <p:spPr>
          <a:xfrm>
            <a:off x="7909560" y="4480560"/>
            <a:ext cx="320040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ISITHOMBE · T-IMG-06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T-P09</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T-D1-14</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14 / 18</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USUKU 1</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Imithetho eyisithupha yephosta</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Umqondo owodwa, amagama 25 kuphela</a:t>
            </a:r>
          </a:p>
          <a:p>
            <a:pPr algn="l" marL="412750" indent="-412750">
              <a:spcAft>
                <a:spcPts val="1800"/>
              </a:spcAft>
            </a:pPr>
            <a:r>
              <a:rPr sz="2600" b="1">
                <a:solidFill>
                  <a:srgbClr val="D2452C"/>
                </a:solidFill>
                <a:latin typeface="Trebuchet MS"/>
              </a:rPr>
              <a:t>›  </a:t>
            </a:r>
            <a:r>
              <a:rPr sz="2600" b="0">
                <a:solidFill>
                  <a:srgbClr val="1C1C1C"/>
                </a:solidFill>
                <a:latin typeface="Trebuchet MS"/>
              </a:rPr>
              <a:t>Isithombe esikhulu, akukho magama ngaphakathi</a:t>
            </a:r>
          </a:p>
          <a:p>
            <a:pPr algn="l" marL="412750" indent="-412750">
              <a:spcAft>
                <a:spcPts val="1800"/>
              </a:spcAft>
            </a:pPr>
            <a:r>
              <a:rPr sz="2600" b="1">
                <a:solidFill>
                  <a:srgbClr val="D2452C"/>
                </a:solidFill>
                <a:latin typeface="Trebuchet MS"/>
              </a:rPr>
              <a:t>›  </a:t>
            </a:r>
            <a:r>
              <a:rPr sz="2600" b="0">
                <a:solidFill>
                  <a:srgbClr val="1C1C1C"/>
                </a:solidFill>
                <a:latin typeface="Trebuchet MS"/>
              </a:rPr>
              <a:t>Amalebula anezinombolo, umbuzo owodwa</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T-P09 · A poster that teaches</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T-P09-ART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T-P09</a:t>
            </a:r>
          </a:p>
        </p:txBody>
      </p:sp>
      <p:sp>
        <p:nvSpPr>
          <p:cNvPr id="5" name="TextBox 4"/>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T-D1-15</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15 / 18</a:t>
            </a:r>
          </a:p>
        </p:txBody>
      </p:sp>
      <p:sp>
        <p:nvSpPr>
          <p:cNvPr id="7" name="Rounded Rectangle 6"/>
          <p:cNvSpPr/>
          <p:nvPr/>
        </p:nvSpPr>
        <p:spPr>
          <a:xfrm>
            <a:off x="731520" y="457200"/>
            <a:ext cx="1213866" cy="346710"/>
          </a:xfrm>
          <a:prstGeom prst="roundRect">
            <a:avLst>
              <a:gd name="adj" fmla="val 50000"/>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Trebuchet MS"/>
              </a:rPr>
              <a:t>SEBENZANI</a:t>
            </a:r>
          </a:p>
        </p:txBody>
      </p:sp>
      <p:sp>
        <p:nvSpPr>
          <p:cNvPr id="9" name="TextBox 8"/>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Dwebani iphosta yenu</a:t>
            </a:r>
          </a:p>
        </p:txBody>
      </p:sp>
      <p:sp>
        <p:nvSpPr>
          <p:cNvPr id="10" name="Rectangle 9"/>
          <p:cNvSpPr/>
          <p:nvPr/>
        </p:nvSpPr>
        <p:spPr>
          <a:xfrm rot="21552000">
            <a:off x="777240" y="1694688"/>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rot="36000">
            <a:off x="1051560" y="1786128"/>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1</a:t>
            </a:r>
          </a:p>
        </p:txBody>
      </p:sp>
      <p:sp>
        <p:nvSpPr>
          <p:cNvPr id="14" name="TextBox 13"/>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Khethani ikhadi le-Round 1</a:t>
            </a:r>
          </a:p>
        </p:txBody>
      </p:sp>
      <p:sp>
        <p:nvSpPr>
          <p:cNvPr id="15" name="Oval 14"/>
          <p:cNvSpPr/>
          <p:nvPr/>
        </p:nvSpPr>
        <p:spPr>
          <a:xfrm>
            <a:off x="731520" y="305612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2</a:t>
            </a:r>
          </a:p>
        </p:txBody>
      </p:sp>
      <p:sp>
        <p:nvSpPr>
          <p:cNvPr id="17" name="TextBox 16"/>
          <p:cNvSpPr txBox="1"/>
          <p:nvPr/>
        </p:nvSpPr>
        <p:spPr>
          <a:xfrm>
            <a:off x="1508760" y="310184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Ipensela kuqala, imizuzu 25</a:t>
            </a:r>
          </a:p>
        </p:txBody>
      </p:sp>
      <p:sp>
        <p:nvSpPr>
          <p:cNvPr id="18" name="Oval 17"/>
          <p:cNvSpPr/>
          <p:nvPr/>
        </p:nvSpPr>
        <p:spPr>
          <a:xfrm>
            <a:off x="731520" y="405180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05180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3</a:t>
            </a:r>
          </a:p>
        </p:txBody>
      </p:sp>
      <p:sp>
        <p:nvSpPr>
          <p:cNvPr id="20" name="TextBox 19"/>
          <p:cNvSpPr txBox="1"/>
          <p:nvPr/>
        </p:nvSpPr>
        <p:spPr>
          <a:xfrm>
            <a:off x="1508760" y="4097528"/>
            <a:ext cx="4160520" cy="621792"/>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Bese nihlola ku-6 m</a:t>
            </a:r>
          </a:p>
        </p:txBody>
      </p:sp>
      <p:sp>
        <p:nvSpPr>
          <p:cNvPr id="21" name="Rectangle 20"/>
          <p:cNvSpPr/>
          <p:nvPr/>
        </p:nvSpPr>
        <p:spPr>
          <a:xfrm rot="21528000">
            <a:off x="5989320" y="1969008"/>
            <a:ext cx="5608320" cy="3974592"/>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rot="20520000">
            <a:off x="621792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rot="840000">
            <a:off x="1054608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82000" y="2996184"/>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26" name="TextBox 25"/>
          <p:cNvSpPr txBox="1"/>
          <p:nvPr/>
        </p:nvSpPr>
        <p:spPr>
          <a:xfrm>
            <a:off x="6446520" y="4002024"/>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Trainee-made posters</a:t>
            </a:r>
          </a:p>
        </p:txBody>
      </p:sp>
      <p:sp>
        <p:nvSpPr>
          <p:cNvPr id="27" name="TextBox 2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ISITHOMBE · T-PHO-01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T-P03</a:t>
            </a:r>
          </a:p>
        </p:txBody>
      </p:sp>
      <p:sp>
        <p:nvSpPr>
          <p:cNvPr id="5" name="TextBox 4"/>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T-D1-16</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16 / 18</a:t>
            </a:r>
          </a:p>
        </p:txBody>
      </p:sp>
      <p:sp>
        <p:nvSpPr>
          <p:cNvPr id="7" name="Rounded Rectangle 6"/>
          <p:cNvSpPr/>
          <p:nvPr/>
        </p:nvSpPr>
        <p:spPr>
          <a:xfrm>
            <a:off x="731520" y="457200"/>
            <a:ext cx="1213866" cy="346710"/>
          </a:xfrm>
          <a:prstGeom prst="roundRect">
            <a:avLst>
              <a:gd name="adj" fmla="val 50000"/>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Trebuchet MS"/>
              </a:rPr>
              <a:t>SEBENZANI</a:t>
            </a:r>
          </a:p>
        </p:txBody>
      </p:sp>
      <p:sp>
        <p:nvSpPr>
          <p:cNvPr id="9" name="TextBox 8"/>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Ukufundisa okuncane: Round 1</a:t>
            </a:r>
          </a:p>
        </p:txBody>
      </p:sp>
      <p:sp>
        <p:nvSpPr>
          <p:cNvPr id="10" name="Rectangle 9"/>
          <p:cNvSpPr/>
          <p:nvPr/>
        </p:nvSpPr>
        <p:spPr>
          <a:xfrm rot="21552000">
            <a:off x="777240" y="1694688"/>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rot="36000">
            <a:off x="1051560" y="1786128"/>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1</a:t>
            </a:r>
          </a:p>
        </p:txBody>
      </p:sp>
      <p:sp>
        <p:nvSpPr>
          <p:cNvPr id="14" name="TextBox 13"/>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Imizuzu 5, uwedwa, eqenjini lakho</a:t>
            </a:r>
          </a:p>
        </p:txBody>
      </p:sp>
      <p:sp>
        <p:nvSpPr>
          <p:cNvPr id="15" name="Oval 14"/>
          <p:cNvSpPr/>
          <p:nvPr/>
        </p:nvSpPr>
        <p:spPr>
          <a:xfrm>
            <a:off x="731520" y="305612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2</a:t>
            </a:r>
          </a:p>
        </p:txBody>
      </p:sp>
      <p:sp>
        <p:nvSpPr>
          <p:cNvPr id="17" name="TextBox 16"/>
          <p:cNvSpPr txBox="1"/>
          <p:nvPr/>
        </p:nvSpPr>
        <p:spPr>
          <a:xfrm>
            <a:off x="1508760" y="310184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Bese imizuzu 5 yempendulo</a:t>
            </a:r>
          </a:p>
        </p:txBody>
      </p:sp>
      <p:sp>
        <p:nvSpPr>
          <p:cNvPr id="18" name="Oval 17"/>
          <p:cNvSpPr/>
          <p:nvPr/>
        </p:nvSpPr>
        <p:spPr>
          <a:xfrm>
            <a:off x="731520" y="405180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05180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3</a:t>
            </a:r>
          </a:p>
        </p:txBody>
      </p:sp>
      <p:sp>
        <p:nvSpPr>
          <p:cNvPr id="20" name="TextBox 19"/>
          <p:cNvSpPr txBox="1"/>
          <p:nvPr/>
        </p:nvSpPr>
        <p:spPr>
          <a:xfrm>
            <a:off x="1508760" y="4097528"/>
            <a:ext cx="4160520" cy="621792"/>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Yimani ngesikhathi</a:t>
            </a:r>
          </a:p>
        </p:txBody>
      </p:sp>
      <p:sp>
        <p:nvSpPr>
          <p:cNvPr id="21" name="Rectangle 20"/>
          <p:cNvSpPr/>
          <p:nvPr/>
        </p:nvSpPr>
        <p:spPr>
          <a:xfrm rot="21528000">
            <a:off x="5989320" y="1969008"/>
            <a:ext cx="5608320" cy="3974592"/>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rot="20520000">
            <a:off x="621792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rot="840000">
            <a:off x="1054608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82000" y="2996184"/>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26" name="TextBox 25"/>
          <p:cNvSpPr txBox="1"/>
          <p:nvPr/>
        </p:nvSpPr>
        <p:spPr>
          <a:xfrm>
            <a:off x="6446520" y="4002024"/>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 micro-teach in a small circle</a:t>
            </a:r>
          </a:p>
        </p:txBody>
      </p:sp>
      <p:sp>
        <p:nvSpPr>
          <p:cNvPr id="27" name="TextBox 2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ISITHOMBE · T-IMG-05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T-P10</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T-D1-17</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17 / 18</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USUKU 1</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Izinkanyezi ezimbili nesifiso</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Uthisha ukhuluma kuqala</a:t>
            </a:r>
          </a:p>
          <a:p>
            <a:pPr algn="l" marL="412750" indent="-412750">
              <a:spcAft>
                <a:spcPts val="1800"/>
              </a:spcAft>
            </a:pPr>
            <a:r>
              <a:rPr sz="2600" b="1">
                <a:solidFill>
                  <a:srgbClr val="D2452C"/>
                </a:solidFill>
                <a:latin typeface="Trebuchet MS"/>
              </a:rPr>
              <a:t>›  </a:t>
            </a:r>
            <a:r>
              <a:rPr sz="2600" b="0">
                <a:solidFill>
                  <a:srgbClr val="1C1C1C"/>
                </a:solidFill>
                <a:latin typeface="Trebuchet MS"/>
              </a:rPr>
              <a:t>Izinkanyezi ezimbili, isifiso esisodwa</a:t>
            </a:r>
          </a:p>
          <a:p>
            <a:pPr algn="l" marL="412750" indent="-412750">
              <a:spcAft>
                <a:spcPts val="1800"/>
              </a:spcAft>
            </a:pPr>
            <a:r>
              <a:rPr sz="2600" b="1">
                <a:solidFill>
                  <a:srgbClr val="D2452C"/>
                </a:solidFill>
                <a:latin typeface="Trebuchet MS"/>
              </a:rPr>
              <a:t>›  </a:t>
            </a:r>
            <a:r>
              <a:rPr sz="2600" b="0">
                <a:solidFill>
                  <a:srgbClr val="1C1C1C"/>
                </a:solidFill>
                <a:latin typeface="Trebuchet MS"/>
              </a:rPr>
              <a:t>Yithi ngiyabonga</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T-P10 · Two stars and a wish</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T-P10-ART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IPHOSTA T-P16</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T-D1-18</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18 / 18</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USUKU 1</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Ubuciko besifundo: irejista</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Ekuseni kuqala, ekugcineni uma sivala</a:t>
            </a:r>
          </a:p>
          <a:p>
            <a:pPr algn="l" marL="412750" indent="-412750">
              <a:spcAft>
                <a:spcPts val="1800"/>
              </a:spcAft>
            </a:pPr>
            <a:r>
              <a:rPr sz="2600" b="1">
                <a:solidFill>
                  <a:srgbClr val="D2452C"/>
                </a:solidFill>
                <a:latin typeface="Trebuchet MS"/>
              </a:rPr>
              <a:t>›  </a:t>
            </a:r>
            <a:r>
              <a:rPr sz="2600" b="0">
                <a:solidFill>
                  <a:srgbClr val="1C1C1C"/>
                </a:solidFill>
                <a:latin typeface="Trebuchet MS"/>
              </a:rPr>
              <a:t>Umqeqeshi uyasayina, isithombe nsuku zonke</a:t>
            </a:r>
          </a:p>
          <a:p>
            <a:pPr algn="l" marL="412750" indent="-412750">
              <a:spcAft>
                <a:spcPts val="1800"/>
              </a:spcAft>
            </a:pPr>
            <a:r>
              <a:rPr sz="2600" b="1">
                <a:solidFill>
                  <a:srgbClr val="D2452C"/>
                </a:solidFill>
                <a:latin typeface="Trebuchet MS"/>
              </a:rPr>
              <a:t>›  </a:t>
            </a:r>
            <a:r>
              <a:rPr sz="2600" b="0">
                <a:solidFill>
                  <a:srgbClr val="1C1C1C"/>
                </a:solidFill>
                <a:latin typeface="Trebuchet MS"/>
              </a:rPr>
              <a:t>Ungalokothi ubhale ngenhloko</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The register at the door</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ISITHOMBE · T-IMG-15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