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T-D1-S0. Register at the door first. Welcome; say the day's promise. Point out that this course</a:t>
            </a:r>
          </a:p>
          <a:p>
            <a:r>
              <a:t>is taught the way they will teach — ask them to watch how, not only what.</a:t>
            </a:r>
          </a:p>
          <a:p/>
          <a:p>
            <a:r>
              <a:t>Poster: T-P01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T-D1-S0 step 3. Go first with a coin. After the circle ask: what did we learn about teaching?</a:t>
            </a:r>
          </a:p>
          <a:p/>
          <a:p>
            <a:r>
              <a:t>Poster: T-P01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T-D1-S0 steps 5–7. POPIA consent before this slide. Groups of 5 formed; add must-haves; everyone</a:t>
            </a:r>
          </a:p>
          <a:p>
            <a:r>
              <a:t>signs. Agree the call-and-response signal; hand out role cards (T-P06).</a:t>
            </a:r>
          </a:p>
          <a:p/>
          <a:p>
            <a:r>
              <a:t>Poster: T-P01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T-D1-S1 steps 1–3. Harvest one idea per pair; then the worst lesson, fast.</a:t>
            </a:r>
          </a:p>
          <a:p/>
          <a:p>
            <a:r>
              <a:t>Poster: T-P02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T-D1-S1 step 4. Lead tells only (hands on laps, 2 min); co-trainer shows step by step outside.</a:t>
            </a:r>
          </a:p>
          <a:p>
            <a:r>
              <a:t>Ask which group did better and why.</a:t>
            </a:r>
          </a:p>
          <a:p/>
          <a:p>
            <a:r>
              <a:t>Poster: T-P02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T-D1-S1 steps 6–7. Place the envelope task on each step. Four facts about adult learners.</a:t>
            </a:r>
          </a:p>
          <a:p>
            <a:r>
              <a:t>Warn: the "learning pyramid" numbers are a myth.</a:t>
            </a:r>
          </a:p>
          <a:p/>
          <a:p>
            <a:r>
              <a:t>Poster: T-P02</a:t>
            </a:r>
          </a:p>
          <a:p>
            <a:r>
              <a:t>Clip T-ANI-01: public/course-media/teach-the-teachers/T-ANI-01.mp4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T-D1-S1 step 8. Groups map the show-and-try lesson onto the four steps. What was missing?</a:t>
            </a:r>
          </a:p>
          <a:p/>
          <a:p>
            <a:r>
              <a:t>Poster: T-P03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T-D1-S2 set-up. Talk-tally card to each Recorder: one mark per minute of talk to the whole room.</a:t>
            </a:r>
          </a:p>
          <a:p/>
          <a:p>
            <a:r>
              <a:t>Poster: T-P04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T-D1-S2 steps 3–4 (co-trainer). Take one answer per group. Then find the three ethics in the good</a:t>
            </a:r>
          </a:p>
          <a:p>
            <a:r>
              <a:t>garden (F-P02, clip T-ANI-11 optional).</a:t>
            </a:r>
          </a:p>
          <a:p/>
          <a:p>
            <a:r>
              <a:t>Poster: F-P03</a:t>
            </a:r>
          </a:p>
          <a:p>
            <a:r>
              <a:t>Clip T-ANI-12: public/course-animations/intro-permaculture/watch-13-diversity.mp4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T-D1-S2 step 5. Walk and ask "why there?" — don't tell. Call 5 minutes left at 11:02.</a:t>
            </a:r>
          </a:p>
          <a:p/>
          <a:p>
            <a:r>
              <a:t>Poster: T-P19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T-D1-S2 step 6. Reveal T-P19 after the sort; link to T-P20. Content notes in the day file.</a:t>
            </a:r>
          </a:p>
          <a:p>
            <a:r>
              <a:t>Take home: each group names an element to look for at home.</a:t>
            </a:r>
          </a:p>
          <a:p/>
          <a:p>
            <a:r>
              <a:t>Poster: T-P19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T-D1-S2 steps 8–11. Average the tallies; reveal the meter. Sticky notes on T-P03. Dot vote; top two</a:t>
            </a:r>
          </a:p>
          <a:p>
            <a:r>
              <a:t>elements explained by trainees first.</a:t>
            </a:r>
          </a:p>
          <a:p/>
          <a:p>
            <a:r>
              <a:t>Poster: T-P04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T-D1-S3. Energiser first (Compost Heap, T-P11) — trainers model it; trainees lead from tomorrow.</a:t>
            </a:r>
          </a:p>
          <a:p/>
          <a:p>
            <a:r>
              <a:t>Poster: T-P09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T-D1-S3 steps 2–3. Bad poster at 6 m first. Groups turn problems into rules; match to T-P09.</a:t>
            </a:r>
          </a:p>
          <a:p/>
          <a:p>
            <a:r>
              <a:t>Poster: T-P09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T-D1-S3 steps 4–7. Pool A cards MT-01 to MT-10; each member a different card.</a:t>
            </a:r>
          </a:p>
          <a:p/>
          <a:p>
            <a:r>
              <a:t>Poster: T-P09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T-D1-S4 steps 1–4. Roles: teacher, observer (next teacher), timekeeper (last teacher). Lead models a</a:t>
            </a:r>
          </a:p>
          <a:p>
            <a:r>
              <a:t>5-minute teach (MT-03) first; co-trainer models the feedback.</a:t>
            </a:r>
          </a:p>
          <a:p/>
          <a:p>
            <a:r>
              <a:t>Poster: T-P03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T-D1-S4 step 3 and plenary. Build "Our teaching tips" after the round. Tick Poster on the Mode tracker.</a:t>
            </a:r>
          </a:p>
          <a:p/>
          <a:p>
            <a:r>
              <a:t>Poster: T-P10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T-D1-SC. One word; stars and wish for today. Course craft 15 on the register; Mentor → Training</a:t>
            </a:r>
          </a:p>
          <a:p>
            <a:r>
              <a:t>shown if a device is there. Tomorrow: Round 2, 10 minutes, a new card, a written outcome.</a:t>
            </a:r>
          </a:p>
          <a:p/>
          <a:p>
            <a:r>
              <a:t>Poster: T-P16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F3A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F2EFE6"/>
                </a:solidFill>
                <a:latin typeface="Trebuchet MS"/>
              </a:rPr>
              <a:t>T-D1-01   ·   Poster T-P01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F2EFE6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400800" cy="16459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>
                <a:solidFill>
                  <a:srgbClr val="F2EFE6"/>
                </a:solidFill>
                <a:latin typeface="Segoe Print"/>
              </a:rPr>
              <a:t>Siyanamukela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46120"/>
            <a:ext cx="1463040" cy="73152"/>
          </a:xfrm>
          <a:prstGeom prst="rect">
            <a:avLst/>
          </a:prstGeom>
          <a:solidFill>
            <a:srgbClr val="D2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603504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F2EFE6"/>
                </a:solidFill>
                <a:latin typeface="Trebuchet MS"/>
              </a:rPr>
              <a:t>Teach the Teachers (Fundisa Abafundisi)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F2EFE6"/>
                </a:solidFill>
                <a:latin typeface="Trebuchet MS"/>
              </a:rPr>
              <a:t>Usuku 1 kwezi-5 · Abafundi kuqala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914400"/>
            <a:ext cx="4206240" cy="475488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79" y="1097280"/>
            <a:ext cx="3749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IMAGE · T-IMG-01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1481328"/>
            <a:ext cx="3749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A learning circle under a tree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2011680"/>
            <a:ext cx="374904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Twenty adults sit in a wide circle on plastic chairs and a wooden bench under a big shade tree beside a rural community hall. Mixed ages: young graduates in trainers and T-shirts, two extension officers in work shirts, gogos in headscarves, an older lead farmer in a hat. One young woman stands, mid-sentence, hands open; others lean in, some laughing.…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T-D1-02   ·   Poster T-P01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D2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C9A77C"/>
                </a:solidFill>
                <a:latin typeface="Trebuchet MS"/>
              </a:rPr>
              <a:t>SEBENZANI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Igama nento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1C1C1C"/>
                </a:solidFill>
                <a:latin typeface="Trebuchet MS"/>
              </a:rPr>
              <a:t>•  Igama lenu, lapho nisebenza khona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C1C1C"/>
                </a:solidFill>
                <a:latin typeface="Trebuchet MS"/>
              </a:rPr>
              <a:t>•  Into eyodwa eningafundisa ngayo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C1C1C"/>
                </a:solidFill>
                <a:latin typeface="Trebuchet MS"/>
              </a:rPr>
              <a:t>•  Imizuzwana 30 ngamunye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IMAGE · T-IMG-05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A micro-teach in a small circle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Five adults in a small circle of chairs in the corner of a hall. One young man (teaching) holds up a cut-open 2 ℓ bottle of soil while three peers lean forward, one pouring water. A fourth person, an older woman, sits slightly back with a clipboard, making tally marks (simple strokes). A second person holds up a small red card (the STOP card, no text). A…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T-D1-03   ·   Poster T-P01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Isivumelwano sethu sokufunda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C1C1C"/>
                </a:solidFill>
                <a:latin typeface="Trebuchet MS"/>
              </a:rPr>
              <a:t>•  Imithetho emithathu esisiza ukufunda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C1C1C"/>
                </a:solidFill>
                <a:latin typeface="Trebuchet MS"/>
              </a:rPr>
              <a:t>•  Umqondo owodwa ku-sticky note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C1C1C"/>
                </a:solidFill>
                <a:latin typeface="Trebuchet MS"/>
              </a:rPr>
              <a:t>•  Sisenzile, siyasigcina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POSTER ART · T-P01-ART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Artwork for T-P01 · Our learning agreement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Top 45% only. Eight adults of mixed ages sit in a circle on low chairs and a bench under a wide shade tree; a gogo in a headscarf, a young man in a cap, a woman with a notebook, an older man with a walking stick, two young women, an extension officer in a work shirt. In the centre, all their hands rest together on a large blank sheet of paper on the…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T-D1-04   ·   Poster T-P02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D2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C9A77C"/>
                </a:solidFill>
                <a:latin typeface="Trebuchet MS"/>
              </a:rPr>
              <a:t>SEBENZANI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Uthisha wakho ongcono kakhulu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1C1C1C"/>
                </a:solidFill>
                <a:latin typeface="Trebuchet MS"/>
              </a:rPr>
              <a:t>•  Uthisha ongcono kakhulu owake waba naye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C1C1C"/>
                </a:solidFill>
                <a:latin typeface="Trebuchet MS"/>
              </a:rPr>
              <a:t>•  Wenzani?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C1C1C"/>
                </a:solidFill>
                <a:latin typeface="Trebuchet MS"/>
              </a:rPr>
              <a:t>•  Ngababili, imizuzu 3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IMAGE · T-IMG-01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A learning circle under a tree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Twenty adults sit in a wide circle on plastic chairs and a wooden bench under a big shade tree beside a rural community hall. Mixed ages: young graduates in trainers and T-shirts, two extension officers in work shirts, gogos in headscarves, an older lead farmer in a hat. One young woman stands, mid-sentence, hands open; others lean in, some laughing.…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T-D1-05   ·   Poster T-P02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D2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C9A77C"/>
                </a:solidFill>
                <a:latin typeface="Trebuchet MS"/>
              </a:rPr>
              <a:t>SEBENZANI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Songani imvilophu yembewu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1C1C1C"/>
                </a:solidFill>
                <a:latin typeface="Trebuchet MS"/>
              </a:rPr>
              <a:t>•  Igumbi A: tshela kuphela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1C1C1C"/>
                </a:solidFill>
                <a:latin typeface="Trebuchet MS"/>
              </a:rPr>
              <a:t>•  Ngaphandle: bonisa bese bezama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1C1C1C"/>
                </a:solidFill>
                <a:latin typeface="Trebuchet MS"/>
              </a:rPr>
              <a:t>•  Qhathanisani izimvilophu zenu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IMAGE · T-IMG-06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The poster studio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Seen from slightly above: trainees kneel and sit on a clean hall floor around large sheets of paper, drawing posters with thick markers. One sheet shows a pencilled bean plant with numbered circles; another person holds a finished poster up at arm's length while a partner stands far away checking it. Markers, rulers, Prestik and paper offcuts scattered.…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T-D1-06   ·   Poster T-P02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Abantu abadala bafunda kanjani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1C1C1C"/>
                </a:solidFill>
                <a:latin typeface="Trebuchet MS"/>
              </a:rPr>
              <a:t>•  Yenza · Buka emuva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1C1C1C"/>
                </a:solidFill>
                <a:latin typeface="Trebuchet MS"/>
              </a:rPr>
              <a:t>•  Qonda · Kusebenzise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1C1C1C"/>
                </a:solidFill>
                <a:latin typeface="Trebuchet MS"/>
              </a:rPr>
              <a:t>•  Zungeza lonke isiyingi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ANIMATION · T-ANI-01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The learning cycle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Four scenes appear in turn around a circle, joined by a Mid-green arrow that grows clockwise: (1) hands fold a paper seed envelope (0–4 s); (2) two people look at the torn envelope, one points (4–8 s); (3) a small group draws in the soil with a stick, one nods (8–12 s); (4) at a kitchen table, bean seed pours into a finished envelope (12–16 s); the arrow…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T-D1-07   ·   Poster T-P03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Buka · Zama · Khuluma · Hamba nakho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C1C1C"/>
                </a:solidFill>
                <a:latin typeface="Trebuchet MS"/>
              </a:rPr>
              <a:t>•  Baheheni · Izandla emsebenzini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C1C1C"/>
                </a:solidFill>
                <a:latin typeface="Trebuchet MS"/>
              </a:rPr>
              <a:t>•  Imibuzo emithathu · Isenzo esisodwa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C1C1C"/>
                </a:solidFill>
                <a:latin typeface="Trebuchet MS"/>
              </a:rPr>
              <a:t>•  Ukuzama kuza kuqala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POSTER ART · T-P03-ART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Artwork for T-P03 · Every lesson: Look · Try · Talk · Take home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Four horizontal bands stacked top to bottom, one scene each, same people throughout. ① A facilitator holds up a real cabbage leaf with holes; seated learners lean forward, two pointing. ② A group of five kneels at a bed, every pair of hands in the soil, the facilitator standing back, hands behind her back. ③ The group sits in a circle beside a poster on…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F3A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F2EFE6"/>
                </a:solidFill>
                <a:latin typeface="Trebuchet MS"/>
              </a:rPr>
              <a:t>T-D1-08   ·   Poster T-P04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F2EFE6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400800" cy="16459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>
                <a:solidFill>
                  <a:srgbClr val="F2EFE6"/>
                </a:solidFill>
                <a:latin typeface="Segoe Print"/>
              </a:rPr>
              <a:t>Isifundo esiyisibonelo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46120"/>
            <a:ext cx="1463040" cy="73152"/>
          </a:xfrm>
          <a:prstGeom prst="rect">
            <a:avLst/>
          </a:prstGeom>
          <a:solidFill>
            <a:srgbClr val="D2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603504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F2EFE6"/>
                </a:solidFill>
                <a:latin typeface="Trebuchet MS"/>
              </a:rPr>
              <a:t>Manje ningabalimi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F2EFE6"/>
                </a:solidFill>
                <a:latin typeface="Trebuchet MS"/>
              </a:rPr>
              <a:t>Ababhali: balani ukukhuluma kukathisha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914400"/>
            <a:ext cx="4206240" cy="475488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79" y="1097280"/>
            <a:ext cx="3749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IMAGE · T-IMG-15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1481328"/>
            <a:ext cx="3749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The register at the door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2011680"/>
            <a:ext cx="374904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A small table at a hall doorway in the morning light. A young man signs a register on a clipboard (grid lines, no letters) while an older woman presses her thumb onto an ink pad to mark her name. A facilitator beside them holds name tags; a small sheet of green dot stickers sits on the table. A queue of three learners waits, chatting.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T-D1-09   ·   Poster F-P03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Izingadi ezimbili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1C1C1C"/>
                </a:solidFill>
                <a:latin typeface="Trebuchet MS"/>
              </a:rPr>
              <a:t>•  Yini ehlukile eniyibonayo?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1C1C1C"/>
                </a:solidFill>
                <a:latin typeface="Trebuchet MS"/>
              </a:rPr>
              <a:t>•  Iyiphi ezonondla esomisweni?</a:t>
            </a:r>
          </a:p>
        </p:txBody>
      </p:sp>
      <p:pic>
        <p:nvPicPr>
          <p:cNvPr id="7" name="Picture 6" descr="watch-13-diversit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2308860"/>
            <a:ext cx="5852160" cy="329184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852160" y="5806440"/>
            <a:ext cx="5852160" cy="411480"/>
          </a:xfrm>
          <a:prstGeom prst="rect">
            <a:avLst/>
          </a:prstGeom>
          <a:solidFill>
            <a:srgbClr val="1C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0" y="5815584"/>
            <a:ext cx="5669280" cy="3840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C9A77C"/>
                </a:solidFill>
                <a:latin typeface="Trebuchet MS"/>
              </a:rPr>
              <a:t>▶  Clip T-ANI-12 · play from the tablet: watch-13-diversity.mp4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T-D1-10   ·   Poster T-P19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D2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C9A77C"/>
                </a:solidFill>
                <a:latin typeface="Trebuchet MS"/>
              </a:rPr>
              <a:t>SEBENZANI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Hlelani izindlela zokulima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1C1C1C"/>
                </a:solidFill>
                <a:latin typeface="Trebuchet MS"/>
              </a:rPr>
              <a:t>•  Beka isithombe ngasinye ngaphansi komqondo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C1C1C"/>
                </a:solidFill>
                <a:latin typeface="Trebuchet MS"/>
              </a:rPr>
              <a:t>•  Ezintathu esiqine kuzo, eyodwa ebuthakathaka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C1C1C"/>
                </a:solidFill>
                <a:latin typeface="Trebuchet MS"/>
              </a:rPr>
              <a:t>•  Imizuzu 15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POSTER ART · T-P19-ART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Artwork for T-P19 · The 10 elements of agroecology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A wide, busy but orderly village landscape, read left to right, with ten clear scenes: (1) a field of maize, beans and pumpkin growing together with a fruit tree; (2) a woman farmer showing neighbours her trench bed; (3) chickens scratching under fruit trees beside the garden; (4) a compost heap next to a bed (no bags of fertiliser); (5) kitchen scraps…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T-D1-11   ·   Poster T-P19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Izinto eziyishumi, imigomo eyi-12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C1C1C"/>
                </a:solidFill>
                <a:latin typeface="Trebuchet MS"/>
              </a:rPr>
              <a:t>•  I-agroecology: ukulima nohlelo lokudla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C1C1C"/>
                </a:solidFill>
                <a:latin typeface="Trebuchet MS"/>
              </a:rPr>
              <a:t>•  I-permaculture: imigomo yokuziphatha nethuluzi lokuhlela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C1C1C"/>
                </a:solidFill>
                <a:latin typeface="Trebuchet MS"/>
              </a:rPr>
              <a:t>•  Sisebenzisa kokubili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POSTER ART · T-P20-ART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Artwork for T-P20 · Twelve design principles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A homestead seen from above in the centre (house, tank, beds, fruit trees, chicken run, swale on the slope), surrounded by twelve small round vignettes like a clock face: (1) a woman sitting watching her yard; (2) a tank full of water and a seed jar; (3) a hand picking spinach; (4) a person checking a flooded bed and redirecting water; (5) the sun and…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T-D1-12   ·   Poster T-P04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Phumani: sihlaziye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1C1C1C"/>
                </a:solidFill>
                <a:latin typeface="Trebuchet MS"/>
              </a:rPr>
              <a:t>•  Imizuzu emingaki yokukhuluma?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1C1C1C"/>
                </a:solidFill>
                <a:latin typeface="Trebuchet MS"/>
              </a:rPr>
              <a:t>•  Uthisha wenzeni?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1C1C1C"/>
                </a:solidFill>
                <a:latin typeface="Trebuchet MS"/>
              </a:rPr>
              <a:t>•  Iyiphi into ongayiqondi kahle?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POSTER ART · T-P04-ART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Artwork for T-P04 · The teacher-talk meter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Top half: a big half-circle gauge, like a fuel gauge, split into ten equal wedges — three Ochre wedges on the left, seven Leaf-green wedges on the right (the Leaf wedges also carry small dot pattern so it works in black and white). A thick Ink needle points into the third Ochre wedge. Bottom half: a facilitator stands to one side with an open hand…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F3A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F2EFE6"/>
                </a:solidFill>
                <a:latin typeface="Trebuchet MS"/>
              </a:rPr>
              <a:t>T-D1-13   ·   Poster T-P09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F2EFE6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400800" cy="16459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>
                <a:solidFill>
                  <a:srgbClr val="F2EFE6"/>
                </a:solidFill>
                <a:latin typeface="Segoe Print"/>
              </a:rPr>
              <a:t>Isikhungo samaphosta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46120"/>
            <a:ext cx="1463040" cy="73152"/>
          </a:xfrm>
          <a:prstGeom prst="rect">
            <a:avLst/>
          </a:prstGeom>
          <a:solidFill>
            <a:srgbClr val="D2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603504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F2EFE6"/>
                </a:solidFill>
                <a:latin typeface="Trebuchet MS"/>
              </a:rPr>
              <a:t>Iphosta efundisayo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914400"/>
            <a:ext cx="4206240" cy="475488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79" y="1097280"/>
            <a:ext cx="3749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IMAGE · T-IMG-06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1481328"/>
            <a:ext cx="3749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The poster studio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2011680"/>
            <a:ext cx="374904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Seen from slightly above: trainees kneel and sit on a clean hall floor around large sheets of paper, drawing posters with thick markers. One sheet shows a pencilled bean plant with numbered circles; another person holds a finished poster up at arm's length while a partner stands far away checking it. Markers, rulers, Prestik and paper offcuts scattered.…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T-D1-14   ·   Poster T-P09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Imithetho eyisithupha yephosta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C1C1C"/>
                </a:solidFill>
                <a:latin typeface="Trebuchet MS"/>
              </a:rPr>
              <a:t>•  Umqondo owodwa, amagama 25 kuphela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C1C1C"/>
                </a:solidFill>
                <a:latin typeface="Trebuchet MS"/>
              </a:rPr>
              <a:t>•  Isithombe esikhulu, akukho magama ngaphakathi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C1C1C"/>
                </a:solidFill>
                <a:latin typeface="Trebuchet MS"/>
              </a:rPr>
              <a:t>•  Amalebula anezinombolo, umbuzo owodwa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POSTER ART · T-P09-ART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Artwork for T-P09 · A poster that teaches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A fence with a teaching poster hung on it by cable ties. The poster is drawn as a simple layout: a dark top band, a big clear drawing of a bean plant with three numbered ochre circles, a band of short grey bars where labels go (bars, not letters), and a thin bar at the bottom. On the ground, a line of six footprints leads away from the fence to a young…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T-D1-15   ·   Poster T-P09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D2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C9A77C"/>
                </a:solidFill>
                <a:latin typeface="Trebuchet MS"/>
              </a:rPr>
              <a:t>SEBENZANI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Dwebani iphosta yenu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1C1C1C"/>
                </a:solidFill>
                <a:latin typeface="Trebuchet MS"/>
              </a:rPr>
              <a:t>•  Khethani ikhadi le-Round 1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1C1C1C"/>
                </a:solidFill>
                <a:latin typeface="Trebuchet MS"/>
              </a:rPr>
              <a:t>•  Ipensela kuqala, imizuzu 25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1C1C1C"/>
                </a:solidFill>
                <a:latin typeface="Trebuchet MS"/>
              </a:rPr>
              <a:t>•  Bese nihlola ku-6 m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PHOTO · T-PHO-01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Trainee-made posters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Take during the first run of this course, **with POPIA consent** from the makers: 3–4 hand-made trainee posters that follow T-P09 (≤ 25 words, big picture, numbered labels), photographed flat, straight on, in daylight, no people in frame. Until then, use T-IMG-06.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T-D1-16   ·   Poster T-P03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D2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C9A77C"/>
                </a:solidFill>
                <a:latin typeface="Trebuchet MS"/>
              </a:rPr>
              <a:t>SEBENZANI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Ukufundisa okuncane: Round 1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1C1C1C"/>
                </a:solidFill>
                <a:latin typeface="Trebuchet MS"/>
              </a:rPr>
              <a:t>•  Imizuzu 5, uwedwa, eqenjini lakho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C1C1C"/>
                </a:solidFill>
                <a:latin typeface="Trebuchet MS"/>
              </a:rPr>
              <a:t>•  Bese imizuzu 5 yempendulo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C1C1C"/>
                </a:solidFill>
                <a:latin typeface="Trebuchet MS"/>
              </a:rPr>
              <a:t>•  Yimani ngesikhathi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IMAGE · T-IMG-05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A micro-teach in a small circle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Five adults in a small circle of chairs in the corner of a hall. One young man (teaching) holds up a cut-open 2 ℓ bottle of soil while three peers lean forward, one pouring water. A fourth person, an older woman, sits slightly back with a clipboard, making tally marks (simple strokes). A second person holds up a small red card (the STOP card, no text). A…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T-D1-17   ·   Poster T-P10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Izinkanyezi ezimbili nesifiso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C1C1C"/>
                </a:solidFill>
                <a:latin typeface="Trebuchet MS"/>
              </a:rPr>
              <a:t>•  Uthisha ukhuluma kuqala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C1C1C"/>
                </a:solidFill>
                <a:latin typeface="Trebuchet MS"/>
              </a:rPr>
              <a:t>•  Izinkanyezi ezimbili, isifiso esisodwa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C1C1C"/>
                </a:solidFill>
                <a:latin typeface="Trebuchet MS"/>
              </a:rPr>
              <a:t>•  Yithi ngiyabonga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POSTER ART · T-P10-ART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Artwork for T-P10 · Two stars and a wish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A small group of four seated in a circle after a lesson. A young woman (the teacher) speaks first, hand open. Opposite her, an older man with a clipboard (the observer) speaks kindly; above him float two big Ochre star shapes and one Leaf-green sprouting seedling shape. The teacher, now with hand on heart, listens and nods. A third person smiles and…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T-D1-18   ·   Poster T-P16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Ubuciko besifundo: irejista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C1C1C"/>
                </a:solidFill>
                <a:latin typeface="Trebuchet MS"/>
              </a:rPr>
              <a:t>•  Ekuseni kuqala, ekugcineni uma sivala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C1C1C"/>
                </a:solidFill>
                <a:latin typeface="Trebuchet MS"/>
              </a:rPr>
              <a:t>•  Umqeqeshi uyasayina, isithombe nsuku zonke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C1C1C"/>
                </a:solidFill>
                <a:latin typeface="Trebuchet MS"/>
              </a:rPr>
              <a:t>•  Ungalokothi ubhale ngenhloko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IMAGE · T-IMG-15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The register at the door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A small table at a hall doorway in the morning light. A young man signs a register on a clipboard (grid lines, no letters) while an older woman presses her thumb onto an ink pad to mark her name. A facilitator beside them holds name tags; a small sheet of green dot stickers sits on the table. A queue of three learners waits, chatting.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