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Leave it up while learners register (F-D1-S0).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facilitators. Teach the call and response. Round of names: name, where you live, one thing you grow.</a:t>
            </a:r>
          </a:p>
          <a:p/>
          <a:p>
            <a:r>
              <a:t>Poster: F-P01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quiz cards F-IMG-70 to 77 one at a time (forms.md §5). Co-facilitator counts each corner.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F-D1-S1. 5 min drawing, 5 min in groups. Stick all drawings under "Our hopes".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class's words on the poster, not yours. Check the eight points on the F-P01 card are there. Everyone signs.</a:t>
            </a:r>
          </a:p>
          <a:p/>
          <a:p>
            <a:r>
              <a:t>Poster: F-P01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Gogo Thandi story first. Then the three circles. Groups draw one thing they already do for each (8 min).</a:t>
            </a:r>
          </a:p>
          <a:p/>
          <a:p>
            <a:r>
              <a:t>Poster: F-P02</a:t>
            </a:r>
          </a:p>
          <a:p>
            <a:r>
              <a:t>Also: F-ANI-01</a:t>
            </a:r>
          </a:p>
          <a:p>
            <a:r>
              <a:t>Clip F-ANI-01: public/course-media/farmer-5day/F-ANI-01.mp4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F-D1-S2. Cover the right half on the poster; on screen show the full picture after groups have discussed the left.</a:t>
            </a:r>
          </a:p>
          <a:p/>
          <a:p>
            <a:r>
              <a:t>Poster: F-P03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Water-pour demo outside, every group pours. Optional clip F-ANI-03 shows the two gardens through a dry season.</a:t>
            </a:r>
          </a:p>
          <a:p/>
          <a:p>
            <a:r>
              <a:t>Clip F-ANI-03: public/course-media/farmer-5day/F-ANI-03.mp4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Agroecology = farming with nature. Permaculture = designing with nature. Ask what grandmothers did.</a:t>
            </a:r>
          </a:p>
          <a:p/>
          <a:p>
            <a:r>
              <a:t>Poster: F-P03</a:t>
            </a:r>
          </a:p>
          <a:p>
            <a:r>
              <a:t>Clip F-ANI-02: public/course-media/farmer-5day/F-ANI-02.mp4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per principle: point, say it, ask for a local example.</a:t>
            </a:r>
          </a:p>
          <a:p/>
          <a:p>
            <a:r>
              <a:t>Poster: F-P04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Envelopes of 10 pictures per group. No magazines? Use printed picture cards F-IMG-80 to 91.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F-D1-S3. Cardboard house in the real sun, or a torch. Lower the torch for winter: longer shadows.</a:t>
            </a:r>
          </a:p>
          <a:p/>
          <a:p>
            <a:r>
              <a:t>Poster: F-P05</a:t>
            </a:r>
          </a:p>
          <a:p>
            <a:r>
              <a:t>Clip F-ANI-04: public/course-media/farmer-5day/F-ANI-04.mp4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20-minute site walk with ribbons and pegs. Clues: channels, silt, wet patches, bent trees.</a:t>
            </a:r>
          </a:p>
          <a:p/>
          <a:p>
            <a:r>
              <a:t>Poster: F-P05</a:t>
            </a:r>
          </a:p>
          <a:p>
            <a:r>
              <a:t>Clip F-ANI-05: public/course-media/farmer-5day/F-ANI-05.mp4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why spinach is by the kitchen and maize further away. Groups draw the venue from above (15 min).</a:t>
            </a:r>
          </a:p>
          <a:p/>
          <a:p>
            <a:r>
              <a:t>Poster: F-P05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F-D1-S4. One A-frame per group. Everybody has a job while building.</a:t>
            </a:r>
          </a:p>
          <a:p/>
          <a:p>
            <a:r>
              <a:t>Poster: F-P06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once, then every group calibrates its own frame. Check each level mark before frames are stored.</a:t>
            </a:r>
          </a:p>
          <a:p/>
          <a:p>
            <a:r>
              <a:t>Poster: F-P06</a:t>
            </a:r>
          </a:p>
          <a:p>
            <a:r>
              <a:t>Clip F-ANI-06: public/course-animations/reading-landscape/flow-a-frame.mp4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out A4 and pencils. Any drawing is good. Bring it tomorrow.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circle (toolkit §3). Register PM signatures.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5D34"/>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EFE6D2"/>
                </a:solidFill>
                <a:latin typeface="Verdana"/>
              </a:rPr>
              <a:t>F-D1-01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EFE6D2"/>
                </a:solidFill>
                <a:latin typeface="Verdana"/>
              </a:rPr>
              <a:t>Grow Food, Grow Strong</a:t>
            </a:r>
          </a:p>
        </p:txBody>
      </p:sp>
      <p:sp>
        <p:nvSpPr>
          <p:cNvPr id="4" name="TextBox 3"/>
          <p:cNvSpPr txBox="1"/>
          <p:nvPr/>
        </p:nvSpPr>
        <p:spPr>
          <a:xfrm>
            <a:off x="822960" y="1463040"/>
            <a:ext cx="6400800" cy="1645920"/>
          </a:xfrm>
          <a:prstGeom prst="rect">
            <a:avLst/>
          </a:prstGeom>
          <a:noFill/>
        </p:spPr>
        <p:txBody>
          <a:bodyPr wrap="square" anchor="b" lIns="45720" rIns="45720">
            <a:spAutoFit/>
          </a:bodyPr>
          <a:lstStyle/>
          <a:p>
            <a:pPr algn="l">
              <a:spcAft>
                <a:spcPts val="800"/>
              </a:spcAft>
            </a:pPr>
            <a:r>
              <a:rPr sz="4800" b="1">
                <a:solidFill>
                  <a:srgbClr val="EFE6D2"/>
                </a:solidFill>
                <a:latin typeface="Rockwell"/>
              </a:rPr>
              <a:t>Lima Ukudla, Uqine</a:t>
            </a:r>
          </a:p>
        </p:txBody>
      </p:sp>
      <p:sp>
        <p:nvSpPr>
          <p:cNvPr id="5" name="Rectangle 4"/>
          <p:cNvSpPr/>
          <p:nvPr/>
        </p:nvSpPr>
        <p:spPr>
          <a:xfrm>
            <a:off x="822960" y="3246120"/>
            <a:ext cx="1463040" cy="73152"/>
          </a:xfrm>
          <a:prstGeom prst="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474720"/>
            <a:ext cx="6035040" cy="1828800"/>
          </a:xfrm>
          <a:prstGeom prst="rect">
            <a:avLst/>
          </a:prstGeom>
          <a:noFill/>
        </p:spPr>
        <p:txBody>
          <a:bodyPr wrap="square" anchor="t" lIns="45720" rIns="45720">
            <a:spAutoFit/>
          </a:bodyPr>
          <a:lstStyle/>
          <a:p>
            <a:pPr algn="l">
              <a:spcAft>
                <a:spcPts val="800"/>
              </a:spcAft>
            </a:pPr>
            <a:r>
              <a:rPr sz="2400" b="0">
                <a:solidFill>
                  <a:srgbClr val="EFE6D2"/>
                </a:solidFill>
                <a:latin typeface="Verdana"/>
              </a:rPr>
              <a:t>Usuku 1 kwezi-5 — Kungani silima ngale ndlela</a:t>
            </a:r>
          </a:p>
        </p:txBody>
      </p:sp>
      <p:sp>
        <p:nvSpPr>
          <p:cNvPr id="7" name="Rectangle 6"/>
          <p:cNvSpPr/>
          <p:nvPr/>
        </p:nvSpPr>
        <p:spPr>
          <a:xfrm>
            <a:off x="7498079" y="914400"/>
            <a:ext cx="4206240" cy="47548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1097280"/>
            <a:ext cx="374904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F-IMG-01 · coming</a:t>
            </a:r>
          </a:p>
        </p:txBody>
      </p:sp>
      <p:sp>
        <p:nvSpPr>
          <p:cNvPr id="9" name="TextBox 8"/>
          <p:cNvSpPr txBox="1"/>
          <p:nvPr/>
        </p:nvSpPr>
        <p:spPr>
          <a:xfrm>
            <a:off x="7726679" y="1481328"/>
            <a:ext cx="374904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Course cover</a:t>
            </a:r>
          </a:p>
        </p:txBody>
      </p:sp>
      <p:sp>
        <p:nvSpPr>
          <p:cNvPr id="10" name="TextBox 9"/>
          <p:cNvSpPr txBox="1"/>
          <p:nvPr/>
        </p:nvSpPr>
        <p:spPr>
          <a:xfrm>
            <a:off x="7726679" y="2011680"/>
            <a:ext cx="3749040" cy="34747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community garden at mid-morning: dark mulched beds, a small tank on a corrugated roof, a young woman and a gogo in a headscarf laughing as they carry a basket of leafy greens; hills behind. Sun in the north (upper left or right of frame, shadows toward the viewer's bottom).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F-D1-02   ·   Poster F-P01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Siyanamukela</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Izinsuku 5 · 09:00–16:00</a:t>
            </a:r>
          </a:p>
          <a:p>
            <a:pPr algn="l">
              <a:spcAft>
                <a:spcPts val="1600"/>
              </a:spcAft>
            </a:pPr>
            <a:r>
              <a:rPr sz="2400" b="0">
                <a:solidFill>
                  <a:srgbClr val="1B1A17"/>
                </a:solidFill>
                <a:latin typeface="Verdana"/>
              </a:rPr>
              <a:t>•  Amaqembu aba-5 · izandla enhlabathini</a:t>
            </a:r>
          </a:p>
          <a:p>
            <a:pPr algn="l">
              <a:spcAft>
                <a:spcPts val="1600"/>
              </a:spcAft>
            </a:pPr>
            <a:r>
              <a:rPr sz="2400" b="0">
                <a:solidFill>
                  <a:srgbClr val="1B1A17"/>
                </a:solidFill>
                <a:latin typeface="Verdana"/>
              </a:rPr>
              <a:t>•  Nizohamba nezithombo, imbewu, nohlelo</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F-IMG-02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Welcome circle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About 25 adults of mixed ages in a circle of plastic chairs under a lapa, one standing facilitator mid-gesture, everyone facing each other.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F-D1-03</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SEBENZANI</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Umbuzo wezithombe</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B1A17"/>
                </a:solidFill>
                <a:latin typeface="Verdana"/>
              </a:rPr>
              <a:t>•  Hambani niye empendulweni: A · B · C</a:t>
            </a:r>
          </a:p>
          <a:p>
            <a:pPr algn="l">
              <a:spcAft>
                <a:spcPts val="1600"/>
              </a:spcAft>
            </a:pPr>
            <a:r>
              <a:rPr sz="2600" b="1">
                <a:solidFill>
                  <a:srgbClr val="1B1A17"/>
                </a:solidFill>
                <a:latin typeface="Verdana"/>
              </a:rPr>
              <a:t>•  Akekho ongaphenduli kahle namuhla</a:t>
            </a:r>
          </a:p>
        </p:txBody>
      </p:sp>
      <p:sp>
        <p:nvSpPr>
          <p:cNvPr id="9" name="Rectangle 8"/>
          <p:cNvSpPr/>
          <p:nvPr/>
        </p:nvSpPr>
        <p:spPr>
          <a:xfrm>
            <a:off x="5852160" y="2103120"/>
            <a:ext cx="5852160" cy="411480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F-IMG-70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Picture quiz card 1</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Question (said aloud, not printed in the art): 'Where is the sun at midday in winter?' Art: three panels A/B/C: sun to the north of a house (shadow south) · sun to the south · sun straight overhead. Three equal panels with a large A, B and C typeset below each panel in the layout (not in the 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F-D1-04</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SEBENZANI</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Dwebani ithemba lenu</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B1A17"/>
                </a:solidFill>
                <a:latin typeface="Verdana"/>
              </a:rPr>
              <a:t>•  Ingadi yakho ekupheleni konyaka</a:t>
            </a:r>
          </a:p>
          <a:p>
            <a:pPr algn="l">
              <a:spcAft>
                <a:spcPts val="1600"/>
              </a:spcAft>
            </a:pPr>
            <a:r>
              <a:rPr sz="2600" b="1">
                <a:solidFill>
                  <a:srgbClr val="1B1A17"/>
                </a:solidFill>
                <a:latin typeface="Verdana"/>
              </a:rPr>
              <a:t>•  Yidwebeni — akudingeki ukubhala</a:t>
            </a:r>
          </a:p>
          <a:p>
            <a:pPr algn="l">
              <a:spcAft>
                <a:spcPts val="1600"/>
              </a:spcAft>
            </a:pPr>
            <a:r>
              <a:rPr sz="2600" b="1">
                <a:solidFill>
                  <a:srgbClr val="1B1A17"/>
                </a:solidFill>
                <a:latin typeface="Verdana"/>
              </a:rPr>
              <a:t>•  Khombisani iqembu: umzuzu 1 ngamunye</a:t>
            </a:r>
          </a:p>
        </p:txBody>
      </p:sp>
      <p:sp>
        <p:nvSpPr>
          <p:cNvPr id="9" name="Rectangle 8"/>
          <p:cNvSpPr/>
          <p:nvPr/>
        </p:nvSpPr>
        <p:spPr>
          <a:xfrm>
            <a:off x="5852160" y="2103120"/>
            <a:ext cx="5852160" cy="411480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F-IMG-03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Drawing a hope</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Close-up of hands of different ages drawing with wax crayons on A4 sheets: a house, a garden, a tank.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F-D1-05   ·   Poster F-P01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Indlela esifunda ngayo ndawonye</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Yini esiyidinga komunye nomunye?</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F-P01-ART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F-P01 · Our class agreement</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circle of 10 seated people seen from slightly above — mixed ages, a gogo in a headscarf, a young man in a cap, a woman with a baby on her back — each with an open hand towards the middle, where a single seedling grows from a small mound. Keep the art in the top 35% so the lower part is a **blank ruled area** (12 lines) for the class to write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F-D1-06   ·   Poster F-P02</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Izindlela ezintathu zokunakekela</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B1A17"/>
                </a:solidFill>
                <a:latin typeface="Verdana"/>
              </a:rPr>
              <a:t>•  Nakekela umhlaba</a:t>
            </a:r>
          </a:p>
          <a:p>
            <a:pPr algn="l">
              <a:spcAft>
                <a:spcPts val="1600"/>
              </a:spcAft>
            </a:pPr>
            <a:r>
              <a:rPr sz="2800" b="0">
                <a:solidFill>
                  <a:srgbClr val="1B1A17"/>
                </a:solidFill>
                <a:latin typeface="Verdana"/>
              </a:rPr>
              <a:t>•  Nakekela abantu</a:t>
            </a:r>
          </a:p>
          <a:p>
            <a:pPr algn="l">
              <a:spcAft>
                <a:spcPts val="1600"/>
              </a:spcAft>
            </a:pPr>
            <a:r>
              <a:rPr sz="2800" b="0">
                <a:solidFill>
                  <a:srgbClr val="1B1A17"/>
                </a:solidFill>
                <a:latin typeface="Verdana"/>
              </a:rPr>
              <a:t>•  Yabelana ngokulingene</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F-P02-ART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F-P02 · Earth care · People care · Fair share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Three equal overlapping circles (a Venn). Circle ① (top-left, Leaf green): two cupped hands holding dark soil with a sprouting seedling and an earthworm. Circle ② (top-right, Ochre): a family of four — gogo, mother, two children — eating from one pot. Circle ③ (bottom, Water blue outline only, Paper fill): one hand passing a basket of vegetables and 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F-D1-07   ·   Poster F-P03</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Yiyiphi ingadi ezophila ngesomiso?</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B1A17"/>
                </a:solidFill>
                <a:latin typeface="Verdana"/>
              </a:rPr>
              <a:t>•  Bhekani imizuzu emi-3</a:t>
            </a:r>
          </a:p>
          <a:p>
            <a:pPr algn="l">
              <a:spcAft>
                <a:spcPts val="1600"/>
              </a:spcAft>
            </a:pPr>
            <a:r>
              <a:rPr sz="2800" b="0">
                <a:solidFill>
                  <a:srgbClr val="1B1A17"/>
                </a:solidFill>
                <a:latin typeface="Verdana"/>
              </a:rPr>
              <a:t>•  Yini ehlukile?</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F-P03-ART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F-P03 · Two gardens</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Split vertically. **Left:** a bare, cracked, pale plot on a slight slope; one crop in straight rows; a fertiliser bag and a spray can with a skull-free generic warning shape; rainwater running off in brown channels taking soil down the slope; a hot sun in the north (upper edge) and a wilting plant. **Right:** the same slope with dark mulched beds, many…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F-D1-08</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SEBENZANI</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Inhlabathi engembozwe noma embozwe?</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B1A17"/>
                </a:solidFill>
                <a:latin typeface="Verdana"/>
              </a:rPr>
              <a:t>•  Thelani inkomishi eyodwa kokubili</a:t>
            </a:r>
          </a:p>
          <a:p>
            <a:pPr algn="l">
              <a:spcAft>
                <a:spcPts val="1600"/>
              </a:spcAft>
            </a:pPr>
            <a:r>
              <a:rPr sz="2600" b="1">
                <a:solidFill>
                  <a:srgbClr val="1B1A17"/>
                </a:solidFill>
                <a:latin typeface="Verdana"/>
              </a:rPr>
              <a:t>•  Amanzi aye kuphi?</a:t>
            </a:r>
          </a:p>
        </p:txBody>
      </p:sp>
      <p:sp>
        <p:nvSpPr>
          <p:cNvPr id="9" name="Rectangle 8"/>
          <p:cNvSpPr/>
          <p:nvPr/>
        </p:nvSpPr>
        <p:spPr>
          <a:xfrm>
            <a:off x="5852160" y="2103120"/>
            <a:ext cx="5852160" cy="411480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ANIMATION · F-ANI-03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Two gardens through a dry season</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Split screen, same gentle slope, same fixed camera. LEFT: bare pale soil, one crop in rows. RIGHT: mulched beds, mixed plants, a small tree, a swale. Sequence: (0–5 s) a summer storm — left: brown water runs off in channels carrying soil; right: water soaks in, swale fills and empties downward into the soil. (5–12 s) days pass (sun arcs across the NORTH…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F-D1-09   ·   Poster F-P03</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Ukulima nemvelo</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Inhlabathi ihlale imbozwe</a:t>
            </a:r>
          </a:p>
          <a:p>
            <a:pPr algn="l">
              <a:spcAft>
                <a:spcPts val="1600"/>
              </a:spcAft>
            </a:pPr>
            <a:r>
              <a:rPr sz="2400" b="0">
                <a:solidFill>
                  <a:srgbClr val="1B1A17"/>
                </a:solidFill>
                <a:latin typeface="Verdana"/>
              </a:rPr>
              <a:t>•  Izitshalo eziningi ndawonye</a:t>
            </a:r>
          </a:p>
          <a:p>
            <a:pPr algn="l">
              <a:spcAft>
                <a:spcPts val="1600"/>
              </a:spcAft>
            </a:pPr>
            <a:r>
              <a:rPr sz="2400" b="0">
                <a:solidFill>
                  <a:srgbClr val="1B1A17"/>
                </a:solidFill>
                <a:latin typeface="Verdana"/>
              </a:rPr>
              <a:t>•  Amanzi ahamba kancane · akukho okumoshwayo</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ANIMATION · F-ANI-02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Diversity</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bare row of a single crop wilts as pests arrive; beside it a mixed bed (tall grain, climbing bean, spreading pumpkin-like leaves, flowers) stays green while ladybirds and birds visit. Seasons pass and the mixed bed keeps producing. (Replaces the withdrawn clip `intro-permaculture/watch-13-diversity.mp4`.)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F-D1-10   ·   Poster F-P04</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Izindlela eziyisithupha zokulima nemvelo</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Qala ngokubuka · Bamba ugcine · Abasizi abaningi</a:t>
            </a:r>
          </a:p>
          <a:p>
            <a:pPr algn="l">
              <a:spcAft>
                <a:spcPts val="1600"/>
              </a:spcAft>
            </a:pPr>
            <a:r>
              <a:rPr sz="2400" b="0">
                <a:solidFill>
                  <a:srgbClr val="1B1A17"/>
                </a:solidFill>
                <a:latin typeface="Verdana"/>
              </a:rPr>
              <a:t>•  Akukho okungumfucuza · Qala kancane · Sebenzisa imiphetho</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F-P04-ART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F-P04 · Six garden principles</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2 × 3 grid of six square icons with a bold simple scene each: ① a person squatting, watching rain run across a yard (an eye motif); ② a roof gutter pouring into a tank, and a hand holding seeds; ③ a maize stalk, a bean vine climbing it, and a pumpkin at its foot; ④ vegetable peels going into a compost heap, a small arrow round to a green plant; ⑤ 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SEBENZANI</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Ukuzingela izithombe</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B1A17"/>
                </a:solidFill>
                <a:latin typeface="Verdana"/>
              </a:rPr>
              <a:t>•  Fanisani isithombe ngasinye nendlela</a:t>
            </a:r>
          </a:p>
          <a:p>
            <a:pPr algn="l">
              <a:spcAft>
                <a:spcPts val="1600"/>
              </a:spcAft>
            </a:pPr>
            <a:r>
              <a:rPr sz="2600" b="1">
                <a:solidFill>
                  <a:srgbClr val="1B1A17"/>
                </a:solidFill>
                <a:latin typeface="Verdana"/>
              </a:rPr>
              <a:t>•  Wonke umuntu abeke izithombe ezimbili</a:t>
            </a:r>
          </a:p>
          <a:p>
            <a:pPr algn="l">
              <a:spcAft>
                <a:spcPts val="1600"/>
              </a:spcAft>
            </a:pPr>
            <a:r>
              <a:rPr sz="2600" b="1">
                <a:solidFill>
                  <a:srgbClr val="1B1A17"/>
                </a:solidFill>
                <a:latin typeface="Verdana"/>
              </a:rPr>
              <a:t>•  Imizuzu engu-20, bese nizungeza nibuka</a:t>
            </a:r>
          </a:p>
        </p:txBody>
      </p:sp>
      <p:sp>
        <p:nvSpPr>
          <p:cNvPr id="9" name="Rectangle 8"/>
          <p:cNvSpPr/>
          <p:nvPr/>
        </p:nvSpPr>
        <p:spPr>
          <a:xfrm>
            <a:off x="5852160" y="2103120"/>
            <a:ext cx="5852160" cy="411480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F-IMG-80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Principle picture — Watch first</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Photo-like illustration of a person squatting and watching rain run across a yard. Must look like a magazine picture (a scene, not a diagram) so the hunt still works. No 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F-D1-12   ·   Poster F-P05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Lingaphi ilanga?</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ENingizimu Afrika ilanga lisenyakatho</a:t>
            </a:r>
          </a:p>
          <a:p>
            <a:pPr algn="l">
              <a:spcAft>
                <a:spcPts val="1600"/>
              </a:spcAft>
            </a:pPr>
            <a:r>
              <a:rPr sz="2400" b="0">
                <a:solidFill>
                  <a:srgbClr val="1B1A17"/>
                </a:solidFill>
                <a:latin typeface="Verdana"/>
              </a:rPr>
              <a:t>•  Imithunzi iwela eningizimu</a:t>
            </a:r>
          </a:p>
          <a:p>
            <a:pPr algn="l">
              <a:spcAft>
                <a:spcPts val="1600"/>
              </a:spcAft>
            </a:pPr>
            <a:r>
              <a:rPr sz="2400" b="0">
                <a:solidFill>
                  <a:srgbClr val="1B1A17"/>
                </a:solidFill>
                <a:latin typeface="Verdana"/>
              </a:rPr>
              <a:t>•  Tshala enyakatho yendlu</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ANIMATION · F-ANI-04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Sun and shadows</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small house on open ground seen from the side at an angle. The sun travels in a low arc across the NORTH side of the sky from east (right) to west (left); the house's shadow sweeps across the ground on the SOUTH side. Then winter: the arc drops lower and the shadow grows longer. Loops. (Replaces the withdrawn clip…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F-D1-13   ·   Poster F-P05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SEBENZANI</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Fundani umhlaba</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B1A17"/>
                </a:solidFill>
                <a:latin typeface="Verdana"/>
              </a:rPr>
              <a:t>•  Ophuzi = ilanga usuku lonke</a:t>
            </a:r>
          </a:p>
          <a:p>
            <a:pPr algn="l">
              <a:spcAft>
                <a:spcPts val="1600"/>
              </a:spcAft>
            </a:pPr>
            <a:r>
              <a:rPr sz="2600" b="1">
                <a:solidFill>
                  <a:srgbClr val="1B1A17"/>
                </a:solidFill>
                <a:latin typeface="Verdana"/>
              </a:rPr>
              <a:t>•  Obomvu = amakhaza noma umoya onamandla</a:t>
            </a:r>
          </a:p>
          <a:p>
            <a:pPr algn="l">
              <a:spcAft>
                <a:spcPts val="1600"/>
              </a:spcAft>
            </a:pPr>
            <a:r>
              <a:rPr sz="2600" b="1">
                <a:solidFill>
                  <a:srgbClr val="1B1A17"/>
                </a:solidFill>
                <a:latin typeface="Verdana"/>
              </a:rPr>
              <a:t>•  Oluhlaza okwesibhakabhaka = amanzi ayagobhoza noma ayama</a:t>
            </a:r>
          </a:p>
        </p:txBody>
      </p:sp>
      <p:sp>
        <p:nvSpPr>
          <p:cNvPr id="9" name="Rectangle 8"/>
          <p:cNvSpPr/>
          <p:nvPr/>
        </p:nvSpPr>
        <p:spPr>
          <a:xfrm>
            <a:off x="5852160" y="2103120"/>
            <a:ext cx="5852160" cy="411480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ANIMATION · F-ANI-05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Water movement</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homestead on a gentle slope in a summer storm: rain falls on roof, road and yard; blue flow lines gather into channels and run downhill carrying soil. Then the same slope with stone lines and grass strips, where the water spreads and sinks in. (Replaces the withdrawn clip `reading-landscape/watch-05-water-movement.mp4`.)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F-D1-14   ·   Poster F-P05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Ama-zone: eduze nomnyango</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0 indlu · 1 amakhambi nemifino yansuku zonke</a:t>
            </a:r>
          </a:p>
          <a:p>
            <a:pPr algn="l">
              <a:spcAft>
                <a:spcPts val="1600"/>
              </a:spcAft>
            </a:pPr>
            <a:r>
              <a:rPr sz="2400" b="0">
                <a:solidFill>
                  <a:srgbClr val="1B1A17"/>
                </a:solidFill>
                <a:latin typeface="Verdana"/>
              </a:rPr>
              <a:t>•  2 imibhede, izithelo, izinkukhu · 3 amasimu</a:t>
            </a:r>
          </a:p>
          <a:p>
            <a:pPr algn="l">
              <a:spcAft>
                <a:spcPts val="1600"/>
              </a:spcAft>
            </a:pPr>
            <a:r>
              <a:rPr sz="2400" b="0">
                <a:solidFill>
                  <a:srgbClr val="1B1A17"/>
                </a:solidFill>
                <a:latin typeface="Verdana"/>
              </a:rPr>
              <a:t>•  4 amadlelo nezinkuni · 5 endle</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F-P05-ART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F-P05 · Read your land</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bird's-eye illustrated homestead on a gentle slope. A compass rose with the N arrow pointing to the TOP of the poster. The sun drawn at the top (north) with its arc from east (right) to west (left); the house casts its shadow to the SOUTH (bottom). Blue arrows show water running from the road and roof down the slope. A cold wind drawn as grey curved…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F-D1-15   ·   Poster F-P06</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Thola umugqa olinganayo</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Imilenze emibili · induku ephambanayo · intambo netshe</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POSTER ART · F-P06-ART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Artwork for F-P06 · Build an A-frame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Large side view of an A-frame made of two wooden droppers tied at the top (crossed, tips sticking out), a horizontal crossbar halfway, and a string with a stone hanging from the apex past the crossbar. Below it, a small 3-step strip: (a) frame on two pegs, a mark where the string crosses; (b) the frame turned round, feet swapped, a second mark; (c) a big…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F-D1-16   ·   Poster F-P06</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Rounded Rectangle 3"/>
          <p:cNvSpPr/>
          <p:nvPr/>
        </p:nvSpPr>
        <p:spPr>
          <a:xfrm>
            <a:off x="457200" y="320040"/>
            <a:ext cx="1737360" cy="411480"/>
          </a:xfrm>
          <a:prstGeom prst="roundRect">
            <a:avLst/>
          </a:prstGeom>
          <a:solidFill>
            <a:srgbClr val="B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EFE6D2"/>
                </a:solidFill>
                <a:latin typeface="Verdana"/>
              </a:rPr>
              <a:t>SEBENZANI</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Lungisani i-A-frame</a:t>
            </a:r>
          </a:p>
        </p:txBody>
      </p:sp>
      <p:sp>
        <p:nvSpPr>
          <p:cNvPr id="7" name="Rectangle 6"/>
          <p:cNvSpPr/>
          <p:nvPr/>
        </p:nvSpPr>
        <p:spPr>
          <a:xfrm>
            <a:off x="457200" y="187452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3000" b="1">
                <a:solidFill>
                  <a:srgbClr val="1B1A17"/>
                </a:solidFill>
                <a:latin typeface="Verdana"/>
              </a:rPr>
              <a:t>•  Makani · phendulani · makani</a:t>
            </a:r>
          </a:p>
          <a:p>
            <a:pPr algn="l">
              <a:spcAft>
                <a:spcPts val="1600"/>
              </a:spcAft>
            </a:pPr>
            <a:r>
              <a:rPr sz="3000" b="1">
                <a:solidFill>
                  <a:srgbClr val="1B1A17"/>
                </a:solidFill>
                <a:latin typeface="Verdana"/>
              </a:rPr>
              <a:t>•  Phakathi kulinganile</a:t>
            </a:r>
          </a:p>
        </p:txBody>
      </p:sp>
      <p:pic>
        <p:nvPicPr>
          <p:cNvPr id="9" name="Picture 8" descr="flow-a-frame.jpg"/>
          <p:cNvPicPr>
            <a:picLocks noChangeAspect="1"/>
          </p:cNvPicPr>
          <p:nvPr/>
        </p:nvPicPr>
        <p:blipFill>
          <a:blip r:embed="rId2"/>
          <a:stretch>
            <a:fillRect/>
          </a:stretch>
        </p:blipFill>
        <p:spPr>
          <a:xfrm>
            <a:off x="5852160" y="2514600"/>
            <a:ext cx="5852160" cy="3291840"/>
          </a:xfrm>
          <a:prstGeom prst="rect">
            <a:avLst/>
          </a:prstGeom>
        </p:spPr>
      </p:pic>
      <p:sp>
        <p:nvSpPr>
          <p:cNvPr id="10" name="Rectangle 9"/>
          <p:cNvSpPr/>
          <p:nvPr/>
        </p:nvSpPr>
        <p:spPr>
          <a:xfrm>
            <a:off x="5852160" y="5806440"/>
            <a:ext cx="5852160" cy="411480"/>
          </a:xfrm>
          <a:prstGeom prst="rect">
            <a:avLst/>
          </a:prstGeom>
          <a:solidFill>
            <a:srgbClr val="1B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0" y="5815584"/>
            <a:ext cx="5669280" cy="384048"/>
          </a:xfrm>
          <a:prstGeom prst="rect">
            <a:avLst/>
          </a:prstGeom>
          <a:noFill/>
        </p:spPr>
        <p:txBody>
          <a:bodyPr wrap="square" anchor="ctr" lIns="45720" rIns="45720">
            <a:spAutoFit/>
          </a:bodyPr>
          <a:lstStyle/>
          <a:p>
            <a:pPr algn="l">
              <a:spcAft>
                <a:spcPts val="800"/>
              </a:spcAft>
            </a:pPr>
            <a:r>
              <a:rPr sz="1100" b="0">
                <a:solidFill>
                  <a:srgbClr val="EFE6D2"/>
                </a:solidFill>
                <a:latin typeface="Verdana"/>
              </a:rPr>
              <a:t>▶  Clip F-ANI-06 · play from the tablet: flow-a-frame.mp4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F-D1-17</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Kusihlwa: dweba igceke lakho</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B1A17"/>
                </a:solidFill>
                <a:latin typeface="Verdana"/>
              </a:rPr>
              <a:t>•  Indlu · umcibisholo wasenyakatho · ithephu</a:t>
            </a:r>
          </a:p>
          <a:p>
            <a:pPr algn="l">
              <a:spcAft>
                <a:spcPts val="1600"/>
              </a:spcAft>
            </a:pPr>
            <a:r>
              <a:rPr sz="2400" b="0">
                <a:solidFill>
                  <a:srgbClr val="1B1A17"/>
                </a:solidFill>
                <a:latin typeface="Verdana"/>
              </a:rPr>
              <a:t>•  Lapho amanzi agobhoza khona · lapho ilanga lishisa khona</a:t>
            </a:r>
          </a:p>
          <a:p>
            <a:pPr algn="l">
              <a:spcAft>
                <a:spcPts val="1600"/>
              </a:spcAft>
            </a:pPr>
            <a:r>
              <a:rPr sz="2400" b="0">
                <a:solidFill>
                  <a:srgbClr val="1B1A17"/>
                </a:solidFill>
                <a:latin typeface="Verdana"/>
              </a:rPr>
              <a:t>•  Lapho i-Zone 1 izoba khona</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F-IMG-04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My garden map</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A hand-drawn map on paper seen from above: a house square, a north arrow, a tap, blue arrows of water, a sun symbol on the north side, a circle marking zone 1. Pencil and crayon style.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FE6D2"/>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B1A17"/>
                </a:solidFill>
                <a:latin typeface="Verdana"/>
              </a:rPr>
              <a:t>F-D1-18</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B1A17"/>
                </a:solidFill>
                <a:latin typeface="Verdana"/>
              </a:rPr>
              <a:t>Grow Food, Grow Strong</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B1A17"/>
                </a:solidFill>
                <a:latin typeface="Rockwell"/>
              </a:rPr>
              <a:t>Igama elilodwa</a:t>
            </a:r>
          </a:p>
        </p:txBody>
      </p:sp>
      <p:sp>
        <p:nvSpPr>
          <p:cNvPr id="5" name="Rectangle 4"/>
          <p:cNvSpPr/>
          <p:nvPr/>
        </p:nvSpPr>
        <p:spPr>
          <a:xfrm>
            <a:off x="457200" y="1463040"/>
            <a:ext cx="11247120" cy="9525"/>
          </a:xfrm>
          <a:prstGeom prst="rect">
            <a:avLst/>
          </a:prstGeom>
          <a:solidFill>
            <a:srgbClr val="2F5D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B1A17"/>
                </a:solidFill>
                <a:latin typeface="Verdana"/>
              </a:rPr>
              <a:t>•  Igama elilodwa ngalolu suku</a:t>
            </a:r>
          </a:p>
          <a:p>
            <a:pPr algn="l">
              <a:spcAft>
                <a:spcPts val="1600"/>
              </a:spcAft>
            </a:pPr>
            <a:r>
              <a:rPr sz="2800" b="0">
                <a:solidFill>
                  <a:srgbClr val="1B1A17"/>
                </a:solidFill>
                <a:latin typeface="Verdana"/>
              </a:rPr>
              <a:t>•  Into ozoyenza ekhaya</a:t>
            </a:r>
          </a:p>
          <a:p>
            <a:pPr algn="l">
              <a:spcAft>
                <a:spcPts val="1600"/>
              </a:spcAft>
            </a:pPr>
            <a:r>
              <a:rPr sz="2800" b="0">
                <a:solidFill>
                  <a:srgbClr val="1B1A17"/>
                </a:solidFill>
                <a:latin typeface="Verdana"/>
              </a:rPr>
              <a:t>•  Amathuluzi abuyiswe abalwe</a:t>
            </a:r>
          </a:p>
        </p:txBody>
      </p:sp>
      <p:sp>
        <p:nvSpPr>
          <p:cNvPr id="7" name="Rectangle 6"/>
          <p:cNvSpPr/>
          <p:nvPr/>
        </p:nvSpPr>
        <p:spPr>
          <a:xfrm>
            <a:off x="5852160" y="1691640"/>
            <a:ext cx="5852160" cy="4526280"/>
          </a:xfrm>
          <a:prstGeom prst="rect">
            <a:avLst/>
          </a:prstGeom>
          <a:solidFill>
            <a:srgbClr val="EFE6D2"/>
          </a:solidFill>
          <a:ln w="15875">
            <a:solidFill>
              <a:srgbClr val="2F5D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B24E2A"/>
                </a:solidFill>
                <a:latin typeface="Verdana"/>
              </a:rPr>
              <a:t>IMAGE · F-IMG-05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B1A17"/>
                </a:solidFill>
                <a:latin typeface="Rockwell"/>
              </a:rPr>
              <a:t>Closing circle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B1A17"/>
                </a:solidFill>
                <a:latin typeface="Verdana"/>
              </a:rPr>
              <a:t>Late-afternoon warm light; a circle of standing people, one holding up a hand to speak; tools laid neatly on a tarp in the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