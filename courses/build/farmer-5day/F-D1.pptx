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Leave it up while learners register (F-D1-S0).</a:t>
            </a:r>
          </a:p>
          <a:p/>
          <a:p>
            <a:r>
              <a:t>Picture F-IMG-01 (coming) — Course cover: A community garden at mid-morning: dark mulched beds, a small tank on a corrugated roof, a young woman and a gogo in a headscarf laughing as they carry a basket of leafy greens; hills behind. Sun in the north (upper left or right of frame, shadows toward the viewer's bottom).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both facilitators. Teach the call and response. Round of names: name, where you live, one thing you grow.</a:t>
            </a:r>
          </a:p>
          <a:p/>
          <a:p>
            <a:r>
              <a:t>Poster: F-P01</a:t>
            </a:r>
          </a:p>
          <a:p>
            <a:r>
              <a:t>Picture F-IMG-02 (coming) — Welcome circle: About 25 adults of mixed ages in a circle of plastic chairs under a lapa, one standing facilitator mid-gesture, everyone facing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quiz cards F-IMG-70 to 77 one at a time (forms.md §5). Co-facilitator counts each corner.</a:t>
            </a:r>
          </a:p>
          <a:p/>
          <a:p>
            <a:r>
              <a:t>Picture F-IMG-70 (coming) — Picture quiz card 1: Question (said aloud, not printed in the art): 'Where is the sun at midday in winter?' Art: three panels A/B/C: sun to the north of a house (shadow south) · sun to the south · sun straight overhead. Three equal panels with a large A, B and C typeset below each panel in the layout (not in the 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F-D1-S1. 5 min drawing, 5 min in groups. Stick all drawings under "Our hopes".</a:t>
            </a:r>
          </a:p>
          <a:p/>
          <a:p>
            <a:r>
              <a:t>Picture F-IMG-03 (coming) — Drawing a hope: Close-up of hands of different ages drawing with wax crayons on A4 sheets: a house, a garden, a tank.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the class's words on the poster, not yours. Check the eight points on the F-P01 card are there. Everyone signs.</a:t>
            </a:r>
          </a:p>
          <a:p/>
          <a:p>
            <a:r>
              <a:t>Poster: F-P01</a:t>
            </a:r>
          </a:p>
          <a:p>
            <a:r>
              <a:t>Picture F-P01-ART (coming) — Artwork for F-P01 · Our class agreement: A circle of 10 seated people seen from slightly above — mixed ages, a gogo in a headscarf, a young man in a cap, a woman with a baby on her back — each with an open hand towards the middle, where a single seedling grows from a small mound. Keep the art in the top 35% so the lower part is a **blank ruled area** (12 lines) for the class to write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Gogo Thandi story first. Then the three circles. Groups draw one thing they already do for each (8 min).</a:t>
            </a:r>
          </a:p>
          <a:p/>
          <a:p>
            <a:r>
              <a:t>Poster: F-P02</a:t>
            </a:r>
          </a:p>
          <a:p>
            <a:r>
              <a:t>Also: F-ANI-01</a:t>
            </a:r>
          </a:p>
          <a:p>
            <a:r>
              <a:t>Picture F-P02-ART (coming) — Artwork for F-P02 · Earth care · People care · Fair share: Three equal overlapping circles (a Venn). Circle ① (top-left, Leaf green): two cupped hands holding dark soil with a sprouting seedling and an earthworm. Circle ② (top-right, Ochre): a family of four — gogo, mother, two children — eating from one pot. Circle ③ (bottom, Water blue outline only, Paper fill): one hand passing a basket of vegetables and a small seed packet to another hand, with a curved arrow back to soil. In the centre overlap: a small homestead garden.</a:t>
            </a:r>
          </a:p>
          <a:p>
            <a:r>
              <a:t>Clip F-ANI-01: public/course-media/farmer-5day/F-ANI-01.mp4</a:t>
            </a:r>
          </a:p>
          <a:p>
            <a:r>
              <a:t>Picture F-ANI-01 (coming) — Three ethics: Three circles form one after another and overlap: hands holding soil with a seedling; a family eating from one pot; a basket passing between two hands while peels return to the soil. The shared centre fills with a small green garden. (Replaces the withdrawn clip `intro-permaculture/watch-07-three-ethics.mp4`.)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F-D1-S2. Cover the right half on the poster; on screen show the full picture after groups have discussed the left.</a:t>
            </a:r>
          </a:p>
          <a:p/>
          <a:p>
            <a:r>
              <a:t>Poster: F-P03</a:t>
            </a:r>
          </a:p>
          <a:p>
            <a:r>
              <a:t>Picture F-P03-ART (coming) — Artwork for F-P03 · Two gardens: Split vertically. **Left:** a bare, cracked, pale plot on a slight slope; one crop in straight rows; a fertiliser bag and a spray can with a skull-free generic warning shape; rainwater running off in brown channels taking soil down the slope; a hot sun in the north (upper edge) and a wilting plant. **Right:** the same slope with dark mulched beds, many mixed plant shapes of different heights, a small tree, a compost heap, a swale with water soaking in, a tank on a small roof, a bird and a ladybird. Same sky; right side looks cooler.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Water-pour demo outside, every group pours. Optional clip F-ANI-03 shows the two gardens through a dry season.</a:t>
            </a:r>
          </a:p>
          <a:p/>
          <a:p>
            <a:r>
              <a:t>Clip F-ANI-03: public/course-media/farmer-5day/F-ANI-03.mp4</a:t>
            </a:r>
          </a:p>
          <a:p>
            <a:r>
              <a:t>Picture F-ANI-03 (coming) — Two gardens through a dry season: Split screen, same gentle slope, same fixed camera. LEFT: bare pale soil, one crop in rows. RIGHT: mulched beds, mixed plants, a small tree, a swale. Sequence: (0–5 s) a summer storm — left: brown water runs off in channels carrying soil; right: water soaks in, swale fills and empties downward into the soil. (5–12 s) days pass (sun arcs across the NORTH side of the frame, shadows to the south) — left soil cracks, plants wilt; right stays green. (12–20 s) dry season — left bare and dusty; right still producing, mulch visible. Loop back softly. No text.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Agroecology = farming with nature. Permaculture = designing with nature. Ask what grandmothers did.</a:t>
            </a:r>
          </a:p>
          <a:p/>
          <a:p>
            <a:r>
              <a:t>Poster: F-P03</a:t>
            </a:r>
          </a:p>
          <a:p>
            <a:r>
              <a:t>Clip F-ANI-02: public/course-media/farmer-5day/F-ANI-02.mp4</a:t>
            </a:r>
          </a:p>
          <a:p>
            <a:r>
              <a:t>Picture F-ANI-02 (coming) — Diversity: A bare row of a single crop wilts as pests arrive; beside it a mixed bed (tall grain, climbing bean, spreading pumpkin-like leaves, flowers) stays green while ladybirds and birds visit. Seasons pass and the mixed bed keeps producing. (Replaces the withdrawn clip `intro-permaculture/watch-13-diversity.mp4`.)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per principle: point, say it, ask for a local example.</a:t>
            </a:r>
          </a:p>
          <a:p/>
          <a:p>
            <a:r>
              <a:t>Poster: F-P04</a:t>
            </a:r>
          </a:p>
          <a:p>
            <a:r>
              <a:t>Picture F-P04-ART (coming) — Artwork for F-P04 · Six garden principles: A 2 × 3 grid of six square icons with a bold simple scene each: ① a person squatting, watching rain run across a yard (an eye motif); ② a roof gutter pouring into a tank, and a hand holding seeds; ③ a maize stalk, a bean vine climbing it, and a pumpkin at its foot; ④ vegetable peels going into a compost heap, a small arrow round to a green plant; ⑤ one small, lush, well-kept bed next to three large bare ones (crossed out lightly); ⑥ a bed along a path and a fence with climbing beans, a tap dripping onto a plant.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Envelopes of 10 pictures per group. No magazines? Use printed picture cards F-IMG-80 to 91.</a:t>
            </a:r>
          </a:p>
          <a:p/>
          <a:p>
            <a:r>
              <a:t>Picture F-IMG-80 (coming) — Principle picture — Watch first: Photo-like illustration of a person squatting and watching rain run across a yard. Must look like a magazine picture (a scene, not a diagram) so the hunt still works. No text.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F-D1-S3. Cardboard house in the real sun, or a torch. Lower the torch for winter: longer shadows.</a:t>
            </a:r>
          </a:p>
          <a:p/>
          <a:p>
            <a:r>
              <a:t>Poster: F-P05</a:t>
            </a:r>
          </a:p>
          <a:p>
            <a:r>
              <a:t>Clip F-ANI-04: public/course-media/farmer-5day/F-ANI-04.mp4</a:t>
            </a:r>
          </a:p>
          <a:p>
            <a:r>
              <a:t>Picture F-ANI-04 (coming) — Sun and shadows: A small house on open ground seen from the side at an angle. The sun travels in a low arc across the NORTH side of the sky from east (right) to west (left); the house's shadow sweeps across the ground on the SOUTH side. Then winter: the arc drops lower and the shadow grows longer. Loops. (Replaces the withdrawn clip `reading-landscape/watch-09-sun-shadows.mp4`.)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20-minute site walk with ribbons and pegs. Clues: channels, silt, wet patches, bent trees.</a:t>
            </a:r>
          </a:p>
          <a:p/>
          <a:p>
            <a:r>
              <a:t>Poster: F-P05</a:t>
            </a:r>
          </a:p>
          <a:p>
            <a:r>
              <a:t>Clip F-ANI-05: public/course-media/farmer-5day/F-ANI-05.mp4</a:t>
            </a:r>
          </a:p>
          <a:p>
            <a:r>
              <a:t>Picture F-ANI-05 (coming) — Water movement: A homestead on a gentle slope in a summer storm: rain falls on roof, road and yard; blue flow lines gather into channels and run downhill carrying soil. Then the same slope with stone lines and grass strips, where the water spreads and sinks in. (Replaces the withdrawn clip `reading-landscape/watch-05-water-movement.mp4`.)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why spinach is by the kitchen and maize further away. Groups draw the venue from above (15 min).</a:t>
            </a:r>
          </a:p>
          <a:p/>
          <a:p>
            <a:r>
              <a:t>Poster: F-P05</a:t>
            </a:r>
          </a:p>
          <a:p>
            <a:r>
              <a:t>Picture F-P05-ART (coming) — Artwork for F-P05 · Read your land: A bird's-eye illustrated homestead on a gentle slope. A compass rose with the N arrow pointing to the TOP of the poster. The sun drawn at the top (north) with its arc from east (right) to west (left); the house casts its shadow to the SOUTH (bottom). Blue arrows show water running from the road and roof down the slope. A cold wind drawn as grey curved lines from the south-west (bottom-left). Five concentric soft bands around the house (zones 0–5): 0 house; 1 herbs and a tap next to the kitchen door; 2 beds, fruit trees, a chicken run; 3 a maize/bean/pumpkin field; 4 grazing and a woodlot; 5 wild bush on the far edge.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F-D1-S4. One A-frame per group. Everybody has a job while building.</a:t>
            </a:r>
          </a:p>
          <a:p/>
          <a:p>
            <a:r>
              <a:t>Poster: F-P06</a:t>
            </a:r>
          </a:p>
          <a:p>
            <a:r>
              <a:t>Picture F-P06-ART (coming) — Artwork for F-P06 · Build an A-frame: Large side view of an A-frame made of two wooden droppers tied at the top (crossed, tips sticking out), a horizontal crossbar halfway, and a string with a stone hanging from the apex past the crossbar. Below it, a small 3-step strip: (a) frame on two pegs, a mark where the string crosses; (b) the frame turned round, feet swapped, a second mark; (c) a big mark exactly between them. At the bottom, a young woman and an older man walking the frame across a slope, leaving a line of pegs that curves with the land.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once, then every group calibrates its own frame. Check each level mark before frames are stored.</a:t>
            </a:r>
          </a:p>
          <a:p/>
          <a:p>
            <a:r>
              <a:t>Poster: F-P06</a:t>
            </a:r>
          </a:p>
          <a:p>
            <a:r>
              <a:t>Clip F-ANI-06: public/course-animations/reading-landscape/flow-a-frame.mp4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out A4 and pencils. Any drawing is good. Bring it tomorrow.</a:t>
            </a:r>
          </a:p>
          <a:p/>
          <a:p>
            <a:r>
              <a:t>Picture F-IMG-04 (coming) — My garden map: A hand-drawn map on paper seen from above: a house square, a north arrow, a tap, blue arrows of water, a sun symbol on the north side, a circle marking zone 1. Pencil and crayon style.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circle (toolkit §3). Register PM signatures.</a:t>
            </a:r>
          </a:p>
          <a:p/>
          <a:p>
            <a:r>
              <a:t>Picture F-IMG-05 (coming) — Closing circle: Late-afternoon warm light; a circle of standing people, one holding up a hand to speak; tools laid neatly on a tarp in the centre.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5D34"/>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31750">
            <a:solidFill>
              <a:srgbClr val="EFE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a:off x="201168"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37061"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a:off x="1272955"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808849"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2344743"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sosceles Triangle 7"/>
          <p:cNvSpPr/>
          <p:nvPr/>
        </p:nvSpPr>
        <p:spPr>
          <a:xfrm>
            <a:off x="2880637"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3416530"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3952424"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sosceles Triangle 10"/>
          <p:cNvSpPr/>
          <p:nvPr/>
        </p:nvSpPr>
        <p:spPr>
          <a:xfrm>
            <a:off x="4488318"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sceles Triangle 11"/>
          <p:cNvSpPr/>
          <p:nvPr/>
        </p:nvSpPr>
        <p:spPr>
          <a:xfrm>
            <a:off x="5024212"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560106"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a:off x="6096000"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6631893"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7167787"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7703681"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8239575"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8775469"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9311362"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9847256"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a:off x="10383150"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10919044"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11454938" y="6291072"/>
            <a:ext cx="535893" cy="365760"/>
          </a:xfrm>
          <a:prstGeom prst="triangl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897880"/>
            <a:ext cx="5486400" cy="274320"/>
          </a:xfrm>
          <a:prstGeom prst="rect">
            <a:avLst/>
          </a:prstGeom>
          <a:noFill/>
        </p:spPr>
        <p:txBody>
          <a:bodyPr wrap="square" anchor="ctr" lIns="45720" rIns="45720" tIns="0" bIns="0">
            <a:spAutoFit/>
          </a:bodyPr>
          <a:lstStyle/>
          <a:p>
            <a:pPr algn="l">
              <a:spcAft>
                <a:spcPts val="800"/>
              </a:spcAft>
            </a:pPr>
            <a:r>
              <a:rPr sz="1000" b="0">
                <a:solidFill>
                  <a:srgbClr val="A2AF93"/>
                </a:solidFill>
                <a:latin typeface="Verdana"/>
              </a:rPr>
              <a:t>Grow Food, Grow Strong  ·  F-D1-01</a:t>
            </a:r>
          </a:p>
        </p:txBody>
      </p:sp>
      <p:sp>
        <p:nvSpPr>
          <p:cNvPr id="26" name="TextBox 25"/>
          <p:cNvSpPr txBox="1"/>
          <p:nvPr/>
        </p:nvSpPr>
        <p:spPr>
          <a:xfrm>
            <a:off x="9768840" y="5897880"/>
            <a:ext cx="1828800" cy="274320"/>
          </a:xfrm>
          <a:prstGeom prst="rect">
            <a:avLst/>
          </a:prstGeom>
          <a:noFill/>
        </p:spPr>
        <p:txBody>
          <a:bodyPr wrap="square" anchor="ctr" lIns="45720" rIns="45720" tIns="0" bIns="0">
            <a:spAutoFit/>
          </a:bodyPr>
          <a:lstStyle/>
          <a:p>
            <a:pPr algn="r">
              <a:spcAft>
                <a:spcPts val="800"/>
              </a:spcAft>
            </a:pPr>
            <a:r>
              <a:rPr sz="1000" b="0">
                <a:solidFill>
                  <a:srgbClr val="A2AF93"/>
                </a:solidFill>
                <a:latin typeface="Verdana"/>
              </a:rPr>
              <a:t>1 / 18</a:t>
            </a:r>
          </a:p>
        </p:txBody>
      </p:sp>
      <p:sp>
        <p:nvSpPr>
          <p:cNvPr id="27" name="TextBox 26"/>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BFC4AA"/>
                </a:solidFill>
                <a:latin typeface="Verdana"/>
              </a:rPr>
              <a:t>DAY 1</a:t>
            </a:r>
          </a:p>
        </p:txBody>
      </p:sp>
      <p:sp>
        <p:nvSpPr>
          <p:cNvPr id="28" name="TextBox 27"/>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EFE6D2"/>
                </a:solidFill>
                <a:latin typeface="Rockwell"/>
              </a:rPr>
              <a:t>Grow Food, Grow Strong</a:t>
            </a:r>
          </a:p>
        </p:txBody>
      </p:sp>
      <p:sp>
        <p:nvSpPr>
          <p:cNvPr id="29" name="Rectangle 28"/>
          <p:cNvSpPr/>
          <p:nvPr/>
        </p:nvSpPr>
        <p:spPr>
          <a:xfrm>
            <a:off x="822960" y="3639312"/>
            <a:ext cx="146304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2D1BA"/>
                </a:solidFill>
                <a:latin typeface="Verdana"/>
              </a:rPr>
              <a:t>Day 1 of 5 — Why we farm this way</a:t>
            </a:r>
          </a:p>
        </p:txBody>
      </p:sp>
      <p:sp>
        <p:nvSpPr>
          <p:cNvPr id="31" name="Rectangle 30"/>
          <p:cNvSpPr/>
          <p:nvPr/>
        </p:nvSpPr>
        <p:spPr>
          <a:xfrm>
            <a:off x="7452360" y="914400"/>
            <a:ext cx="4114800" cy="4206240"/>
          </a:xfrm>
          <a:prstGeom prst="rect">
            <a:avLst/>
          </a:prstGeom>
          <a:solidFill>
            <a:srgbClr val="F8F4EB"/>
          </a:solidFill>
          <a:ln w="50800">
            <a:solidFill>
              <a:srgbClr val="EFE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8280" y="205740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34" name="TextBox 33"/>
          <p:cNvSpPr txBox="1"/>
          <p:nvPr/>
        </p:nvSpPr>
        <p:spPr>
          <a:xfrm>
            <a:off x="7836408" y="3063240"/>
            <a:ext cx="334670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Course cover</a:t>
            </a:r>
          </a:p>
        </p:txBody>
      </p:sp>
      <p:sp>
        <p:nvSpPr>
          <p:cNvPr id="35" name="TextBox 34"/>
          <p:cNvSpPr txBox="1"/>
          <p:nvPr/>
        </p:nvSpPr>
        <p:spPr>
          <a:xfrm>
            <a:off x="7836408" y="4553712"/>
            <a:ext cx="334670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PICTURE · F-IMG-01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POSTER F-P01</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F-D1-02</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2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DAY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Welcome</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5 days · 09:00–16:00</a:t>
            </a:r>
          </a:p>
          <a:p>
            <a:pPr algn="l" marL="412750" indent="-412750">
              <a:spcAft>
                <a:spcPts val="1800"/>
              </a:spcAft>
            </a:pPr>
            <a:r>
              <a:rPr sz="2600" b="1">
                <a:solidFill>
                  <a:srgbClr val="B24E2A"/>
                </a:solidFill>
                <a:latin typeface="Verdana"/>
              </a:rPr>
              <a:t>■  </a:t>
            </a:r>
            <a:r>
              <a:rPr sz="2600" b="0">
                <a:solidFill>
                  <a:srgbClr val="1B1A17"/>
                </a:solidFill>
                <a:latin typeface="Verdana"/>
              </a:rPr>
              <a:t>Groups of 5 · hands in the soil</a:t>
            </a:r>
          </a:p>
          <a:p>
            <a:pPr algn="l" marL="412750" indent="-412750">
              <a:spcAft>
                <a:spcPts val="1800"/>
              </a:spcAft>
            </a:pPr>
            <a:r>
              <a:rPr sz="2600" b="1">
                <a:solidFill>
                  <a:srgbClr val="B24E2A"/>
                </a:solidFill>
                <a:latin typeface="Verdana"/>
              </a:rPr>
              <a:t>■  </a:t>
            </a:r>
            <a:r>
              <a:rPr sz="2600" b="0">
                <a:solidFill>
                  <a:srgbClr val="1B1A17"/>
                </a:solidFill>
                <a:latin typeface="Verdana"/>
              </a:rPr>
              <a:t>You take home seedlings, seed, a plan</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Welcome circle</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PICTURE · F-IMG-02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F-D1-03</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3 / 18</a:t>
            </a:r>
          </a:p>
        </p:txBody>
      </p:sp>
      <p:sp>
        <p:nvSpPr>
          <p:cNvPr id="6" name="Rounded Rectangle 5"/>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YOUR TURN</a:t>
            </a:r>
          </a:p>
        </p:txBody>
      </p:sp>
      <p:sp>
        <p:nvSpPr>
          <p:cNvPr id="8" name="TextBox 7"/>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Picture quiz</a:t>
            </a:r>
          </a:p>
        </p:txBody>
      </p:sp>
      <p:sp>
        <p:nvSpPr>
          <p:cNvPr id="9" name="Rectangle 8"/>
          <p:cNvSpPr/>
          <p:nvPr/>
        </p:nvSpPr>
        <p:spPr>
          <a:xfrm>
            <a:off x="777240" y="169468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06044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2" name="TextBox 11"/>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Walk to the answer: A · B · C</a:t>
            </a:r>
          </a:p>
        </p:txBody>
      </p:sp>
      <p:sp>
        <p:nvSpPr>
          <p:cNvPr id="13" name="Oval 12"/>
          <p:cNvSpPr/>
          <p:nvPr/>
        </p:nvSpPr>
        <p:spPr>
          <a:xfrm>
            <a:off x="731520" y="305612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5" name="TextBox 14"/>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Nobody is wrong today</a:t>
            </a:r>
          </a:p>
        </p:txBody>
      </p:sp>
      <p:sp>
        <p:nvSpPr>
          <p:cNvPr id="16" name="Rectangle 15"/>
          <p:cNvSpPr/>
          <p:nvPr/>
        </p:nvSpPr>
        <p:spPr>
          <a:xfrm>
            <a:off x="5989320" y="1969008"/>
            <a:ext cx="5608320" cy="397459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82000" y="2996184"/>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9" name="TextBox 18"/>
          <p:cNvSpPr txBox="1"/>
          <p:nvPr/>
        </p:nvSpPr>
        <p:spPr>
          <a:xfrm>
            <a:off x="6373368" y="4002024"/>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Picture quiz card 1</a:t>
            </a:r>
          </a:p>
        </p:txBody>
      </p:sp>
      <p:sp>
        <p:nvSpPr>
          <p:cNvPr id="20" name="TextBox 19"/>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PICTURE · F-IMG-70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F-D1-04</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4 / 18</a:t>
            </a:r>
          </a:p>
        </p:txBody>
      </p:sp>
      <p:sp>
        <p:nvSpPr>
          <p:cNvPr id="6" name="Rounded Rectangle 5"/>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YOUR TURN</a:t>
            </a:r>
          </a:p>
        </p:txBody>
      </p:sp>
      <p:sp>
        <p:nvSpPr>
          <p:cNvPr id="8" name="TextBox 7"/>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Draw your hope</a:t>
            </a:r>
          </a:p>
        </p:txBody>
      </p:sp>
      <p:sp>
        <p:nvSpPr>
          <p:cNvPr id="9" name="Rectangle 8"/>
          <p:cNvSpPr/>
          <p:nvPr/>
        </p:nvSpPr>
        <p:spPr>
          <a:xfrm>
            <a:off x="777240" y="169468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06044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2" name="TextBox 11"/>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Your garden at the end of this year</a:t>
            </a:r>
          </a:p>
        </p:txBody>
      </p:sp>
      <p:sp>
        <p:nvSpPr>
          <p:cNvPr id="13" name="Oval 12"/>
          <p:cNvSpPr/>
          <p:nvPr/>
        </p:nvSpPr>
        <p:spPr>
          <a:xfrm>
            <a:off x="731520" y="305612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5" name="TextBox 14"/>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Draw it — no writing needed</a:t>
            </a:r>
          </a:p>
        </p:txBody>
      </p:sp>
      <p:sp>
        <p:nvSpPr>
          <p:cNvPr id="16" name="Oval 15"/>
          <p:cNvSpPr/>
          <p:nvPr/>
        </p:nvSpPr>
        <p:spPr>
          <a:xfrm>
            <a:off x="731520" y="405180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3</a:t>
            </a:r>
          </a:p>
        </p:txBody>
      </p:sp>
      <p:sp>
        <p:nvSpPr>
          <p:cNvPr id="18" name="TextBox 17"/>
          <p:cNvSpPr txBox="1"/>
          <p:nvPr/>
        </p:nvSpPr>
        <p:spPr>
          <a:xfrm>
            <a:off x="1508760" y="409752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Show your group: 1 minute each</a:t>
            </a:r>
          </a:p>
        </p:txBody>
      </p:sp>
      <p:sp>
        <p:nvSpPr>
          <p:cNvPr id="19" name="Rectangle 18"/>
          <p:cNvSpPr/>
          <p:nvPr/>
        </p:nvSpPr>
        <p:spPr>
          <a:xfrm>
            <a:off x="5989320" y="1969008"/>
            <a:ext cx="5608320" cy="397459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82000" y="2996184"/>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22" name="TextBox 21"/>
          <p:cNvSpPr txBox="1"/>
          <p:nvPr/>
        </p:nvSpPr>
        <p:spPr>
          <a:xfrm>
            <a:off x="6373368" y="4002024"/>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Drawing a hope</a:t>
            </a:r>
          </a:p>
        </p:txBody>
      </p:sp>
      <p:sp>
        <p:nvSpPr>
          <p:cNvPr id="23" name="TextBox 22"/>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PICTURE · F-IMG-03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POSTER F-P01</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F-D1-05</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5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DAY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How we learn together</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What do we need from each other?</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F-P01 · Our class agreement</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F-P01-ART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POSTER F-P02</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F-D1-06</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6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DAY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Three ways to care</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Earth care</a:t>
            </a:r>
          </a:p>
          <a:p>
            <a:pPr algn="l" marL="412750" indent="-412750">
              <a:spcAft>
                <a:spcPts val="1800"/>
              </a:spcAft>
            </a:pPr>
            <a:r>
              <a:rPr sz="2600" b="1">
                <a:solidFill>
                  <a:srgbClr val="B24E2A"/>
                </a:solidFill>
                <a:latin typeface="Verdana"/>
              </a:rPr>
              <a:t>■  </a:t>
            </a:r>
            <a:r>
              <a:rPr sz="2600" b="0">
                <a:solidFill>
                  <a:srgbClr val="1B1A17"/>
                </a:solidFill>
                <a:latin typeface="Verdana"/>
              </a:rPr>
              <a:t>People care</a:t>
            </a:r>
          </a:p>
          <a:p>
            <a:pPr algn="l" marL="412750" indent="-412750">
              <a:spcAft>
                <a:spcPts val="1800"/>
              </a:spcAft>
            </a:pPr>
            <a:r>
              <a:rPr sz="2600" b="1">
                <a:solidFill>
                  <a:srgbClr val="B24E2A"/>
                </a:solidFill>
                <a:latin typeface="Verdana"/>
              </a:rPr>
              <a:t>■  </a:t>
            </a:r>
            <a:r>
              <a:rPr sz="2600" b="0">
                <a:solidFill>
                  <a:srgbClr val="1B1A17"/>
                </a:solidFill>
                <a:latin typeface="Verdana"/>
              </a:rPr>
              <a:t>Fair share</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F-P02 · Earth care · People care · Fair share</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F-P02-ART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POSTER F-P03</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F-D1-07</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7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DAY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Which garden survives a drought?</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Look for 3 minutes</a:t>
            </a:r>
          </a:p>
          <a:p>
            <a:pPr algn="l" marL="412750" indent="-412750">
              <a:spcAft>
                <a:spcPts val="1800"/>
              </a:spcAft>
            </a:pPr>
            <a:r>
              <a:rPr sz="2600" b="1">
                <a:solidFill>
                  <a:srgbClr val="B24E2A"/>
                </a:solidFill>
                <a:latin typeface="Verdana"/>
              </a:rPr>
              <a:t>■  </a:t>
            </a:r>
            <a:r>
              <a:rPr sz="2600" b="0">
                <a:solidFill>
                  <a:srgbClr val="1B1A17"/>
                </a:solidFill>
                <a:latin typeface="Verdana"/>
              </a:rPr>
              <a:t>What is different?</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F-P03 · Two gardens</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F-P03-ART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F-D1-08</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8 / 18</a:t>
            </a:r>
          </a:p>
        </p:txBody>
      </p:sp>
      <p:sp>
        <p:nvSpPr>
          <p:cNvPr id="6" name="Rounded Rectangle 5"/>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YOUR TURN</a:t>
            </a:r>
          </a:p>
        </p:txBody>
      </p:sp>
      <p:sp>
        <p:nvSpPr>
          <p:cNvPr id="8" name="TextBox 7"/>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Bare soil or covered soil?</a:t>
            </a:r>
          </a:p>
        </p:txBody>
      </p:sp>
      <p:sp>
        <p:nvSpPr>
          <p:cNvPr id="9" name="Rectangle 8"/>
          <p:cNvSpPr/>
          <p:nvPr/>
        </p:nvSpPr>
        <p:spPr>
          <a:xfrm>
            <a:off x="777240" y="169468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06044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2" name="TextBox 11"/>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Pour one cup on each</a:t>
            </a:r>
          </a:p>
        </p:txBody>
      </p:sp>
      <p:sp>
        <p:nvSpPr>
          <p:cNvPr id="13" name="Oval 12"/>
          <p:cNvSpPr/>
          <p:nvPr/>
        </p:nvSpPr>
        <p:spPr>
          <a:xfrm>
            <a:off x="731520" y="305612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5" name="TextBox 14"/>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Where did the water go?</a:t>
            </a:r>
          </a:p>
        </p:txBody>
      </p:sp>
      <p:sp>
        <p:nvSpPr>
          <p:cNvPr id="16" name="Rectangle 15"/>
          <p:cNvSpPr/>
          <p:nvPr/>
        </p:nvSpPr>
        <p:spPr>
          <a:xfrm>
            <a:off x="5989320" y="1969008"/>
            <a:ext cx="5608320" cy="397459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82000" y="2996184"/>
            <a:ext cx="822960" cy="822960"/>
          </a:xfrm>
          <a:prstGeom prst="ellipse">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9" name="TextBox 18"/>
          <p:cNvSpPr txBox="1"/>
          <p:nvPr/>
        </p:nvSpPr>
        <p:spPr>
          <a:xfrm>
            <a:off x="6373368" y="4002024"/>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Two gardens through a dry season</a:t>
            </a:r>
          </a:p>
        </p:txBody>
      </p:sp>
      <p:sp>
        <p:nvSpPr>
          <p:cNvPr id="20" name="TextBox 19"/>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CLIP · F-ANI-03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POSTER F-P03</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F-D1-09</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9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DAY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Farming with nature</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Soil always covered</a:t>
            </a:r>
          </a:p>
          <a:p>
            <a:pPr algn="l" marL="412750" indent="-412750">
              <a:spcAft>
                <a:spcPts val="1800"/>
              </a:spcAft>
            </a:pPr>
            <a:r>
              <a:rPr sz="2600" b="1">
                <a:solidFill>
                  <a:srgbClr val="B24E2A"/>
                </a:solidFill>
                <a:latin typeface="Verdana"/>
              </a:rPr>
              <a:t>■  </a:t>
            </a:r>
            <a:r>
              <a:rPr sz="2600" b="0">
                <a:solidFill>
                  <a:srgbClr val="1B1A17"/>
                </a:solidFill>
                <a:latin typeface="Verdana"/>
              </a:rPr>
              <a:t>Many plants together</a:t>
            </a:r>
          </a:p>
          <a:p>
            <a:pPr algn="l" marL="412750" indent="-412750">
              <a:spcAft>
                <a:spcPts val="1800"/>
              </a:spcAft>
            </a:pPr>
            <a:r>
              <a:rPr sz="2600" b="1">
                <a:solidFill>
                  <a:srgbClr val="B24E2A"/>
                </a:solidFill>
                <a:latin typeface="Verdana"/>
              </a:rPr>
              <a:t>■  </a:t>
            </a:r>
            <a:r>
              <a:rPr sz="2600" b="0">
                <a:solidFill>
                  <a:srgbClr val="1B1A17"/>
                </a:solidFill>
                <a:latin typeface="Verdana"/>
              </a:rPr>
              <a:t>Water slowed · nothing wasted</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382000" y="2918460"/>
            <a:ext cx="822960" cy="822960"/>
          </a:xfrm>
          <a:prstGeom prst="ellipse">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Diversity</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CLIP · F-ANI-02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POSTER F-P04</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F-D1-10</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10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DAY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Six ways to garden with nature</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Watch first · Catch and keep · Many helpers</a:t>
            </a:r>
          </a:p>
          <a:p>
            <a:pPr algn="l" marL="412750" indent="-412750">
              <a:spcAft>
                <a:spcPts val="1800"/>
              </a:spcAft>
            </a:pPr>
            <a:r>
              <a:rPr sz="2600" b="1">
                <a:solidFill>
                  <a:srgbClr val="B24E2A"/>
                </a:solidFill>
                <a:latin typeface="Verdana"/>
              </a:rPr>
              <a:t>■  </a:t>
            </a:r>
            <a:r>
              <a:rPr sz="2600" b="0">
                <a:solidFill>
                  <a:srgbClr val="1B1A17"/>
                </a:solidFill>
                <a:latin typeface="Verdana"/>
              </a:rPr>
              <a:t>Nothing is waste · Start small · Use the edges</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F-P04 · Six garden principles</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F-P04-ART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F-D1-11</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11 / 18</a:t>
            </a:r>
          </a:p>
        </p:txBody>
      </p:sp>
      <p:sp>
        <p:nvSpPr>
          <p:cNvPr id="6" name="Rounded Rectangle 5"/>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YOUR TURN</a:t>
            </a:r>
          </a:p>
        </p:txBody>
      </p:sp>
      <p:sp>
        <p:nvSpPr>
          <p:cNvPr id="8" name="TextBox 7"/>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Magazine hunt</a:t>
            </a:r>
          </a:p>
        </p:txBody>
      </p:sp>
      <p:sp>
        <p:nvSpPr>
          <p:cNvPr id="9" name="Rectangle 8"/>
          <p:cNvSpPr/>
          <p:nvPr/>
        </p:nvSpPr>
        <p:spPr>
          <a:xfrm>
            <a:off x="777240" y="169468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06044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2" name="TextBox 11"/>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Match each picture to a principle</a:t>
            </a:r>
          </a:p>
        </p:txBody>
      </p:sp>
      <p:sp>
        <p:nvSpPr>
          <p:cNvPr id="13" name="Oval 12"/>
          <p:cNvSpPr/>
          <p:nvPr/>
        </p:nvSpPr>
        <p:spPr>
          <a:xfrm>
            <a:off x="731520" y="305612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5" name="TextBox 14"/>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Everyone places two pictures</a:t>
            </a:r>
          </a:p>
        </p:txBody>
      </p:sp>
      <p:sp>
        <p:nvSpPr>
          <p:cNvPr id="16" name="Oval 15"/>
          <p:cNvSpPr/>
          <p:nvPr/>
        </p:nvSpPr>
        <p:spPr>
          <a:xfrm>
            <a:off x="731520" y="405180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3</a:t>
            </a:r>
          </a:p>
        </p:txBody>
      </p:sp>
      <p:sp>
        <p:nvSpPr>
          <p:cNvPr id="18" name="TextBox 17"/>
          <p:cNvSpPr txBox="1"/>
          <p:nvPr/>
        </p:nvSpPr>
        <p:spPr>
          <a:xfrm>
            <a:off x="1508760" y="409752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20 minutes, then gallery walk</a:t>
            </a:r>
          </a:p>
        </p:txBody>
      </p:sp>
      <p:sp>
        <p:nvSpPr>
          <p:cNvPr id="19" name="Rectangle 18"/>
          <p:cNvSpPr/>
          <p:nvPr/>
        </p:nvSpPr>
        <p:spPr>
          <a:xfrm>
            <a:off x="5989320" y="1969008"/>
            <a:ext cx="5608320" cy="397459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82000" y="2996184"/>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22" name="TextBox 21"/>
          <p:cNvSpPr txBox="1"/>
          <p:nvPr/>
        </p:nvSpPr>
        <p:spPr>
          <a:xfrm>
            <a:off x="6373368" y="4002024"/>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Principle picture — Watch first</a:t>
            </a:r>
          </a:p>
        </p:txBody>
      </p:sp>
      <p:sp>
        <p:nvSpPr>
          <p:cNvPr id="23" name="TextBox 22"/>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PICTURE · F-IMG-80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POSTER F-P05</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F-D1-12</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12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DAY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Where is the sun?</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In South Africa the sun is in the north</a:t>
            </a:r>
          </a:p>
          <a:p>
            <a:pPr algn="l" marL="412750" indent="-412750">
              <a:spcAft>
                <a:spcPts val="1800"/>
              </a:spcAft>
            </a:pPr>
            <a:r>
              <a:rPr sz="2600" b="1">
                <a:solidFill>
                  <a:srgbClr val="B24E2A"/>
                </a:solidFill>
                <a:latin typeface="Verdana"/>
              </a:rPr>
              <a:t>■  </a:t>
            </a:r>
            <a:r>
              <a:rPr sz="2600" b="0">
                <a:solidFill>
                  <a:srgbClr val="1B1A17"/>
                </a:solidFill>
                <a:latin typeface="Verdana"/>
              </a:rPr>
              <a:t>Shadows fall to the south</a:t>
            </a:r>
          </a:p>
          <a:p>
            <a:pPr algn="l" marL="412750" indent="-412750">
              <a:spcAft>
                <a:spcPts val="1800"/>
              </a:spcAft>
            </a:pPr>
            <a:r>
              <a:rPr sz="2600" b="1">
                <a:solidFill>
                  <a:srgbClr val="B24E2A"/>
                </a:solidFill>
                <a:latin typeface="Verdana"/>
              </a:rPr>
              <a:t>■  </a:t>
            </a:r>
            <a:r>
              <a:rPr sz="2600" b="0">
                <a:solidFill>
                  <a:srgbClr val="1B1A17"/>
                </a:solidFill>
                <a:latin typeface="Verdana"/>
              </a:rPr>
              <a:t>Plant north of the house</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382000" y="2918460"/>
            <a:ext cx="822960" cy="822960"/>
          </a:xfrm>
          <a:prstGeom prst="ellipse">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Sun and shadows</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CLIP · F-ANI-04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23748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POSTER F-P05</a:t>
            </a:r>
          </a:p>
        </p:txBody>
      </p:sp>
      <p:sp>
        <p:nvSpPr>
          <p:cNvPr id="6" name="TextBox 5"/>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F-D1-13</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13 / 18</a:t>
            </a:r>
          </a:p>
        </p:txBody>
      </p:sp>
      <p:sp>
        <p:nvSpPr>
          <p:cNvPr id="8" name="Rounded Rectangle 7"/>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YOUR TURN</a:t>
            </a:r>
          </a:p>
        </p:txBody>
      </p:sp>
      <p:sp>
        <p:nvSpPr>
          <p:cNvPr id="10" name="TextBox 9"/>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Read the land</a:t>
            </a:r>
          </a:p>
        </p:txBody>
      </p:sp>
      <p:sp>
        <p:nvSpPr>
          <p:cNvPr id="11" name="Rectangle 10"/>
          <p:cNvSpPr/>
          <p:nvPr/>
        </p:nvSpPr>
        <p:spPr>
          <a:xfrm>
            <a:off x="777240" y="169468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Yellow = sun all day</a:t>
            </a:r>
          </a:p>
        </p:txBody>
      </p:sp>
      <p:sp>
        <p:nvSpPr>
          <p:cNvPr id="15" name="Oval 14"/>
          <p:cNvSpPr/>
          <p:nvPr/>
        </p:nvSpPr>
        <p:spPr>
          <a:xfrm>
            <a:off x="731520" y="305612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Red = cold or strong wind</a:t>
            </a:r>
          </a:p>
        </p:txBody>
      </p:sp>
      <p:sp>
        <p:nvSpPr>
          <p:cNvPr id="18" name="Oval 17"/>
          <p:cNvSpPr/>
          <p:nvPr/>
        </p:nvSpPr>
        <p:spPr>
          <a:xfrm>
            <a:off x="731520" y="405180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3</a:t>
            </a:r>
          </a:p>
        </p:txBody>
      </p:sp>
      <p:sp>
        <p:nvSpPr>
          <p:cNvPr id="20" name="TextBox 19"/>
          <p:cNvSpPr txBox="1"/>
          <p:nvPr/>
        </p:nvSpPr>
        <p:spPr>
          <a:xfrm>
            <a:off x="1508760" y="409752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Blue = water runs or sits</a:t>
            </a:r>
          </a:p>
        </p:txBody>
      </p:sp>
      <p:sp>
        <p:nvSpPr>
          <p:cNvPr id="21" name="Rectangle 20"/>
          <p:cNvSpPr/>
          <p:nvPr/>
        </p:nvSpPr>
        <p:spPr>
          <a:xfrm>
            <a:off x="5989320" y="1969008"/>
            <a:ext cx="5608320" cy="397459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82000" y="2996184"/>
            <a:ext cx="822960" cy="822960"/>
          </a:xfrm>
          <a:prstGeom prst="ellipse">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24" name="TextBox 23"/>
          <p:cNvSpPr txBox="1"/>
          <p:nvPr/>
        </p:nvSpPr>
        <p:spPr>
          <a:xfrm>
            <a:off x="6373368" y="4002024"/>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Water movement</a:t>
            </a:r>
          </a:p>
        </p:txBody>
      </p:sp>
      <p:sp>
        <p:nvSpPr>
          <p:cNvPr id="25" name="TextBox 2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CLIP · F-ANI-05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POSTER F-P05</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F-D1-14</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14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DAY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Zones: closest to the door</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0 house · 1 daily herbs &amp; greens</a:t>
            </a:r>
          </a:p>
          <a:p>
            <a:pPr algn="l" marL="412750" indent="-412750">
              <a:spcAft>
                <a:spcPts val="1800"/>
              </a:spcAft>
            </a:pPr>
            <a:r>
              <a:rPr sz="2600" b="1">
                <a:solidFill>
                  <a:srgbClr val="B24E2A"/>
                </a:solidFill>
                <a:latin typeface="Verdana"/>
              </a:rPr>
              <a:t>■  </a:t>
            </a:r>
            <a:r>
              <a:rPr sz="2600" b="0">
                <a:solidFill>
                  <a:srgbClr val="1B1A17"/>
                </a:solidFill>
                <a:latin typeface="Verdana"/>
              </a:rPr>
              <a:t>2 beds, fruit, chickens · 3 fields</a:t>
            </a:r>
          </a:p>
          <a:p>
            <a:pPr algn="l" marL="412750" indent="-412750">
              <a:spcAft>
                <a:spcPts val="1800"/>
              </a:spcAft>
            </a:pPr>
            <a:r>
              <a:rPr sz="2600" b="1">
                <a:solidFill>
                  <a:srgbClr val="B24E2A"/>
                </a:solidFill>
                <a:latin typeface="Verdana"/>
              </a:rPr>
              <a:t>■  </a:t>
            </a:r>
            <a:r>
              <a:rPr sz="2600" b="0">
                <a:solidFill>
                  <a:srgbClr val="1B1A17"/>
                </a:solidFill>
                <a:latin typeface="Verdana"/>
              </a:rPr>
              <a:t>4 grazing &amp; wood · 5 wild</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F-P05 · Read your land</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F-P05-ART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POSTER F-P06</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F-D1-15</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15 / 18</a:t>
            </a:r>
          </a:p>
        </p:txBody>
      </p:sp>
      <p:sp>
        <p:nvSpPr>
          <p:cNvPr id="7" name="TextBox 6"/>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DAY 1</a:t>
            </a:r>
          </a:p>
        </p:txBody>
      </p:sp>
      <p:sp>
        <p:nvSpPr>
          <p:cNvPr id="8" name="TextBox 7"/>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Find the level line</a:t>
            </a:r>
          </a:p>
        </p:txBody>
      </p:sp>
      <p:sp>
        <p:nvSpPr>
          <p:cNvPr id="9" name="Rectangle 8"/>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Two legs · a crossbar · string and stone</a:t>
            </a:r>
          </a:p>
        </p:txBody>
      </p:sp>
      <p:sp>
        <p:nvSpPr>
          <p:cNvPr id="11" name="Rectangle 10"/>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4" name="TextBox 13"/>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Artwork for F-P06 · Build an A-frame</a:t>
            </a:r>
          </a:p>
        </p:txBody>
      </p:sp>
      <p:sp>
        <p:nvSpPr>
          <p:cNvPr id="15" name="TextBox 14"/>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POSTER ART · F-P06-ART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237488" cy="266700"/>
          </a:xfrm>
          <a:prstGeom prst="roundRect">
            <a:avLst>
              <a:gd name="adj" fmla="val 50000"/>
            </a:avLst>
          </a:prstGeom>
          <a:noFill/>
          <a:ln w="15875">
            <a:solidFill>
              <a:srgbClr val="2F5D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F5D34"/>
                </a:solidFill>
                <a:latin typeface="Verdana"/>
              </a:rPr>
              <a:t>POSTER F-P06</a:t>
            </a:r>
          </a:p>
        </p:txBody>
      </p:sp>
      <p:sp>
        <p:nvSpPr>
          <p:cNvPr id="6" name="TextBox 5"/>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F-D1-16</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16 / 18</a:t>
            </a:r>
          </a:p>
        </p:txBody>
      </p:sp>
      <p:sp>
        <p:nvSpPr>
          <p:cNvPr id="8" name="Rounded Rectangle 7"/>
          <p:cNvSpPr/>
          <p:nvPr/>
        </p:nvSpPr>
        <p:spPr>
          <a:xfrm>
            <a:off x="731520" y="457200"/>
            <a:ext cx="1213866" cy="346710"/>
          </a:xfrm>
          <a:prstGeom prst="roundRect">
            <a:avLst>
              <a:gd name="adj" fmla="val 50000"/>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Verdana"/>
              </a:rPr>
              <a:t>YOUR TURN</a:t>
            </a:r>
          </a:p>
        </p:txBody>
      </p:sp>
      <p:sp>
        <p:nvSpPr>
          <p:cNvPr id="10" name="TextBox 9"/>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Calibrate</a:t>
            </a:r>
          </a:p>
        </p:txBody>
      </p:sp>
      <p:sp>
        <p:nvSpPr>
          <p:cNvPr id="11" name="Rectangle 10"/>
          <p:cNvSpPr/>
          <p:nvPr/>
        </p:nvSpPr>
        <p:spPr>
          <a:xfrm>
            <a:off x="777240" y="1694688"/>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1</a:t>
            </a:r>
          </a:p>
        </p:txBody>
      </p:sp>
      <p:sp>
        <p:nvSpPr>
          <p:cNvPr id="14" name="TextBox 13"/>
          <p:cNvSpPr txBox="1"/>
          <p:nvPr/>
        </p:nvSpPr>
        <p:spPr>
          <a:xfrm>
            <a:off x="1508760" y="210616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Mark · flip · mark</a:t>
            </a:r>
          </a:p>
        </p:txBody>
      </p:sp>
      <p:sp>
        <p:nvSpPr>
          <p:cNvPr id="15" name="Oval 14"/>
          <p:cNvSpPr/>
          <p:nvPr/>
        </p:nvSpPr>
        <p:spPr>
          <a:xfrm>
            <a:off x="731520" y="2773680"/>
            <a:ext cx="566928" cy="566928"/>
          </a:xfrm>
          <a:prstGeom prst="ellipse">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368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Rockwell"/>
              </a:rPr>
              <a:t>2</a:t>
            </a:r>
          </a:p>
        </p:txBody>
      </p:sp>
      <p:sp>
        <p:nvSpPr>
          <p:cNvPr id="17" name="TextBox 16"/>
          <p:cNvSpPr txBox="1"/>
          <p:nvPr/>
        </p:nvSpPr>
        <p:spPr>
          <a:xfrm>
            <a:off x="1508760" y="2819400"/>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B1A17"/>
                </a:solidFill>
                <a:latin typeface="Verdana"/>
              </a:rPr>
              <a:t>The middle is level</a:t>
            </a:r>
          </a:p>
        </p:txBody>
      </p:sp>
      <p:sp>
        <p:nvSpPr>
          <p:cNvPr id="18" name="Rectangle 17"/>
          <p:cNvSpPr/>
          <p:nvPr/>
        </p:nvSpPr>
        <p:spPr>
          <a:xfrm>
            <a:off x="5989320" y="1969008"/>
            <a:ext cx="5608320" cy="3974592"/>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low-a-frame.jpg"/>
          <p:cNvPicPr>
            <a:picLocks noChangeAspect="1"/>
          </p:cNvPicPr>
          <p:nvPr/>
        </p:nvPicPr>
        <p:blipFill>
          <a:blip r:embed="rId2"/>
          <a:stretch>
            <a:fillRect/>
          </a:stretch>
        </p:blipFill>
        <p:spPr>
          <a:xfrm>
            <a:off x="6099048" y="2440686"/>
            <a:ext cx="5388864" cy="3031236"/>
          </a:xfrm>
          <a:prstGeom prst="rect">
            <a:avLst/>
          </a:prstGeom>
        </p:spPr>
      </p:pic>
      <p:sp>
        <p:nvSpPr>
          <p:cNvPr id="20" name="Rectangle 19"/>
          <p:cNvSpPr/>
          <p:nvPr/>
        </p:nvSpPr>
        <p:spPr>
          <a:xfrm>
            <a:off x="6099048" y="5422392"/>
            <a:ext cx="5388864" cy="411480"/>
          </a:xfrm>
          <a:prstGeom prst="rect">
            <a:avLst/>
          </a:prstGeom>
          <a:solidFill>
            <a:srgbClr val="1B1A17">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08776" y="5422392"/>
            <a:ext cx="5169408" cy="411480"/>
          </a:xfrm>
          <a:prstGeom prst="rect">
            <a:avLst/>
          </a:prstGeom>
          <a:noFill/>
        </p:spPr>
        <p:txBody>
          <a:bodyPr wrap="square" anchor="ctr" lIns="45720" rIns="45720" tIns="0" bIns="0">
            <a:spAutoFit/>
          </a:bodyPr>
          <a:lstStyle/>
          <a:p>
            <a:pPr algn="l">
              <a:spcAft>
                <a:spcPts val="800"/>
              </a:spcAft>
            </a:pPr>
            <a:r>
              <a:rPr sz="1200" b="0">
                <a:solidFill>
                  <a:srgbClr val="FFFFFF"/>
                </a:solidFill>
                <a:latin typeface="Verdana"/>
              </a:rPr>
              <a:t>▶  Play clip · flow-a-frame.mp4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F-D1-17</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17 / 18</a:t>
            </a:r>
          </a:p>
        </p:txBody>
      </p:sp>
      <p:sp>
        <p:nvSpPr>
          <p:cNvPr id="5" name="TextBox 4"/>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DAY 1</a:t>
            </a:r>
          </a:p>
        </p:txBody>
      </p:sp>
      <p:sp>
        <p:nvSpPr>
          <p:cNvPr id="6" name="TextBox 5"/>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Tonight: draw your yard</a:t>
            </a:r>
          </a:p>
        </p:txBody>
      </p:sp>
      <p:sp>
        <p:nvSpPr>
          <p:cNvPr id="7" name="Rectangle 6"/>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House · north arrow · tap</a:t>
            </a:r>
          </a:p>
          <a:p>
            <a:pPr algn="l" marL="412750" indent="-412750">
              <a:spcAft>
                <a:spcPts val="1800"/>
              </a:spcAft>
            </a:pPr>
            <a:r>
              <a:rPr sz="2600" b="1">
                <a:solidFill>
                  <a:srgbClr val="B24E2A"/>
                </a:solidFill>
                <a:latin typeface="Verdana"/>
              </a:rPr>
              <a:t>■  </a:t>
            </a:r>
            <a:r>
              <a:rPr sz="2600" b="0">
                <a:solidFill>
                  <a:srgbClr val="1B1A17"/>
                </a:solidFill>
                <a:latin typeface="Verdana"/>
              </a:rPr>
              <a:t>Where water runs · where the sun is strong</a:t>
            </a:r>
          </a:p>
          <a:p>
            <a:pPr algn="l" marL="412750" indent="-412750">
              <a:spcAft>
                <a:spcPts val="1800"/>
              </a:spcAft>
            </a:pPr>
            <a:r>
              <a:rPr sz="2600" b="1">
                <a:solidFill>
                  <a:srgbClr val="B24E2A"/>
                </a:solidFill>
                <a:latin typeface="Verdana"/>
              </a:rPr>
              <a:t>■  </a:t>
            </a:r>
            <a:r>
              <a:rPr sz="2600" b="0">
                <a:solidFill>
                  <a:srgbClr val="1B1A17"/>
                </a:solidFill>
                <a:latin typeface="Verdana"/>
              </a:rPr>
              <a:t>Where Zone 1 will go</a:t>
            </a:r>
          </a:p>
        </p:txBody>
      </p:sp>
      <p:sp>
        <p:nvSpPr>
          <p:cNvPr id="9" name="Rectangle 8"/>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2" name="TextBox 11"/>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My garden map</a:t>
            </a:r>
          </a:p>
        </p:txBody>
      </p:sp>
      <p:sp>
        <p:nvSpPr>
          <p:cNvPr id="13" name="TextBox 12"/>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PICTURE · F-IMG-04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FE6D2"/>
        </a:solidFill>
        <a:effectLst/>
      </p:bgPr>
    </p:bg>
    <p:spTree>
      <p:nvGrpSpPr>
        <p:cNvPr id="1" name=""/>
        <p:cNvGrpSpPr/>
        <p:nvPr/>
      </p:nvGrpSpPr>
      <p:grpSpPr/>
      <p:sp>
        <p:nvSpPr>
          <p:cNvPr id="2" name="Rectangle 1"/>
          <p:cNvSpPr/>
          <p:nvPr/>
        </p:nvSpPr>
        <p:spPr>
          <a:xfrm>
            <a:off x="201168" y="201168"/>
            <a:ext cx="11789664" cy="6455664"/>
          </a:xfrm>
          <a:prstGeom prst="rect">
            <a:avLst/>
          </a:prstGeom>
          <a:noFill/>
          <a:ln w="1905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7A766B"/>
                </a:solidFill>
                <a:latin typeface="Verdana"/>
              </a:rPr>
              <a:t>Grow Food, Grow Strong  ·  F-D1-18</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7A766B"/>
                </a:solidFill>
                <a:latin typeface="Verdana"/>
              </a:rPr>
              <a:t>18 / 18</a:t>
            </a:r>
          </a:p>
        </p:txBody>
      </p:sp>
      <p:sp>
        <p:nvSpPr>
          <p:cNvPr id="5" name="TextBox 4"/>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B24E2A"/>
                </a:solidFill>
                <a:latin typeface="Verdana"/>
              </a:rPr>
              <a:t>DAY 1</a:t>
            </a:r>
          </a:p>
        </p:txBody>
      </p:sp>
      <p:sp>
        <p:nvSpPr>
          <p:cNvPr id="6" name="TextBox 5"/>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B1A17"/>
                </a:solidFill>
                <a:latin typeface="Rockwell"/>
              </a:rPr>
              <a:t>One word</a:t>
            </a:r>
          </a:p>
        </p:txBody>
      </p:sp>
      <p:sp>
        <p:nvSpPr>
          <p:cNvPr id="7" name="Rectangle 6"/>
          <p:cNvSpPr/>
          <p:nvPr/>
        </p:nvSpPr>
        <p:spPr>
          <a:xfrm>
            <a:off x="640080" y="1539240"/>
            <a:ext cx="1097280" cy="91440"/>
          </a:xfrm>
          <a:prstGeom prst="rect">
            <a:avLst/>
          </a:prstGeom>
          <a:solidFill>
            <a:srgbClr val="B2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B24E2A"/>
                </a:solidFill>
                <a:latin typeface="Verdana"/>
              </a:rPr>
              <a:t>■  </a:t>
            </a:r>
            <a:r>
              <a:rPr sz="2600" b="0">
                <a:solidFill>
                  <a:srgbClr val="1B1A17"/>
                </a:solidFill>
                <a:latin typeface="Verdana"/>
              </a:rPr>
              <a:t>One word about today</a:t>
            </a:r>
          </a:p>
          <a:p>
            <a:pPr algn="l" marL="412750" indent="-412750">
              <a:spcAft>
                <a:spcPts val="1800"/>
              </a:spcAft>
            </a:pPr>
            <a:r>
              <a:rPr sz="2600" b="1">
                <a:solidFill>
                  <a:srgbClr val="B24E2A"/>
                </a:solidFill>
                <a:latin typeface="Verdana"/>
              </a:rPr>
              <a:t>■  </a:t>
            </a:r>
            <a:r>
              <a:rPr sz="2600" b="0">
                <a:solidFill>
                  <a:srgbClr val="1B1A17"/>
                </a:solidFill>
                <a:latin typeface="Verdana"/>
              </a:rPr>
              <a:t>Your take-home action</a:t>
            </a:r>
          </a:p>
          <a:p>
            <a:pPr algn="l" marL="412750" indent="-412750">
              <a:spcAft>
                <a:spcPts val="1800"/>
              </a:spcAft>
            </a:pPr>
            <a:r>
              <a:rPr sz="2600" b="1">
                <a:solidFill>
                  <a:srgbClr val="B24E2A"/>
                </a:solidFill>
                <a:latin typeface="Verdana"/>
              </a:rPr>
              <a:t>■  </a:t>
            </a:r>
            <a:r>
              <a:rPr sz="2600" b="0">
                <a:solidFill>
                  <a:srgbClr val="1B1A17"/>
                </a:solidFill>
                <a:latin typeface="Verdana"/>
              </a:rPr>
              <a:t>Tools back and counted</a:t>
            </a:r>
          </a:p>
        </p:txBody>
      </p:sp>
      <p:sp>
        <p:nvSpPr>
          <p:cNvPr id="9" name="Rectangle 8"/>
          <p:cNvSpPr/>
          <p:nvPr/>
        </p:nvSpPr>
        <p:spPr>
          <a:xfrm>
            <a:off x="5989320" y="1813560"/>
            <a:ext cx="5608320" cy="4130040"/>
          </a:xfrm>
          <a:prstGeom prst="rect">
            <a:avLst/>
          </a:prstGeom>
          <a:solidFill>
            <a:srgbClr val="F8F4EB"/>
          </a:solidFill>
          <a:ln w="50800">
            <a:solidFill>
              <a:srgbClr val="1B1A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82000" y="2918460"/>
            <a:ext cx="822960" cy="822960"/>
          </a:xfrm>
          <a:prstGeom prst="rect">
            <a:avLst/>
          </a:prstGeom>
          <a:noFill/>
          <a:ln w="25400">
            <a:solidFill>
              <a:srgbClr val="CA88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C06F51"/>
                </a:solidFill>
                <a:latin typeface="Verdana"/>
              </a:rPr>
              <a:t>✦</a:t>
            </a:r>
          </a:p>
        </p:txBody>
      </p:sp>
      <p:sp>
        <p:nvSpPr>
          <p:cNvPr id="12" name="TextBox 11"/>
          <p:cNvSpPr txBox="1"/>
          <p:nvPr/>
        </p:nvSpPr>
        <p:spPr>
          <a:xfrm>
            <a:off x="6373368" y="3924300"/>
            <a:ext cx="4840224" cy="822960"/>
          </a:xfrm>
          <a:prstGeom prst="rect">
            <a:avLst/>
          </a:prstGeom>
          <a:noFill/>
        </p:spPr>
        <p:txBody>
          <a:bodyPr wrap="square" anchor="t" lIns="45720" rIns="45720" tIns="0" bIns="0">
            <a:spAutoFit/>
          </a:bodyPr>
          <a:lstStyle/>
          <a:p>
            <a:pPr algn="ctr">
              <a:spcAft>
                <a:spcPts val="800"/>
              </a:spcAft>
            </a:pPr>
            <a:r>
              <a:rPr sz="2000" b="1">
                <a:solidFill>
                  <a:srgbClr val="3C3B37"/>
                </a:solidFill>
                <a:latin typeface="Rockwell"/>
              </a:rPr>
              <a:t>Closing circle</a:t>
            </a:r>
          </a:p>
        </p:txBody>
      </p:sp>
      <p:sp>
        <p:nvSpPr>
          <p:cNvPr id="13" name="TextBox 12"/>
          <p:cNvSpPr txBox="1"/>
          <p:nvPr/>
        </p:nvSpPr>
        <p:spPr>
          <a:xfrm>
            <a:off x="6373368" y="5376672"/>
            <a:ext cx="4840224" cy="274320"/>
          </a:xfrm>
          <a:prstGeom prst="rect">
            <a:avLst/>
          </a:prstGeom>
          <a:noFill/>
        </p:spPr>
        <p:txBody>
          <a:bodyPr wrap="square" anchor="t" lIns="45720" rIns="45720" tIns="0" bIns="0">
            <a:spAutoFit/>
          </a:bodyPr>
          <a:lstStyle/>
          <a:p>
            <a:pPr algn="ctr">
              <a:spcAft>
                <a:spcPts val="800"/>
              </a:spcAft>
            </a:pPr>
            <a:r>
              <a:rPr sz="1000" b="0">
                <a:solidFill>
                  <a:srgbClr val="7A766B"/>
                </a:solidFill>
                <a:latin typeface="Verdana"/>
              </a:rPr>
              <a:t>PICTURE · F-IMG-05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