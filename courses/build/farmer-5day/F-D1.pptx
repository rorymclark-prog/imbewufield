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 Leave it up while learners register (F-D1-S0).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both facilitators. Teach the call and response. Round of names: name, where you live, one thing you grow.</a:t>
            </a:r>
          </a:p>
          <a:p/>
          <a:p>
            <a:r>
              <a:t>Poster: F-P01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quiz cards F-IMG-70 to 77 one at a time (forms.md §5). Co-facilitator counts each corner.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F-D1-S1. 5 min drawing, 5 min in groups. Stick all drawings under "Our hopes".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class's words on the poster, not yours. Check the eight points on the F-P01 card are there. Everyone signs.</a:t>
            </a:r>
          </a:p>
          <a:p/>
          <a:p>
            <a:r>
              <a:t>Poster: F-P01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Gogo Thandi story first. Then the three circles. Groups draw one thing they already do for each (8 min).</a:t>
            </a:r>
          </a:p>
          <a:p/>
          <a:p>
            <a:r>
              <a:t>Poster: F-P02</a:t>
            </a:r>
          </a:p>
          <a:p>
            <a:r>
              <a:t>Also: F-ANI-01</a:t>
            </a:r>
          </a:p>
          <a:p>
            <a:r>
              <a:t>Clip F-ANI-01: public/course-media/farmer-5day/F-ANI-01.mp4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F-D1-S2. Cover the right half on the poster; on screen show the full picture after groups have discussed the left.</a:t>
            </a:r>
          </a:p>
          <a:p/>
          <a:p>
            <a:r>
              <a:t>Poster: F-P03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Water-pour demo outside, every group pours. Optional clip F-ANI-03 shows the two gardens through a dry season.</a:t>
            </a:r>
          </a:p>
          <a:p/>
          <a:p>
            <a:r>
              <a:t>Clip F-ANI-03: public/course-media/farmer-5day/F-ANI-03.mp4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Agroecology = farming with nature. Permaculture = designing with nature. Ask what grandmothers did.</a:t>
            </a:r>
          </a:p>
          <a:p/>
          <a:p>
            <a:r>
              <a:t>Poster: F-P03</a:t>
            </a:r>
          </a:p>
          <a:p>
            <a:r>
              <a:t>Clip F-ANI-02: public/course-media/farmer-5day/F-ANI-02.mp4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per principle: point, say it, ask for a local example.</a:t>
            </a:r>
          </a:p>
          <a:p/>
          <a:p>
            <a:r>
              <a:t>Poster: F-P04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Envelopes of 10 pictures per group. No magazines? Use printed picture cards F-IMG-80 to 91.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F-D1-S3. Cardboard house in the real sun, or a torch. Lower the torch for winter: longer shadows.</a:t>
            </a:r>
          </a:p>
          <a:p/>
          <a:p>
            <a:r>
              <a:t>Poster: F-P05</a:t>
            </a:r>
          </a:p>
          <a:p>
            <a:r>
              <a:t>Clip F-ANI-04: public/course-media/farmer-5day/F-ANI-04.mp4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20-minute site walk with ribbons and pegs. Clues: channels, silt, wet patches, bent trees.</a:t>
            </a:r>
          </a:p>
          <a:p/>
          <a:p>
            <a:r>
              <a:t>Poster: F-P05</a:t>
            </a:r>
          </a:p>
          <a:p>
            <a:r>
              <a:t>Clip F-ANI-05: public/course-media/farmer-5day/F-ANI-05.mp4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why spinach is by the kitchen and maize further away. Groups draw the venue from above (15 min).</a:t>
            </a:r>
          </a:p>
          <a:p/>
          <a:p>
            <a:r>
              <a:t>Poster: F-P05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F-D1-S4. One A-frame per group. Everybody has a job while building.</a:t>
            </a:r>
          </a:p>
          <a:p/>
          <a:p>
            <a:r>
              <a:t>Poster: F-P06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once, then every group calibrates its own frame. Check each level mark before frames are stored.</a:t>
            </a:r>
          </a:p>
          <a:p/>
          <a:p>
            <a:r>
              <a:t>Poster: F-P06</a:t>
            </a:r>
          </a:p>
          <a:p>
            <a:r>
              <a:t>Clip F-ANI-06: public/course-animations/reading-landscape/flow-a-frame.mp4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out A4 and pencils. Any drawing is good. Bring it tomorrow.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circle (toolkit §3). Register PM signatures.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F5D34"/>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EFE6D2"/>
                </a:solidFill>
                <a:latin typeface="Verdana"/>
              </a:rPr>
              <a:t>F-D1-01</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EFE6D2"/>
                </a:solidFill>
                <a:latin typeface="Verdana"/>
              </a:rPr>
              <a:t>Grow Food, Grow Strong</a:t>
            </a:r>
          </a:p>
        </p:txBody>
      </p:sp>
      <p:sp>
        <p:nvSpPr>
          <p:cNvPr id="4" name="TextBox 3"/>
          <p:cNvSpPr txBox="1"/>
          <p:nvPr/>
        </p:nvSpPr>
        <p:spPr>
          <a:xfrm>
            <a:off x="822960" y="1463040"/>
            <a:ext cx="6400800" cy="1645920"/>
          </a:xfrm>
          <a:prstGeom prst="rect">
            <a:avLst/>
          </a:prstGeom>
          <a:noFill/>
        </p:spPr>
        <p:txBody>
          <a:bodyPr wrap="square" anchor="b" lIns="45720" rIns="45720">
            <a:spAutoFit/>
          </a:bodyPr>
          <a:lstStyle/>
          <a:p>
            <a:pPr algn="l">
              <a:spcAft>
                <a:spcPts val="800"/>
              </a:spcAft>
            </a:pPr>
            <a:r>
              <a:rPr sz="4800" b="1">
                <a:solidFill>
                  <a:srgbClr val="EFE6D2"/>
                </a:solidFill>
                <a:latin typeface="Rockwell"/>
              </a:rPr>
              <a:t>Grow Food, Grow Strong</a:t>
            </a:r>
          </a:p>
        </p:txBody>
      </p:sp>
      <p:sp>
        <p:nvSpPr>
          <p:cNvPr id="5" name="Rectangle 4"/>
          <p:cNvSpPr/>
          <p:nvPr/>
        </p:nvSpPr>
        <p:spPr>
          <a:xfrm>
            <a:off x="822960" y="3246120"/>
            <a:ext cx="1463040" cy="73152"/>
          </a:xfrm>
          <a:prstGeom prst="rect">
            <a:avLst/>
          </a:prstGeom>
          <a:solidFill>
            <a:srgbClr val="B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474720"/>
            <a:ext cx="6035040" cy="1828800"/>
          </a:xfrm>
          <a:prstGeom prst="rect">
            <a:avLst/>
          </a:prstGeom>
          <a:noFill/>
        </p:spPr>
        <p:txBody>
          <a:bodyPr wrap="square" anchor="t" lIns="45720" rIns="45720">
            <a:spAutoFit/>
          </a:bodyPr>
          <a:lstStyle/>
          <a:p>
            <a:pPr algn="l">
              <a:spcAft>
                <a:spcPts val="800"/>
              </a:spcAft>
            </a:pPr>
            <a:r>
              <a:rPr sz="2400" b="0">
                <a:solidFill>
                  <a:srgbClr val="EFE6D2"/>
                </a:solidFill>
                <a:latin typeface="Verdana"/>
              </a:rPr>
              <a:t>Day 1 of 5 — Why we farm this way</a:t>
            </a:r>
          </a:p>
        </p:txBody>
      </p:sp>
      <p:sp>
        <p:nvSpPr>
          <p:cNvPr id="7" name="Rectangle 6"/>
          <p:cNvSpPr/>
          <p:nvPr/>
        </p:nvSpPr>
        <p:spPr>
          <a:xfrm>
            <a:off x="7498079" y="914400"/>
            <a:ext cx="4206240" cy="475488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1097280"/>
            <a:ext cx="374904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IMAGE · F-IMG-01 · coming</a:t>
            </a:r>
          </a:p>
        </p:txBody>
      </p:sp>
      <p:sp>
        <p:nvSpPr>
          <p:cNvPr id="9" name="TextBox 8"/>
          <p:cNvSpPr txBox="1"/>
          <p:nvPr/>
        </p:nvSpPr>
        <p:spPr>
          <a:xfrm>
            <a:off x="7726679" y="1481328"/>
            <a:ext cx="374904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Course cover</a:t>
            </a:r>
          </a:p>
        </p:txBody>
      </p:sp>
      <p:sp>
        <p:nvSpPr>
          <p:cNvPr id="10" name="TextBox 9"/>
          <p:cNvSpPr txBox="1"/>
          <p:nvPr/>
        </p:nvSpPr>
        <p:spPr>
          <a:xfrm>
            <a:off x="7726679" y="2011680"/>
            <a:ext cx="3749040" cy="347472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A community garden at mid-morning: dark mulched beds, a small tank on a corrugated roof, a young woman and a gogo in a headscarf laughing as they carry a basket of leafy greens; hills behind. Sun in the north (upper left or right of frame, shadows toward the viewer's bottom).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F-D1-02   ·   Poster F-P01</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Welcome</a:t>
            </a:r>
          </a:p>
        </p:txBody>
      </p:sp>
      <p:sp>
        <p:nvSpPr>
          <p:cNvPr id="5" name="Rectangle 4"/>
          <p:cNvSpPr/>
          <p:nvPr/>
        </p:nvSpPr>
        <p:spPr>
          <a:xfrm>
            <a:off x="457200" y="146304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400" b="0">
                <a:solidFill>
                  <a:srgbClr val="1B1A17"/>
                </a:solidFill>
                <a:latin typeface="Verdana"/>
              </a:rPr>
              <a:t>•  5 days · 09:00–16:00</a:t>
            </a:r>
          </a:p>
          <a:p>
            <a:pPr algn="l">
              <a:spcAft>
                <a:spcPts val="1600"/>
              </a:spcAft>
            </a:pPr>
            <a:r>
              <a:rPr sz="2400" b="0">
                <a:solidFill>
                  <a:srgbClr val="1B1A17"/>
                </a:solidFill>
                <a:latin typeface="Verdana"/>
              </a:rPr>
              <a:t>•  Groups of 5 · hands in the soil</a:t>
            </a:r>
          </a:p>
          <a:p>
            <a:pPr algn="l">
              <a:spcAft>
                <a:spcPts val="1600"/>
              </a:spcAft>
            </a:pPr>
            <a:r>
              <a:rPr sz="2400" b="0">
                <a:solidFill>
                  <a:srgbClr val="1B1A17"/>
                </a:solidFill>
                <a:latin typeface="Verdana"/>
              </a:rPr>
              <a:t>•  You take home seedlings, seed, a plan</a:t>
            </a:r>
          </a:p>
        </p:txBody>
      </p:sp>
      <p:sp>
        <p:nvSpPr>
          <p:cNvPr id="7" name="Rectangle 6"/>
          <p:cNvSpPr/>
          <p:nvPr/>
        </p:nvSpPr>
        <p:spPr>
          <a:xfrm>
            <a:off x="5852160" y="1691640"/>
            <a:ext cx="5852160" cy="452628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IMAGE · F-IMG-02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Welcome circle</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About 25 adults of mixed ages in a circle of plastic chairs under a lapa, one standing facilitator mid-gesture, everyone facing each other.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F-D1-03</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Rounded Rectangle 3"/>
          <p:cNvSpPr/>
          <p:nvPr/>
        </p:nvSpPr>
        <p:spPr>
          <a:xfrm>
            <a:off x="457200" y="320040"/>
            <a:ext cx="1737360" cy="411480"/>
          </a:xfrm>
          <a:prstGeom prst="roundRect">
            <a:avLst/>
          </a:prstGeom>
          <a:solidFill>
            <a:srgbClr val="B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
            <a:ext cx="1737360" cy="411480"/>
          </a:xfrm>
          <a:prstGeom prst="rect">
            <a:avLst/>
          </a:prstGeom>
          <a:noFill/>
        </p:spPr>
        <p:txBody>
          <a:bodyPr wrap="square" anchor="ctr" lIns="45720" rIns="45720">
            <a:spAutoFit/>
          </a:bodyPr>
          <a:lstStyle/>
          <a:p>
            <a:pPr algn="ctr">
              <a:spcAft>
                <a:spcPts val="800"/>
              </a:spcAft>
            </a:pPr>
            <a:r>
              <a:rPr sz="1400" b="1">
                <a:solidFill>
                  <a:srgbClr val="EFE6D2"/>
                </a:solidFill>
                <a:latin typeface="Verdana"/>
              </a:rPr>
              <a:t>YOUR TURN</a:t>
            </a:r>
          </a:p>
        </p:txBody>
      </p:sp>
      <p:sp>
        <p:nvSpPr>
          <p:cNvPr id="6" name="TextBox 5"/>
          <p:cNvSpPr txBox="1"/>
          <p:nvPr/>
        </p:nvSpPr>
        <p:spPr>
          <a:xfrm>
            <a:off x="457200" y="82296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Picture quiz</a:t>
            </a:r>
          </a:p>
        </p:txBody>
      </p:sp>
      <p:sp>
        <p:nvSpPr>
          <p:cNvPr id="7" name="Rectangle 6"/>
          <p:cNvSpPr/>
          <p:nvPr/>
        </p:nvSpPr>
        <p:spPr>
          <a:xfrm>
            <a:off x="457200" y="187452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48840"/>
            <a:ext cx="5120640" cy="3931920"/>
          </a:xfrm>
          <a:prstGeom prst="rect">
            <a:avLst/>
          </a:prstGeom>
          <a:noFill/>
        </p:spPr>
        <p:txBody>
          <a:bodyPr wrap="square" anchor="t" lIns="45720" rIns="45720">
            <a:spAutoFit/>
          </a:bodyPr>
          <a:lstStyle/>
          <a:p>
            <a:pPr algn="l">
              <a:spcAft>
                <a:spcPts val="1600"/>
              </a:spcAft>
            </a:pPr>
            <a:r>
              <a:rPr sz="3000" b="1">
                <a:solidFill>
                  <a:srgbClr val="1B1A17"/>
                </a:solidFill>
                <a:latin typeface="Verdana"/>
              </a:rPr>
              <a:t>•  Walk to the answer: A · B · C</a:t>
            </a:r>
          </a:p>
          <a:p>
            <a:pPr algn="l">
              <a:spcAft>
                <a:spcPts val="1600"/>
              </a:spcAft>
            </a:pPr>
            <a:r>
              <a:rPr sz="3000" b="1">
                <a:solidFill>
                  <a:srgbClr val="1B1A17"/>
                </a:solidFill>
                <a:latin typeface="Verdana"/>
              </a:rPr>
              <a:t>•  Nobody is wrong today</a:t>
            </a:r>
          </a:p>
        </p:txBody>
      </p:sp>
      <p:sp>
        <p:nvSpPr>
          <p:cNvPr id="9" name="Rectangle 8"/>
          <p:cNvSpPr/>
          <p:nvPr/>
        </p:nvSpPr>
        <p:spPr>
          <a:xfrm>
            <a:off x="5852160" y="2103120"/>
            <a:ext cx="5852160" cy="411480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28600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IMAGE · F-IMG-70 · coming</a:t>
            </a:r>
          </a:p>
        </p:txBody>
      </p:sp>
      <p:sp>
        <p:nvSpPr>
          <p:cNvPr id="11" name="TextBox 10"/>
          <p:cNvSpPr txBox="1"/>
          <p:nvPr/>
        </p:nvSpPr>
        <p:spPr>
          <a:xfrm>
            <a:off x="6080760" y="267004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Picture quiz card 1</a:t>
            </a:r>
          </a:p>
        </p:txBody>
      </p:sp>
      <p:sp>
        <p:nvSpPr>
          <p:cNvPr id="12" name="TextBox 11"/>
          <p:cNvSpPr txBox="1"/>
          <p:nvPr/>
        </p:nvSpPr>
        <p:spPr>
          <a:xfrm>
            <a:off x="6080760" y="3200400"/>
            <a:ext cx="5394960" cy="283464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Question (said aloud, not printed in the art): 'Where is the sun at midday in winter?' Art: three panels A/B/C: sun to the north of a house (shadow south) · sun to the south · sun straight overhead. Three equal panels with a large A, B and C typeset below each panel in the layout (not in the art).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F-D1-04</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Rounded Rectangle 3"/>
          <p:cNvSpPr/>
          <p:nvPr/>
        </p:nvSpPr>
        <p:spPr>
          <a:xfrm>
            <a:off x="457200" y="320040"/>
            <a:ext cx="1737360" cy="411480"/>
          </a:xfrm>
          <a:prstGeom prst="roundRect">
            <a:avLst/>
          </a:prstGeom>
          <a:solidFill>
            <a:srgbClr val="B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
            <a:ext cx="1737360" cy="411480"/>
          </a:xfrm>
          <a:prstGeom prst="rect">
            <a:avLst/>
          </a:prstGeom>
          <a:noFill/>
        </p:spPr>
        <p:txBody>
          <a:bodyPr wrap="square" anchor="ctr" lIns="45720" rIns="45720">
            <a:spAutoFit/>
          </a:bodyPr>
          <a:lstStyle/>
          <a:p>
            <a:pPr algn="ctr">
              <a:spcAft>
                <a:spcPts val="800"/>
              </a:spcAft>
            </a:pPr>
            <a:r>
              <a:rPr sz="1400" b="1">
                <a:solidFill>
                  <a:srgbClr val="EFE6D2"/>
                </a:solidFill>
                <a:latin typeface="Verdana"/>
              </a:rPr>
              <a:t>YOUR TURN</a:t>
            </a:r>
          </a:p>
        </p:txBody>
      </p:sp>
      <p:sp>
        <p:nvSpPr>
          <p:cNvPr id="6" name="TextBox 5"/>
          <p:cNvSpPr txBox="1"/>
          <p:nvPr/>
        </p:nvSpPr>
        <p:spPr>
          <a:xfrm>
            <a:off x="457200" y="82296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Draw your hope</a:t>
            </a:r>
          </a:p>
        </p:txBody>
      </p:sp>
      <p:sp>
        <p:nvSpPr>
          <p:cNvPr id="7" name="Rectangle 6"/>
          <p:cNvSpPr/>
          <p:nvPr/>
        </p:nvSpPr>
        <p:spPr>
          <a:xfrm>
            <a:off x="457200" y="187452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48840"/>
            <a:ext cx="5120640" cy="3931920"/>
          </a:xfrm>
          <a:prstGeom prst="rect">
            <a:avLst/>
          </a:prstGeom>
          <a:noFill/>
        </p:spPr>
        <p:txBody>
          <a:bodyPr wrap="square" anchor="t" lIns="45720" rIns="45720">
            <a:spAutoFit/>
          </a:bodyPr>
          <a:lstStyle/>
          <a:p>
            <a:pPr algn="l">
              <a:spcAft>
                <a:spcPts val="1600"/>
              </a:spcAft>
            </a:pPr>
            <a:r>
              <a:rPr sz="2600" b="1">
                <a:solidFill>
                  <a:srgbClr val="1B1A17"/>
                </a:solidFill>
                <a:latin typeface="Verdana"/>
              </a:rPr>
              <a:t>•  Your garden at the end of this year</a:t>
            </a:r>
          </a:p>
          <a:p>
            <a:pPr algn="l">
              <a:spcAft>
                <a:spcPts val="1600"/>
              </a:spcAft>
            </a:pPr>
            <a:r>
              <a:rPr sz="2600" b="1">
                <a:solidFill>
                  <a:srgbClr val="1B1A17"/>
                </a:solidFill>
                <a:latin typeface="Verdana"/>
              </a:rPr>
              <a:t>•  Draw it — no writing needed</a:t>
            </a:r>
          </a:p>
          <a:p>
            <a:pPr algn="l">
              <a:spcAft>
                <a:spcPts val="1600"/>
              </a:spcAft>
            </a:pPr>
            <a:r>
              <a:rPr sz="2600" b="1">
                <a:solidFill>
                  <a:srgbClr val="1B1A17"/>
                </a:solidFill>
                <a:latin typeface="Verdana"/>
              </a:rPr>
              <a:t>•  Show your group: 1 minute each</a:t>
            </a:r>
          </a:p>
        </p:txBody>
      </p:sp>
      <p:sp>
        <p:nvSpPr>
          <p:cNvPr id="9" name="Rectangle 8"/>
          <p:cNvSpPr/>
          <p:nvPr/>
        </p:nvSpPr>
        <p:spPr>
          <a:xfrm>
            <a:off x="5852160" y="2103120"/>
            <a:ext cx="5852160" cy="411480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28600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IMAGE · F-IMG-03 · coming</a:t>
            </a:r>
          </a:p>
        </p:txBody>
      </p:sp>
      <p:sp>
        <p:nvSpPr>
          <p:cNvPr id="11" name="TextBox 10"/>
          <p:cNvSpPr txBox="1"/>
          <p:nvPr/>
        </p:nvSpPr>
        <p:spPr>
          <a:xfrm>
            <a:off x="6080760" y="267004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Drawing a hope</a:t>
            </a:r>
          </a:p>
        </p:txBody>
      </p:sp>
      <p:sp>
        <p:nvSpPr>
          <p:cNvPr id="12" name="TextBox 11"/>
          <p:cNvSpPr txBox="1"/>
          <p:nvPr/>
        </p:nvSpPr>
        <p:spPr>
          <a:xfrm>
            <a:off x="6080760" y="3200400"/>
            <a:ext cx="5394960" cy="283464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Close-up of hands of different ages drawing with wax crayons on A4 sheets: a house, a garden, a tank.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F-D1-05   ·   Poster F-P01</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How we learn together</a:t>
            </a:r>
          </a:p>
        </p:txBody>
      </p:sp>
      <p:sp>
        <p:nvSpPr>
          <p:cNvPr id="5" name="Rectangle 4"/>
          <p:cNvSpPr/>
          <p:nvPr/>
        </p:nvSpPr>
        <p:spPr>
          <a:xfrm>
            <a:off x="457200" y="146304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400" b="0">
                <a:solidFill>
                  <a:srgbClr val="1B1A17"/>
                </a:solidFill>
                <a:latin typeface="Verdana"/>
              </a:rPr>
              <a:t>•  What do we need from each other?</a:t>
            </a:r>
          </a:p>
        </p:txBody>
      </p:sp>
      <p:sp>
        <p:nvSpPr>
          <p:cNvPr id="7" name="Rectangle 6"/>
          <p:cNvSpPr/>
          <p:nvPr/>
        </p:nvSpPr>
        <p:spPr>
          <a:xfrm>
            <a:off x="5852160" y="1691640"/>
            <a:ext cx="5852160" cy="452628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POSTER ART · F-P01-ART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Artwork for F-P01 · Our class agreement</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A circle of 10 seated people seen from slightly above — mixed ages, a gogo in a headscarf, a young man in a cap, a woman with a baby on her back — each with an open hand towards the middle, where a single seedling grows from a small mound. Keep the art in the top 35% so the lower part is a **blank ruled area** (12 lines) for the class to write 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F-D1-06   ·   Poster F-P02</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Three ways to care</a:t>
            </a:r>
          </a:p>
        </p:txBody>
      </p:sp>
      <p:sp>
        <p:nvSpPr>
          <p:cNvPr id="5" name="Rectangle 4"/>
          <p:cNvSpPr/>
          <p:nvPr/>
        </p:nvSpPr>
        <p:spPr>
          <a:xfrm>
            <a:off x="457200" y="146304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800" b="0">
                <a:solidFill>
                  <a:srgbClr val="1B1A17"/>
                </a:solidFill>
                <a:latin typeface="Verdana"/>
              </a:rPr>
              <a:t>•  Earth care</a:t>
            </a:r>
          </a:p>
          <a:p>
            <a:pPr algn="l">
              <a:spcAft>
                <a:spcPts val="1600"/>
              </a:spcAft>
            </a:pPr>
            <a:r>
              <a:rPr sz="2800" b="0">
                <a:solidFill>
                  <a:srgbClr val="1B1A17"/>
                </a:solidFill>
                <a:latin typeface="Verdana"/>
              </a:rPr>
              <a:t>•  People care</a:t>
            </a:r>
          </a:p>
          <a:p>
            <a:pPr algn="l">
              <a:spcAft>
                <a:spcPts val="1600"/>
              </a:spcAft>
            </a:pPr>
            <a:r>
              <a:rPr sz="2800" b="0">
                <a:solidFill>
                  <a:srgbClr val="1B1A17"/>
                </a:solidFill>
                <a:latin typeface="Verdana"/>
              </a:rPr>
              <a:t>•  Fair share</a:t>
            </a:r>
          </a:p>
        </p:txBody>
      </p:sp>
      <p:sp>
        <p:nvSpPr>
          <p:cNvPr id="7" name="Rectangle 6"/>
          <p:cNvSpPr/>
          <p:nvPr/>
        </p:nvSpPr>
        <p:spPr>
          <a:xfrm>
            <a:off x="5852160" y="1691640"/>
            <a:ext cx="5852160" cy="452628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POSTER ART · F-P02-ART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Artwork for F-P02 · Earth care · People care · Fair share</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Three equal overlapping circles (a Venn). Circle ① (top-left, Leaf green): two cupped hands holding dark soil with a sprouting seedling and an earthworm. Circle ② (top-right, Ochre): a family of four — gogo, mother, two children — eating from one pot. Circle ③ (bottom, Water blue outline only, Paper fill): one hand passing a basket of vegetables and 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F-D1-07   ·   Poster F-P03</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Which garden survives a drought?</a:t>
            </a:r>
          </a:p>
        </p:txBody>
      </p:sp>
      <p:sp>
        <p:nvSpPr>
          <p:cNvPr id="5" name="Rectangle 4"/>
          <p:cNvSpPr/>
          <p:nvPr/>
        </p:nvSpPr>
        <p:spPr>
          <a:xfrm>
            <a:off x="457200" y="146304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800" b="0">
                <a:solidFill>
                  <a:srgbClr val="1B1A17"/>
                </a:solidFill>
                <a:latin typeface="Verdana"/>
              </a:rPr>
              <a:t>•  Look for 3 minutes</a:t>
            </a:r>
          </a:p>
          <a:p>
            <a:pPr algn="l">
              <a:spcAft>
                <a:spcPts val="1600"/>
              </a:spcAft>
            </a:pPr>
            <a:r>
              <a:rPr sz="2800" b="0">
                <a:solidFill>
                  <a:srgbClr val="1B1A17"/>
                </a:solidFill>
                <a:latin typeface="Verdana"/>
              </a:rPr>
              <a:t>•  What is different?</a:t>
            </a:r>
          </a:p>
        </p:txBody>
      </p:sp>
      <p:sp>
        <p:nvSpPr>
          <p:cNvPr id="7" name="Rectangle 6"/>
          <p:cNvSpPr/>
          <p:nvPr/>
        </p:nvSpPr>
        <p:spPr>
          <a:xfrm>
            <a:off x="5852160" y="1691640"/>
            <a:ext cx="5852160" cy="452628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POSTER ART · F-P03-ART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Artwork for F-P03 · Two gardens</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Split vertically. **Left:** a bare, cracked, pale plot on a slight slope; one crop in straight rows; a fertiliser bag and a spray can with a skull-free generic warning shape; rainwater running off in brown channels taking soil down the slope; a hot sun in the north (upper edge) and a wilting plant. **Right:** the same slope with dark mulched beds, many…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F-D1-08</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Rounded Rectangle 3"/>
          <p:cNvSpPr/>
          <p:nvPr/>
        </p:nvSpPr>
        <p:spPr>
          <a:xfrm>
            <a:off x="457200" y="320040"/>
            <a:ext cx="1737360" cy="411480"/>
          </a:xfrm>
          <a:prstGeom prst="roundRect">
            <a:avLst/>
          </a:prstGeom>
          <a:solidFill>
            <a:srgbClr val="B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
            <a:ext cx="1737360" cy="411480"/>
          </a:xfrm>
          <a:prstGeom prst="rect">
            <a:avLst/>
          </a:prstGeom>
          <a:noFill/>
        </p:spPr>
        <p:txBody>
          <a:bodyPr wrap="square" anchor="ctr" lIns="45720" rIns="45720">
            <a:spAutoFit/>
          </a:bodyPr>
          <a:lstStyle/>
          <a:p>
            <a:pPr algn="ctr">
              <a:spcAft>
                <a:spcPts val="800"/>
              </a:spcAft>
            </a:pPr>
            <a:r>
              <a:rPr sz="1400" b="1">
                <a:solidFill>
                  <a:srgbClr val="EFE6D2"/>
                </a:solidFill>
                <a:latin typeface="Verdana"/>
              </a:rPr>
              <a:t>YOUR TURN</a:t>
            </a:r>
          </a:p>
        </p:txBody>
      </p:sp>
      <p:sp>
        <p:nvSpPr>
          <p:cNvPr id="6" name="TextBox 5"/>
          <p:cNvSpPr txBox="1"/>
          <p:nvPr/>
        </p:nvSpPr>
        <p:spPr>
          <a:xfrm>
            <a:off x="457200" y="82296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Bare soil or covered soil?</a:t>
            </a:r>
          </a:p>
        </p:txBody>
      </p:sp>
      <p:sp>
        <p:nvSpPr>
          <p:cNvPr id="7" name="Rectangle 6"/>
          <p:cNvSpPr/>
          <p:nvPr/>
        </p:nvSpPr>
        <p:spPr>
          <a:xfrm>
            <a:off x="457200" y="187452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48840"/>
            <a:ext cx="5120640" cy="3931920"/>
          </a:xfrm>
          <a:prstGeom prst="rect">
            <a:avLst/>
          </a:prstGeom>
          <a:noFill/>
        </p:spPr>
        <p:txBody>
          <a:bodyPr wrap="square" anchor="t" lIns="45720" rIns="45720">
            <a:spAutoFit/>
          </a:bodyPr>
          <a:lstStyle/>
          <a:p>
            <a:pPr algn="l">
              <a:spcAft>
                <a:spcPts val="1600"/>
              </a:spcAft>
            </a:pPr>
            <a:r>
              <a:rPr sz="3000" b="1">
                <a:solidFill>
                  <a:srgbClr val="1B1A17"/>
                </a:solidFill>
                <a:latin typeface="Verdana"/>
              </a:rPr>
              <a:t>•  Pour one cup on each</a:t>
            </a:r>
          </a:p>
          <a:p>
            <a:pPr algn="l">
              <a:spcAft>
                <a:spcPts val="1600"/>
              </a:spcAft>
            </a:pPr>
            <a:r>
              <a:rPr sz="3000" b="1">
                <a:solidFill>
                  <a:srgbClr val="1B1A17"/>
                </a:solidFill>
                <a:latin typeface="Verdana"/>
              </a:rPr>
              <a:t>•  Where did the water go?</a:t>
            </a:r>
          </a:p>
        </p:txBody>
      </p:sp>
      <p:sp>
        <p:nvSpPr>
          <p:cNvPr id="9" name="Rectangle 8"/>
          <p:cNvSpPr/>
          <p:nvPr/>
        </p:nvSpPr>
        <p:spPr>
          <a:xfrm>
            <a:off x="5852160" y="2103120"/>
            <a:ext cx="5852160" cy="411480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28600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ANIMATION · F-ANI-03 · coming</a:t>
            </a:r>
          </a:p>
        </p:txBody>
      </p:sp>
      <p:sp>
        <p:nvSpPr>
          <p:cNvPr id="11" name="TextBox 10"/>
          <p:cNvSpPr txBox="1"/>
          <p:nvPr/>
        </p:nvSpPr>
        <p:spPr>
          <a:xfrm>
            <a:off x="6080760" y="267004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Two gardens through a dry season</a:t>
            </a:r>
          </a:p>
        </p:txBody>
      </p:sp>
      <p:sp>
        <p:nvSpPr>
          <p:cNvPr id="12" name="TextBox 11"/>
          <p:cNvSpPr txBox="1"/>
          <p:nvPr/>
        </p:nvSpPr>
        <p:spPr>
          <a:xfrm>
            <a:off x="6080760" y="3200400"/>
            <a:ext cx="5394960" cy="283464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Split screen, same gentle slope, same fixed camera. LEFT: bare pale soil, one crop in rows. RIGHT: mulched beds, mixed plants, a small tree, a swale. Sequence: (0–5 s) a summer storm — left: brown water runs off in channels carrying soil; right: water soaks in, swale fills and empties downward into the soil. (5–12 s) days pass (sun arcs across the NORTH…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F-D1-09   ·   Poster F-P03</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Farming with nature</a:t>
            </a:r>
          </a:p>
        </p:txBody>
      </p:sp>
      <p:sp>
        <p:nvSpPr>
          <p:cNvPr id="5" name="Rectangle 4"/>
          <p:cNvSpPr/>
          <p:nvPr/>
        </p:nvSpPr>
        <p:spPr>
          <a:xfrm>
            <a:off x="457200" y="146304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800" b="0">
                <a:solidFill>
                  <a:srgbClr val="1B1A17"/>
                </a:solidFill>
                <a:latin typeface="Verdana"/>
              </a:rPr>
              <a:t>•  Soil always covered</a:t>
            </a:r>
          </a:p>
          <a:p>
            <a:pPr algn="l">
              <a:spcAft>
                <a:spcPts val="1600"/>
              </a:spcAft>
            </a:pPr>
            <a:r>
              <a:rPr sz="2800" b="0">
                <a:solidFill>
                  <a:srgbClr val="1B1A17"/>
                </a:solidFill>
                <a:latin typeface="Verdana"/>
              </a:rPr>
              <a:t>•  Many plants together</a:t>
            </a:r>
          </a:p>
          <a:p>
            <a:pPr algn="l">
              <a:spcAft>
                <a:spcPts val="1600"/>
              </a:spcAft>
            </a:pPr>
            <a:r>
              <a:rPr sz="2800" b="0">
                <a:solidFill>
                  <a:srgbClr val="1B1A17"/>
                </a:solidFill>
                <a:latin typeface="Verdana"/>
              </a:rPr>
              <a:t>•  Water slowed · nothing wasted</a:t>
            </a:r>
          </a:p>
        </p:txBody>
      </p:sp>
      <p:sp>
        <p:nvSpPr>
          <p:cNvPr id="7" name="Rectangle 6"/>
          <p:cNvSpPr/>
          <p:nvPr/>
        </p:nvSpPr>
        <p:spPr>
          <a:xfrm>
            <a:off x="5852160" y="1691640"/>
            <a:ext cx="5852160" cy="452628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ANIMATION · F-ANI-02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Diversity</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A bare row of a single crop wilts as pests arrive; beside it a mixed bed (tall grain, climbing bean, spreading pumpkin-like leaves, flowers) stays green while ladybirds and birds visit. Seasons pass and the mixed bed keeps producing. (Replaces the withdrawn clip `intro-permaculture/watch-13-diversity.mp4`.)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F-D1-10   ·   Poster F-P04</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Six ways to garden with nature</a:t>
            </a:r>
          </a:p>
        </p:txBody>
      </p:sp>
      <p:sp>
        <p:nvSpPr>
          <p:cNvPr id="5" name="Rectangle 4"/>
          <p:cNvSpPr/>
          <p:nvPr/>
        </p:nvSpPr>
        <p:spPr>
          <a:xfrm>
            <a:off x="457200" y="146304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400" b="0">
                <a:solidFill>
                  <a:srgbClr val="1B1A17"/>
                </a:solidFill>
                <a:latin typeface="Verdana"/>
              </a:rPr>
              <a:t>•  Watch first · Catch and keep · Many helpers</a:t>
            </a:r>
          </a:p>
          <a:p>
            <a:pPr algn="l">
              <a:spcAft>
                <a:spcPts val="1600"/>
              </a:spcAft>
            </a:pPr>
            <a:r>
              <a:rPr sz="2400" b="0">
                <a:solidFill>
                  <a:srgbClr val="1B1A17"/>
                </a:solidFill>
                <a:latin typeface="Verdana"/>
              </a:rPr>
              <a:t>•  Nothing is waste · Start small · Use the edges</a:t>
            </a:r>
          </a:p>
        </p:txBody>
      </p:sp>
      <p:sp>
        <p:nvSpPr>
          <p:cNvPr id="7" name="Rectangle 6"/>
          <p:cNvSpPr/>
          <p:nvPr/>
        </p:nvSpPr>
        <p:spPr>
          <a:xfrm>
            <a:off x="5852160" y="1691640"/>
            <a:ext cx="5852160" cy="452628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POSTER ART · F-P04-ART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Artwork for F-P04 · Six garden principles</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A 2 × 3 grid of six square icons with a bold simple scene each: ① a person squatting, watching rain run across a yard (an eye motif); ② a roof gutter pouring into a tank, and a hand holding seeds; ③ a maize stalk, a bean vine climbing it, and a pumpkin at its foot; ④ vegetable peels going into a compost heap, a small arrow round to a green plant; ⑤ 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F-D1-11</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Rounded Rectangle 3"/>
          <p:cNvSpPr/>
          <p:nvPr/>
        </p:nvSpPr>
        <p:spPr>
          <a:xfrm>
            <a:off x="457200" y="320040"/>
            <a:ext cx="1737360" cy="411480"/>
          </a:xfrm>
          <a:prstGeom prst="roundRect">
            <a:avLst/>
          </a:prstGeom>
          <a:solidFill>
            <a:srgbClr val="B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
            <a:ext cx="1737360" cy="411480"/>
          </a:xfrm>
          <a:prstGeom prst="rect">
            <a:avLst/>
          </a:prstGeom>
          <a:noFill/>
        </p:spPr>
        <p:txBody>
          <a:bodyPr wrap="square" anchor="ctr" lIns="45720" rIns="45720">
            <a:spAutoFit/>
          </a:bodyPr>
          <a:lstStyle/>
          <a:p>
            <a:pPr algn="ctr">
              <a:spcAft>
                <a:spcPts val="800"/>
              </a:spcAft>
            </a:pPr>
            <a:r>
              <a:rPr sz="1400" b="1">
                <a:solidFill>
                  <a:srgbClr val="EFE6D2"/>
                </a:solidFill>
                <a:latin typeface="Verdana"/>
              </a:rPr>
              <a:t>YOUR TURN</a:t>
            </a:r>
          </a:p>
        </p:txBody>
      </p:sp>
      <p:sp>
        <p:nvSpPr>
          <p:cNvPr id="6" name="TextBox 5"/>
          <p:cNvSpPr txBox="1"/>
          <p:nvPr/>
        </p:nvSpPr>
        <p:spPr>
          <a:xfrm>
            <a:off x="457200" y="82296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Magazine hunt</a:t>
            </a:r>
          </a:p>
        </p:txBody>
      </p:sp>
      <p:sp>
        <p:nvSpPr>
          <p:cNvPr id="7" name="Rectangle 6"/>
          <p:cNvSpPr/>
          <p:nvPr/>
        </p:nvSpPr>
        <p:spPr>
          <a:xfrm>
            <a:off x="457200" y="187452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48840"/>
            <a:ext cx="5120640" cy="3931920"/>
          </a:xfrm>
          <a:prstGeom prst="rect">
            <a:avLst/>
          </a:prstGeom>
          <a:noFill/>
        </p:spPr>
        <p:txBody>
          <a:bodyPr wrap="square" anchor="t" lIns="45720" rIns="45720">
            <a:spAutoFit/>
          </a:bodyPr>
          <a:lstStyle/>
          <a:p>
            <a:pPr algn="l">
              <a:spcAft>
                <a:spcPts val="1600"/>
              </a:spcAft>
            </a:pPr>
            <a:r>
              <a:rPr sz="2600" b="1">
                <a:solidFill>
                  <a:srgbClr val="1B1A17"/>
                </a:solidFill>
                <a:latin typeface="Verdana"/>
              </a:rPr>
              <a:t>•  Match each picture to a principle</a:t>
            </a:r>
          </a:p>
          <a:p>
            <a:pPr algn="l">
              <a:spcAft>
                <a:spcPts val="1600"/>
              </a:spcAft>
            </a:pPr>
            <a:r>
              <a:rPr sz="2600" b="1">
                <a:solidFill>
                  <a:srgbClr val="1B1A17"/>
                </a:solidFill>
                <a:latin typeface="Verdana"/>
              </a:rPr>
              <a:t>•  Everyone places two pictures</a:t>
            </a:r>
          </a:p>
          <a:p>
            <a:pPr algn="l">
              <a:spcAft>
                <a:spcPts val="1600"/>
              </a:spcAft>
            </a:pPr>
            <a:r>
              <a:rPr sz="2600" b="1">
                <a:solidFill>
                  <a:srgbClr val="1B1A17"/>
                </a:solidFill>
                <a:latin typeface="Verdana"/>
              </a:rPr>
              <a:t>•  20 minutes, then gallery walk</a:t>
            </a:r>
          </a:p>
        </p:txBody>
      </p:sp>
      <p:sp>
        <p:nvSpPr>
          <p:cNvPr id="9" name="Rectangle 8"/>
          <p:cNvSpPr/>
          <p:nvPr/>
        </p:nvSpPr>
        <p:spPr>
          <a:xfrm>
            <a:off x="5852160" y="2103120"/>
            <a:ext cx="5852160" cy="411480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28600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IMAGE · F-IMG-80 · coming</a:t>
            </a:r>
          </a:p>
        </p:txBody>
      </p:sp>
      <p:sp>
        <p:nvSpPr>
          <p:cNvPr id="11" name="TextBox 10"/>
          <p:cNvSpPr txBox="1"/>
          <p:nvPr/>
        </p:nvSpPr>
        <p:spPr>
          <a:xfrm>
            <a:off x="6080760" y="267004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Principle picture — Watch first</a:t>
            </a:r>
          </a:p>
        </p:txBody>
      </p:sp>
      <p:sp>
        <p:nvSpPr>
          <p:cNvPr id="12" name="TextBox 11"/>
          <p:cNvSpPr txBox="1"/>
          <p:nvPr/>
        </p:nvSpPr>
        <p:spPr>
          <a:xfrm>
            <a:off x="6080760" y="3200400"/>
            <a:ext cx="5394960" cy="283464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Photo-like illustration of a person squatting and watching rain run across a yard. Must look like a magazine picture (a scene, not a diagram) so the hunt still works. No text.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F-D1-12   ·   Poster F-P05</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Where is the sun?</a:t>
            </a:r>
          </a:p>
        </p:txBody>
      </p:sp>
      <p:sp>
        <p:nvSpPr>
          <p:cNvPr id="5" name="Rectangle 4"/>
          <p:cNvSpPr/>
          <p:nvPr/>
        </p:nvSpPr>
        <p:spPr>
          <a:xfrm>
            <a:off x="457200" y="146304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400" b="0">
                <a:solidFill>
                  <a:srgbClr val="1B1A17"/>
                </a:solidFill>
                <a:latin typeface="Verdana"/>
              </a:rPr>
              <a:t>•  In South Africa the sun is in the north</a:t>
            </a:r>
          </a:p>
          <a:p>
            <a:pPr algn="l">
              <a:spcAft>
                <a:spcPts val="1600"/>
              </a:spcAft>
            </a:pPr>
            <a:r>
              <a:rPr sz="2400" b="0">
                <a:solidFill>
                  <a:srgbClr val="1B1A17"/>
                </a:solidFill>
                <a:latin typeface="Verdana"/>
              </a:rPr>
              <a:t>•  Shadows fall to the south</a:t>
            </a:r>
          </a:p>
          <a:p>
            <a:pPr algn="l">
              <a:spcAft>
                <a:spcPts val="1600"/>
              </a:spcAft>
            </a:pPr>
            <a:r>
              <a:rPr sz="2400" b="0">
                <a:solidFill>
                  <a:srgbClr val="1B1A17"/>
                </a:solidFill>
                <a:latin typeface="Verdana"/>
              </a:rPr>
              <a:t>•  Plant north of the house</a:t>
            </a:r>
          </a:p>
        </p:txBody>
      </p:sp>
      <p:sp>
        <p:nvSpPr>
          <p:cNvPr id="7" name="Rectangle 6"/>
          <p:cNvSpPr/>
          <p:nvPr/>
        </p:nvSpPr>
        <p:spPr>
          <a:xfrm>
            <a:off x="5852160" y="1691640"/>
            <a:ext cx="5852160" cy="452628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ANIMATION · F-ANI-04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Sun and shadows</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A small house on open ground seen from the side at an angle. The sun travels in a low arc across the NORTH side of the sky from east (right) to west (left); the house's shadow sweeps across the ground on the SOUTH side. Then winter: the arc drops lower and the shadow grows longer. Loops. (Replaces the withdrawn clip…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F-D1-13   ·   Poster F-P05</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Rounded Rectangle 3"/>
          <p:cNvSpPr/>
          <p:nvPr/>
        </p:nvSpPr>
        <p:spPr>
          <a:xfrm>
            <a:off x="457200" y="320040"/>
            <a:ext cx="1737360" cy="411480"/>
          </a:xfrm>
          <a:prstGeom prst="roundRect">
            <a:avLst/>
          </a:prstGeom>
          <a:solidFill>
            <a:srgbClr val="B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
            <a:ext cx="1737360" cy="411480"/>
          </a:xfrm>
          <a:prstGeom prst="rect">
            <a:avLst/>
          </a:prstGeom>
          <a:noFill/>
        </p:spPr>
        <p:txBody>
          <a:bodyPr wrap="square" anchor="ctr" lIns="45720" rIns="45720">
            <a:spAutoFit/>
          </a:bodyPr>
          <a:lstStyle/>
          <a:p>
            <a:pPr algn="ctr">
              <a:spcAft>
                <a:spcPts val="800"/>
              </a:spcAft>
            </a:pPr>
            <a:r>
              <a:rPr sz="1400" b="1">
                <a:solidFill>
                  <a:srgbClr val="EFE6D2"/>
                </a:solidFill>
                <a:latin typeface="Verdana"/>
              </a:rPr>
              <a:t>YOUR TURN</a:t>
            </a:r>
          </a:p>
        </p:txBody>
      </p:sp>
      <p:sp>
        <p:nvSpPr>
          <p:cNvPr id="6" name="TextBox 5"/>
          <p:cNvSpPr txBox="1"/>
          <p:nvPr/>
        </p:nvSpPr>
        <p:spPr>
          <a:xfrm>
            <a:off x="457200" y="82296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Read the land</a:t>
            </a:r>
          </a:p>
        </p:txBody>
      </p:sp>
      <p:sp>
        <p:nvSpPr>
          <p:cNvPr id="7" name="Rectangle 6"/>
          <p:cNvSpPr/>
          <p:nvPr/>
        </p:nvSpPr>
        <p:spPr>
          <a:xfrm>
            <a:off x="457200" y="187452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48840"/>
            <a:ext cx="5120640" cy="3931920"/>
          </a:xfrm>
          <a:prstGeom prst="rect">
            <a:avLst/>
          </a:prstGeom>
          <a:noFill/>
        </p:spPr>
        <p:txBody>
          <a:bodyPr wrap="square" anchor="t" lIns="45720" rIns="45720">
            <a:spAutoFit/>
          </a:bodyPr>
          <a:lstStyle/>
          <a:p>
            <a:pPr algn="l">
              <a:spcAft>
                <a:spcPts val="1600"/>
              </a:spcAft>
            </a:pPr>
            <a:r>
              <a:rPr sz="3000" b="1">
                <a:solidFill>
                  <a:srgbClr val="1B1A17"/>
                </a:solidFill>
                <a:latin typeface="Verdana"/>
              </a:rPr>
              <a:t>•  Yellow = sun all day</a:t>
            </a:r>
          </a:p>
          <a:p>
            <a:pPr algn="l">
              <a:spcAft>
                <a:spcPts val="1600"/>
              </a:spcAft>
            </a:pPr>
            <a:r>
              <a:rPr sz="3000" b="1">
                <a:solidFill>
                  <a:srgbClr val="1B1A17"/>
                </a:solidFill>
                <a:latin typeface="Verdana"/>
              </a:rPr>
              <a:t>•  Red = cold or strong wind</a:t>
            </a:r>
          </a:p>
          <a:p>
            <a:pPr algn="l">
              <a:spcAft>
                <a:spcPts val="1600"/>
              </a:spcAft>
            </a:pPr>
            <a:r>
              <a:rPr sz="3000" b="1">
                <a:solidFill>
                  <a:srgbClr val="1B1A17"/>
                </a:solidFill>
                <a:latin typeface="Verdana"/>
              </a:rPr>
              <a:t>•  Blue = water runs or sits</a:t>
            </a:r>
          </a:p>
        </p:txBody>
      </p:sp>
      <p:sp>
        <p:nvSpPr>
          <p:cNvPr id="9" name="Rectangle 8"/>
          <p:cNvSpPr/>
          <p:nvPr/>
        </p:nvSpPr>
        <p:spPr>
          <a:xfrm>
            <a:off x="5852160" y="2103120"/>
            <a:ext cx="5852160" cy="411480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28600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ANIMATION · F-ANI-05 · coming</a:t>
            </a:r>
          </a:p>
        </p:txBody>
      </p:sp>
      <p:sp>
        <p:nvSpPr>
          <p:cNvPr id="11" name="TextBox 10"/>
          <p:cNvSpPr txBox="1"/>
          <p:nvPr/>
        </p:nvSpPr>
        <p:spPr>
          <a:xfrm>
            <a:off x="6080760" y="267004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Water movement</a:t>
            </a:r>
          </a:p>
        </p:txBody>
      </p:sp>
      <p:sp>
        <p:nvSpPr>
          <p:cNvPr id="12" name="TextBox 11"/>
          <p:cNvSpPr txBox="1"/>
          <p:nvPr/>
        </p:nvSpPr>
        <p:spPr>
          <a:xfrm>
            <a:off x="6080760" y="3200400"/>
            <a:ext cx="5394960" cy="283464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A homestead on a gentle slope in a summer storm: rain falls on roof, road and yard; blue flow lines gather into channels and run downhill carrying soil. Then the same slope with stone lines and grass strips, where the water spreads and sinks in. (Replaces the withdrawn clip `reading-landscape/watch-05-water-movement.mp4`.)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F-D1-14   ·   Poster F-P05</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Zones: closest to the door</a:t>
            </a:r>
          </a:p>
        </p:txBody>
      </p:sp>
      <p:sp>
        <p:nvSpPr>
          <p:cNvPr id="5" name="Rectangle 4"/>
          <p:cNvSpPr/>
          <p:nvPr/>
        </p:nvSpPr>
        <p:spPr>
          <a:xfrm>
            <a:off x="457200" y="146304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400" b="0">
                <a:solidFill>
                  <a:srgbClr val="1B1A17"/>
                </a:solidFill>
                <a:latin typeface="Verdana"/>
              </a:rPr>
              <a:t>•  0 house · 1 daily herbs &amp; greens</a:t>
            </a:r>
          </a:p>
          <a:p>
            <a:pPr algn="l">
              <a:spcAft>
                <a:spcPts val="1600"/>
              </a:spcAft>
            </a:pPr>
            <a:r>
              <a:rPr sz="2400" b="0">
                <a:solidFill>
                  <a:srgbClr val="1B1A17"/>
                </a:solidFill>
                <a:latin typeface="Verdana"/>
              </a:rPr>
              <a:t>•  2 beds, fruit, chickens · 3 fields</a:t>
            </a:r>
          </a:p>
          <a:p>
            <a:pPr algn="l">
              <a:spcAft>
                <a:spcPts val="1600"/>
              </a:spcAft>
            </a:pPr>
            <a:r>
              <a:rPr sz="2400" b="0">
                <a:solidFill>
                  <a:srgbClr val="1B1A17"/>
                </a:solidFill>
                <a:latin typeface="Verdana"/>
              </a:rPr>
              <a:t>•  4 grazing &amp; wood · 5 wild</a:t>
            </a:r>
          </a:p>
        </p:txBody>
      </p:sp>
      <p:sp>
        <p:nvSpPr>
          <p:cNvPr id="7" name="Rectangle 6"/>
          <p:cNvSpPr/>
          <p:nvPr/>
        </p:nvSpPr>
        <p:spPr>
          <a:xfrm>
            <a:off x="5852160" y="1691640"/>
            <a:ext cx="5852160" cy="452628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POSTER ART · F-P05-ART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Artwork for F-P05 · Read your land</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A bird's-eye illustrated homestead on a gentle slope. A compass rose with the N arrow pointing to the TOP of the poster. The sun drawn at the top (north) with its arc from east (right) to west (left); the house casts its shadow to the SOUTH (bottom). Blue arrows show water running from the road and roof down the slope. A cold wind drawn as grey curved…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F-D1-15   ·   Poster F-P06</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Find the level line</a:t>
            </a:r>
          </a:p>
        </p:txBody>
      </p:sp>
      <p:sp>
        <p:nvSpPr>
          <p:cNvPr id="5" name="Rectangle 4"/>
          <p:cNvSpPr/>
          <p:nvPr/>
        </p:nvSpPr>
        <p:spPr>
          <a:xfrm>
            <a:off x="457200" y="146304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400" b="0">
                <a:solidFill>
                  <a:srgbClr val="1B1A17"/>
                </a:solidFill>
                <a:latin typeface="Verdana"/>
              </a:rPr>
              <a:t>•  Two legs · a crossbar · string and stone</a:t>
            </a:r>
          </a:p>
        </p:txBody>
      </p:sp>
      <p:sp>
        <p:nvSpPr>
          <p:cNvPr id="7" name="Rectangle 6"/>
          <p:cNvSpPr/>
          <p:nvPr/>
        </p:nvSpPr>
        <p:spPr>
          <a:xfrm>
            <a:off x="5852160" y="1691640"/>
            <a:ext cx="5852160" cy="452628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POSTER ART · F-P06-ART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Artwork for F-P06 · Build an A-frame</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Large side view of an A-frame made of two wooden droppers tied at the top (crossed, tips sticking out), a horizontal crossbar halfway, and a string with a stone hanging from the apex past the crossbar. Below it, a small 3-step strip: (a) frame on two pegs, a mark where the string crosses; (b) the frame turned round, feet swapped, a second mark; (c) a big…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F-D1-16   ·   Poster F-P06</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Rounded Rectangle 3"/>
          <p:cNvSpPr/>
          <p:nvPr/>
        </p:nvSpPr>
        <p:spPr>
          <a:xfrm>
            <a:off x="457200" y="320040"/>
            <a:ext cx="1737360" cy="411480"/>
          </a:xfrm>
          <a:prstGeom prst="roundRect">
            <a:avLst/>
          </a:prstGeom>
          <a:solidFill>
            <a:srgbClr val="B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
            <a:ext cx="1737360" cy="411480"/>
          </a:xfrm>
          <a:prstGeom prst="rect">
            <a:avLst/>
          </a:prstGeom>
          <a:noFill/>
        </p:spPr>
        <p:txBody>
          <a:bodyPr wrap="square" anchor="ctr" lIns="45720" rIns="45720">
            <a:spAutoFit/>
          </a:bodyPr>
          <a:lstStyle/>
          <a:p>
            <a:pPr algn="ctr">
              <a:spcAft>
                <a:spcPts val="800"/>
              </a:spcAft>
            </a:pPr>
            <a:r>
              <a:rPr sz="1400" b="1">
                <a:solidFill>
                  <a:srgbClr val="EFE6D2"/>
                </a:solidFill>
                <a:latin typeface="Verdana"/>
              </a:rPr>
              <a:t>YOUR TURN</a:t>
            </a:r>
          </a:p>
        </p:txBody>
      </p:sp>
      <p:sp>
        <p:nvSpPr>
          <p:cNvPr id="6" name="TextBox 5"/>
          <p:cNvSpPr txBox="1"/>
          <p:nvPr/>
        </p:nvSpPr>
        <p:spPr>
          <a:xfrm>
            <a:off x="457200" y="82296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Calibrate</a:t>
            </a:r>
          </a:p>
        </p:txBody>
      </p:sp>
      <p:sp>
        <p:nvSpPr>
          <p:cNvPr id="7" name="Rectangle 6"/>
          <p:cNvSpPr/>
          <p:nvPr/>
        </p:nvSpPr>
        <p:spPr>
          <a:xfrm>
            <a:off x="457200" y="187452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48840"/>
            <a:ext cx="5120640" cy="3931920"/>
          </a:xfrm>
          <a:prstGeom prst="rect">
            <a:avLst/>
          </a:prstGeom>
          <a:noFill/>
        </p:spPr>
        <p:txBody>
          <a:bodyPr wrap="square" anchor="t" lIns="45720" rIns="45720">
            <a:spAutoFit/>
          </a:bodyPr>
          <a:lstStyle/>
          <a:p>
            <a:pPr algn="l">
              <a:spcAft>
                <a:spcPts val="1600"/>
              </a:spcAft>
            </a:pPr>
            <a:r>
              <a:rPr sz="3000" b="1">
                <a:solidFill>
                  <a:srgbClr val="1B1A17"/>
                </a:solidFill>
                <a:latin typeface="Verdana"/>
              </a:rPr>
              <a:t>•  Mark · flip · mark</a:t>
            </a:r>
          </a:p>
          <a:p>
            <a:pPr algn="l">
              <a:spcAft>
                <a:spcPts val="1600"/>
              </a:spcAft>
            </a:pPr>
            <a:r>
              <a:rPr sz="3000" b="1">
                <a:solidFill>
                  <a:srgbClr val="1B1A17"/>
                </a:solidFill>
                <a:latin typeface="Verdana"/>
              </a:rPr>
              <a:t>•  The middle is level</a:t>
            </a:r>
          </a:p>
        </p:txBody>
      </p:sp>
      <p:pic>
        <p:nvPicPr>
          <p:cNvPr id="9" name="Picture 8" descr="flow-a-frame.jpg"/>
          <p:cNvPicPr>
            <a:picLocks noChangeAspect="1"/>
          </p:cNvPicPr>
          <p:nvPr/>
        </p:nvPicPr>
        <p:blipFill>
          <a:blip r:embed="rId2"/>
          <a:stretch>
            <a:fillRect/>
          </a:stretch>
        </p:blipFill>
        <p:spPr>
          <a:xfrm>
            <a:off x="5852160" y="2514600"/>
            <a:ext cx="5852160" cy="3291840"/>
          </a:xfrm>
          <a:prstGeom prst="rect">
            <a:avLst/>
          </a:prstGeom>
        </p:spPr>
      </p:pic>
      <p:sp>
        <p:nvSpPr>
          <p:cNvPr id="10" name="Rectangle 9"/>
          <p:cNvSpPr/>
          <p:nvPr/>
        </p:nvSpPr>
        <p:spPr>
          <a:xfrm>
            <a:off x="5852160" y="5806440"/>
            <a:ext cx="5852160" cy="411480"/>
          </a:xfrm>
          <a:prstGeom prst="rect">
            <a:avLst/>
          </a:prstGeom>
          <a:solidFill>
            <a:srgbClr val="1B1A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0" y="5815584"/>
            <a:ext cx="5669280" cy="384048"/>
          </a:xfrm>
          <a:prstGeom prst="rect">
            <a:avLst/>
          </a:prstGeom>
          <a:noFill/>
        </p:spPr>
        <p:txBody>
          <a:bodyPr wrap="square" anchor="ctr" lIns="45720" rIns="45720">
            <a:spAutoFit/>
          </a:bodyPr>
          <a:lstStyle/>
          <a:p>
            <a:pPr algn="l">
              <a:spcAft>
                <a:spcPts val="800"/>
              </a:spcAft>
            </a:pPr>
            <a:r>
              <a:rPr sz="1100" b="0">
                <a:solidFill>
                  <a:srgbClr val="EFE6D2"/>
                </a:solidFill>
                <a:latin typeface="Verdana"/>
              </a:rPr>
              <a:t>▶  Clip F-ANI-06 · play from the tablet: flow-a-frame.mp4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F-D1-17</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Tonight: draw your yard</a:t>
            </a:r>
          </a:p>
        </p:txBody>
      </p:sp>
      <p:sp>
        <p:nvSpPr>
          <p:cNvPr id="5" name="Rectangle 4"/>
          <p:cNvSpPr/>
          <p:nvPr/>
        </p:nvSpPr>
        <p:spPr>
          <a:xfrm>
            <a:off x="457200" y="146304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400" b="0">
                <a:solidFill>
                  <a:srgbClr val="1B1A17"/>
                </a:solidFill>
                <a:latin typeface="Verdana"/>
              </a:rPr>
              <a:t>•  House · north arrow · tap</a:t>
            </a:r>
          </a:p>
          <a:p>
            <a:pPr algn="l">
              <a:spcAft>
                <a:spcPts val="1600"/>
              </a:spcAft>
            </a:pPr>
            <a:r>
              <a:rPr sz="2400" b="0">
                <a:solidFill>
                  <a:srgbClr val="1B1A17"/>
                </a:solidFill>
                <a:latin typeface="Verdana"/>
              </a:rPr>
              <a:t>•  Where water runs · where the sun is strong</a:t>
            </a:r>
          </a:p>
          <a:p>
            <a:pPr algn="l">
              <a:spcAft>
                <a:spcPts val="1600"/>
              </a:spcAft>
            </a:pPr>
            <a:r>
              <a:rPr sz="2400" b="0">
                <a:solidFill>
                  <a:srgbClr val="1B1A17"/>
                </a:solidFill>
                <a:latin typeface="Verdana"/>
              </a:rPr>
              <a:t>•  Where Zone 1 will go</a:t>
            </a:r>
          </a:p>
        </p:txBody>
      </p:sp>
      <p:sp>
        <p:nvSpPr>
          <p:cNvPr id="7" name="Rectangle 6"/>
          <p:cNvSpPr/>
          <p:nvPr/>
        </p:nvSpPr>
        <p:spPr>
          <a:xfrm>
            <a:off x="5852160" y="1691640"/>
            <a:ext cx="5852160" cy="452628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IMAGE · F-IMG-04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My garden map</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A hand-drawn map on paper seen from above: a house square, a north arrow, a tap, blue arrows of water, a sun symbol on the north side, a circle marking zone 1. Pencil and crayon style.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F-D1-18</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One word</a:t>
            </a:r>
          </a:p>
        </p:txBody>
      </p:sp>
      <p:sp>
        <p:nvSpPr>
          <p:cNvPr id="5" name="Rectangle 4"/>
          <p:cNvSpPr/>
          <p:nvPr/>
        </p:nvSpPr>
        <p:spPr>
          <a:xfrm>
            <a:off x="457200" y="146304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800" b="0">
                <a:solidFill>
                  <a:srgbClr val="1B1A17"/>
                </a:solidFill>
                <a:latin typeface="Verdana"/>
              </a:rPr>
              <a:t>•  One word about today</a:t>
            </a:r>
          </a:p>
          <a:p>
            <a:pPr algn="l">
              <a:spcAft>
                <a:spcPts val="1600"/>
              </a:spcAft>
            </a:pPr>
            <a:r>
              <a:rPr sz="2800" b="0">
                <a:solidFill>
                  <a:srgbClr val="1B1A17"/>
                </a:solidFill>
                <a:latin typeface="Verdana"/>
              </a:rPr>
              <a:t>•  Your take-home action</a:t>
            </a:r>
          </a:p>
          <a:p>
            <a:pPr algn="l">
              <a:spcAft>
                <a:spcPts val="1600"/>
              </a:spcAft>
            </a:pPr>
            <a:r>
              <a:rPr sz="2800" b="0">
                <a:solidFill>
                  <a:srgbClr val="1B1A17"/>
                </a:solidFill>
                <a:latin typeface="Verdana"/>
              </a:rPr>
              <a:t>•  Tools back and counted</a:t>
            </a:r>
          </a:p>
        </p:txBody>
      </p:sp>
      <p:sp>
        <p:nvSpPr>
          <p:cNvPr id="7" name="Rectangle 6"/>
          <p:cNvSpPr/>
          <p:nvPr/>
        </p:nvSpPr>
        <p:spPr>
          <a:xfrm>
            <a:off x="5852160" y="1691640"/>
            <a:ext cx="5852160" cy="452628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IMAGE · F-IMG-05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Closing circle</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Late-afternoon warm light; a circle of standing people, one holding up a hand to speak; tools laid neatly on a tarp in the centre.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