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circle: feel the compost sticks. Warm? Hot? Cold?</a:t>
            </a:r>
          </a:p>
          <a:p/>
          <a:p>
            <a:r>
              <a:t>Picture F-IMG-22 (coming) — Beds come alive: Morning light on five freshly layered, mulched beds with a group standing ready with seedling trays.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F-D4-S1. Sort together.</a:t>
            </a:r>
          </a:p>
          <a:p/>
          <a:p>
            <a:r>
              <a:t>Poster: F-P14</a:t>
            </a:r>
          </a:p>
          <a:p>
            <a:r>
              <a:t>Clip F-ANI-19: public/course-animations/vegetables-staples/flow-seed-or-seedling.mp4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worm castings if the class worm farm has any.</a:t>
            </a:r>
          </a:p>
          <a:p/>
          <a:p>
            <a:r>
              <a:t>Poster: F-P14</a:t>
            </a:r>
          </a:p>
          <a:p>
            <a:r>
              <a:t>Picture F-P14-ART (coming) — Artwork for F-P14 · Grow strong seedlings: Left column: two groups of generic seeds — large seeds going straight into a bed; small seeds going into a tray. Centre: three buckets (compost, sand, soil) pouring into a basin through a sieve; a tray of recycled containers (yoghurt tubs, egg box, toilet rolls) with holes; a finger making a hole twice as deep as a seed is wide (show the seed beside the hole for scale). Right column: a sequence of the same seedling — in light shade being watered with a fine rose → moved into more sun over several days (sun icons increasing) → planted into a bed at the same depth in late-afternoon light, mulched.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learner fills and sows their own tray to take home on Day 5.</a:t>
            </a:r>
          </a:p>
          <a:p/>
          <a:p>
            <a:r>
              <a:t>Poster: F-P14</a:t>
            </a:r>
          </a:p>
          <a:p>
            <a:r>
              <a:t>Picture F-IMG-23 (coming) — Sowing a tray: A finger making a small hole in seedling mix in a yoghurt-tub tray; two small seeds beside it for scale; a label cut from a milk bottle.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Water the tray first, lift with the soil ball, same depth, firm, water, mulch.</a:t>
            </a:r>
          </a:p>
          <a:p/>
          <a:p>
            <a:r>
              <a:t>Poster: F-P14</a:t>
            </a:r>
          </a:p>
          <a:p>
            <a:r>
              <a:t>Picture F-IMG-24 (coming) — Hardening off: A seedling tray shown in three positions over a week, moving from shade into full sun (three small sun icons growing).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F-D4-S2. Ask what happens when cabbages are too close.</a:t>
            </a:r>
          </a:p>
          <a:p/>
          <a:p>
            <a:r>
              <a:t>Poster: F-P15</a:t>
            </a:r>
          </a:p>
          <a:p>
            <a:r>
              <a:t>Clip F-ANI-20: public/course-media/farmer-5day/F-ANI-20.mp4</a:t>
            </a:r>
          </a:p>
          <a:p>
            <a:r>
              <a:t>Picture F-ANI-20 (coming) — The spacing stick: Top-down view of a bare 1 m × 2 m bed. A 1 m stick with notches every 10 cm lies along the edge; three notches are colour-marked (Leaf, Ochre, Forest). (0–5 s) the stick is laid across the bed and pegs are placed at the Forest (45 cm) notches — two large plant shapes appear down the middle in a triangle pattern. (5–10 s) stick moves; pegs at the Ochre (30 cm) notches — leafy plants fill in either side. (10–15 s) stick at the ends; pegs every notch (10 cm) — a dense row of thin onion-like shoots; small flowers at the corners. Final frame holds the full, evenly spaced bed.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colours for 15, 30, 45 if you have them.</a:t>
            </a:r>
          </a:p>
          <a:p/>
          <a:p>
            <a:r>
              <a:t>Picture F-IMG-25 (coming) — Making a spacing stick: A 1 m stick with notches being cut with a knife every 10 cm; three notches painted in different colours.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Triangle pattern. Pumpkin 1–1.5 m, on the swale mound.</a:t>
            </a:r>
          </a:p>
          <a:p/>
          <a:p>
            <a:r>
              <a:t>Poster: F-P15</a:t>
            </a:r>
          </a:p>
          <a:p>
            <a:r>
              <a:t>Picture F-P15-ART (coming) — Artwork for F-P15 · Planting plan: spacing &amp; rotation: Top 55%: a 1 m × 2 m bed from above with plants placed in a triangle pattern — a middle line of large round cabbage-like heads, rows of leafy plants on either side, a dense row of thin onion-like shoots at one end, small flowers at the corners; a 1 m spacing stick lying along the edge with notches. Bottom 40%: a four-part wheel (like a clock with four segments) with arrows turning clockwise: a bean pod → a leafy head → a round fruit (tomato/pumpkin shape) → a root (carrot/beetroot shape) → back to the bean pod.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Facilitators check every plan before planting.</a:t>
            </a:r>
          </a:p>
          <a:p/>
          <a:p>
            <a:r>
              <a:t>Picture F-IMG-26 (coming) — Bed plan on paper: A hand-drawn rectangle on paper with circles of different sizes in a triangle pattern, big ones in the middle, small ones at the ends, flowers at the corners.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Recorder ticks names. Bed walk at 12:20.</a:t>
            </a:r>
          </a:p>
          <a:p/>
          <a:p>
            <a:r>
              <a:t>Picture F-IMG-27 (coming) — Planting out: Learners on both sides of a bed transplanting seedlings with a spacing stick laid across; watering can and mulch.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F-D4-S3. 15-minute bug hunt. No bugs? Use cards F-IMG-40 to 45.</a:t>
            </a:r>
          </a:p>
          <a:p/>
          <a:p>
            <a:r>
              <a:t>Picture F-IMG-40 (coming) — Pest &amp; friend card — Aphids on a stem: Aphids on a stem — a pest. Clear, large, accurate enough to recognise in the garden; plain Paper background; no text. A small Leaf-green border for friends and an Ochre border for pests.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where most people start (the top). We start at the bottom.</a:t>
            </a:r>
          </a:p>
          <a:p/>
          <a:p>
            <a:r>
              <a:t>Poster: F-P16</a:t>
            </a:r>
          </a:p>
          <a:p>
            <a:r>
              <a:t>Also: F-ANI-21</a:t>
            </a:r>
          </a:p>
          <a:p>
            <a:r>
              <a:t>Picture F-P16-ART (coming) — Artwork for F-P16 · Healthy garden, fewer pests: A tall wooden ladder with seven rungs, filling the height of the poster. Beside each rung, a small scene (bottom to top): 1 dark soil with worms and a strong plant; 2 a mixed bed with flowers; 3 a person looking under a leaf; 4 hands picking a caterpillar, a toilet-roll collar round a seedling, a net over a bed; 5 a ladybird, a bird, a frog, a spider on its web; 6 a 2 ℓ bottle with garlic and chilli beside it and a spray bottle; 7 (top, greyed and smaller) a generic chemical container with gloves and a mask.</a:t>
            </a:r>
          </a:p>
          <a:p>
            <a:r>
              <a:t>Clip F-ANI-21: public/course-animations/plant-guilds/Imbewu-Guilds-04-Helpful-insects.mp4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Gloves if possible, never touch your eyes, wash hands. Label the bottle. Spray late afternoon under leaves.</a:t>
            </a:r>
          </a:p>
          <a:p/>
          <a:p>
            <a:r>
              <a:t>Poster: F-P16</a:t>
            </a:r>
          </a:p>
          <a:p>
            <a:r>
              <a:t>Picture F-IMG-28 (coming) — Garlic-chilli spray: On a board: a garlic bulb, red chillies, an onion, a 2 L bottle of water, a cloth strainer, a bar of plain soap, a spray bottle, and gloves.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group protects one seedling in its bed.</a:t>
            </a:r>
          </a:p>
          <a:p/>
          <a:p>
            <a:r>
              <a:t>Picture F-IMG-29 (coming) — Collar and trap: A cardboard toilet-roll tube pushed into soil around a young stem; beside it a board lifted to show slugs underneath.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F-D4-S4. Four learners with cards walk the wheel.</a:t>
            </a:r>
          </a:p>
          <a:p/>
          <a:p>
            <a:r>
              <a:t>Poster: F-P15</a:t>
            </a:r>
          </a:p>
          <a:p>
            <a:r>
              <a:t>Clip F-ANI-22: public/course-media/farmer-5day/F-ANI-22.mp4</a:t>
            </a:r>
          </a:p>
          <a:p>
            <a:r>
              <a:t>Picture F-ANI-22 (coming) — Rotation wheel: Four beds arranged as quarters of a circle seen from above, each with one crop group: bean pods; leafy heads; round fruits (tomato/pumpkin shapes); roots (carrot/beetroot shown in cut-away). Every 3 s the crops rotate one quarter clockwise while the soil colour under the bean quarter darkens slightly as it passes (showing the soil being fed). A season icon (sun → leaf fall → cold → rain) turns in the centre. No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who waters and fertilises the forest?</a:t>
            </a:r>
          </a:p>
          <a:p/>
          <a:p>
            <a:r>
              <a:t>Poster: F-P17</a:t>
            </a:r>
          </a:p>
          <a:p>
            <a:r>
              <a:t>Clip F-ANI-23: public/course-media/farmer-5day/F-ANI-23.mp4</a:t>
            </a:r>
          </a:p>
          <a:p>
            <a:r>
              <a:t>Picture F-ANI-23 (coming) — Seven layers: A young food forest grows its layers one after another: tall canopy tree, small fruit tree, bush, herbs, spreading ground cover, a root crop shown in cut-away, and a climber twining up; fallen leaves become mulch. Generic plant shapes. (Replaces the withdrawn clip `food-forest/watch-05-seven-layers.mp4`.)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group does one step. Best at the start of the rains.</a:t>
            </a:r>
          </a:p>
          <a:p/>
          <a:p>
            <a:r>
              <a:t>Poster: F-P17</a:t>
            </a:r>
          </a:p>
          <a:p>
            <a:r>
              <a:t>Picture F-P17-ART (coming) — Artwork for F-P17 · Food-forest layers &amp; planting a fruit tree: Top 55%: a side view of a small home food forest with seven layers, generic shapes only: a tall canopy tree, a small fruit tree, a bush, herbs, a spreading ground cover, a root crop shown in cut-away below the soil, and a climber twining up the small tree. Fallen leaves on the ground. Bottom 40%: six small steps of planting a fruit tree — a pit with topsoil and subsoil in separate piles; compost being mixed in; the tree placed so the soil level matches the bag line; a basin ring of soil; a stake on the windy side with a loose tie; water and a mulch ring with a gap at the trunk.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each learner's garden map.</a:t>
            </a:r>
          </a:p>
          <a:p/>
          <a:p>
            <a:r>
              <a:t>Picture F-IMG-04 (coming) — My garden map: A hand-drawn map on paper seen from above: a house square, a north arrow, a tap, blue arrows of water, a sun symbol on the north side, a circle marking zone 1. Pencil and crayon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circle.</a:t>
            </a:r>
          </a:p>
          <a:p/>
          <a:p>
            <a:r>
              <a:t>Picture F-IMG-05 (coming) — Closing circle: Late-afternoon warm light; a circle of standing people, one holding up a hand to speak; tools laid neatly on a tarp in the centre.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31750">
            <a:solidFill>
              <a:srgbClr val="EF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201168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737061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1272955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1808849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>
            <a:off x="2344743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>
            <a:off x="2880637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>
            <a:off x="3416530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3952424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>
            <a:off x="4488318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>
            <a:off x="5024212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5560106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>
            <a:off x="6096000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6631893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7167787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7703681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8239575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>
            <a:off x="8775469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9311362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>
            <a:off x="9847256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>
            <a:off x="10383150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>
            <a:off x="10919044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11454938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97880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2AF93"/>
                </a:solidFill>
                <a:latin typeface="Verdana"/>
              </a:rPr>
              <a:t>Grow Food, Grow Strong  ·  F-D4-01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8840" y="5897880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2AF93"/>
                </a:solidFill>
                <a:latin typeface="Verdana"/>
              </a:rPr>
              <a:t>1 / 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BFC4AA"/>
                </a:solidFill>
                <a:latin typeface="Verdana"/>
              </a:rPr>
              <a:t>USUKU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EFE6D2"/>
                </a:solidFill>
                <a:latin typeface="Rockwell"/>
              </a:rPr>
              <a:t>Usuku 4 · Izitshalo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3639312"/>
            <a:ext cx="146304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2D1BA"/>
                </a:solidFill>
                <a:latin typeface="Verdana"/>
              </a:rPr>
              <a:t>Namuhla imibhede iyaphila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52360" y="914400"/>
            <a:ext cx="4114800" cy="4206240"/>
          </a:xfrm>
          <a:prstGeom prst="rect">
            <a:avLst/>
          </a:prstGeom>
          <a:solidFill>
            <a:srgbClr val="F8F4EB"/>
          </a:solidFill>
          <a:ln w="50800">
            <a:solidFill>
              <a:srgbClr val="EF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6408" y="3063240"/>
            <a:ext cx="334670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Beds come alive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36408" y="4553712"/>
            <a:ext cx="334670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F-D4-02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2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Imbewu noma isithombo?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Tshala ngqo: ubhontshisi, ummbila, ithanga, izaqathe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Izithombo kuqala: iklabishi, isipinashi, utamatisi, u-anyanisi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low-seed-or-seedl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2362962"/>
            <a:ext cx="5388864" cy="303123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099048" y="5422392"/>
            <a:ext cx="5388864" cy="411480"/>
          </a:xfrm>
          <a:prstGeom prst="rect">
            <a:avLst/>
          </a:prstGeom>
          <a:solidFill>
            <a:srgbClr val="1B1A17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8776" y="5422392"/>
            <a:ext cx="5169408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Verdana"/>
              </a:rPr>
              <a:t>▶  Play clip · flow-seed-or-seedling.mp4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F-D4-03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3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Inhlabathi yezithombo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1 i-compost : 1 isihlabathi : 1 inhlabathi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425952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2595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471672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Kuhlungiwe · kumanzana, kungabi manzi kakhulu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Artwork for F-P14 · Grow strong seedlings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POSTER ART · F-P14-ART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F-D4-04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4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Tshalani ithreyi lenu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Jula kabili kunembewu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Imbewu ezimbili emgodini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09752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Ilebula · nisela · umthunzi omncane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Sowing a tray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F-D4-05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5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Kusuka ethreyini kuya embhedeni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Nisela njalo ekuseni, kancane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Qinisa izithombo isonto elilodwa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Tshala uma inamaqabunga angu-4–6, ntambama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Hardening 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F-D4-06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6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5715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600" b="1">
                <a:solidFill>
                  <a:srgbClr val="1B1A17"/>
                </a:solidFill>
                <a:latin typeface="Rockwell"/>
              </a:rPr>
              <a:t>Kusondelene kakhulu? Kukude kakhulu?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48590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51660"/>
            <a:ext cx="5074920" cy="41376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Ibanga elifanele = isivuno esikhulu kunazo zonke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760220"/>
            <a:ext cx="5608320" cy="418338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82000" y="2891790"/>
            <a:ext cx="822960" cy="822960"/>
          </a:xfrm>
          <a:prstGeom prst="ellipse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9179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89763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The spacing stick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IVIDIYO · F-ANI-20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F-D4-07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7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Yenzani induku yokulinganisa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Induku ye-1 m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81940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Nqunyani uphawu njalo ku-10 cm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769360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6936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81508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Makani u-15 · 30 · 45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Making a spacing stick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8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Kube kude kangakanani?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10 cm u-anyanisi, ubhitrudi · 15 cm ubhontshisi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30 cm isipinashi, ulethisi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45–50 cm iklabishi, utamatisi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Artwork for F-P15 · Planting plan: spacing &amp; rotation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POSTER ART · F-P15-ART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F-D4-09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9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Hlelani ephepheni kuqala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Dwebani umbhede wenu we-1 m × 2 m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Okungenani izitshalo ezi-3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09752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Ezinkulu phakathi, u-anyanisi emaphethelweni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Bed plan on paper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F-D4-10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10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Tshalani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Makani ngenduku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819400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Wonke umuntu atshale okungenani ezi-3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139184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39184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184904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Niselani kancane · i-mulch phakathi kwezitshalo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Planting 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F-D4-11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11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Isitha noma umngane?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Tholani esisodwa sohlobo ngalunye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Bhekani ngaphansi kwamaqabunga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Pest &amp; friend card — Aphids on a 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F-IMG-40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F-D4-12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12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Khuphuka kusukela phansi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Inhlabathi ephilile · izitshalo eziningi · buka njalo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Izandla nemigoqo · mema abangane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Isifutho sasekhaya · ushevu ekugcineni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Artwork for F-P16 · Healthy garden, fewer pests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POSTER ART · F-P16-ART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F-D4-13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13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Isifutho sikagalikhi nopelepele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1103376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200" b="1">
                <a:solidFill>
                  <a:srgbClr val="1B1A17"/>
                </a:solidFill>
                <a:latin typeface="Verdana"/>
              </a:rPr>
              <a:t>Ugalikhi + upelepele + u-anyanisi + amanzi, ubusuku bonke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55264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55264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300984"/>
            <a:ext cx="4160520" cy="79044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200" b="1">
                <a:solidFill>
                  <a:srgbClr val="1B1A17"/>
                </a:solidFill>
                <a:latin typeface="Verdana"/>
              </a:rPr>
              <a:t>Hluzani · faka insipho encane engenalutho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137152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3715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182872"/>
            <a:ext cx="4160520" cy="141630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200" b="1">
                <a:solidFill>
                  <a:srgbClr val="1B1A17"/>
                </a:solidFill>
                <a:latin typeface="Verdana"/>
              </a:rPr>
              <a:t>Inkomishi 1 ezinkomishini 4 zamanzi · hlolani kuqala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Garlic-chilli spray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F-D4-14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14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Amakhola nezicupho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164388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Ikhola lephepha lasendlini yangasese ezungeze isithombo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795776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9577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841496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Ipulangwe lemiminzane ubusuku bonke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Collar and trap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F-D4-15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15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5181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200" b="1">
                <a:solidFill>
                  <a:srgbClr val="1B1A17"/>
                </a:solidFill>
                <a:latin typeface="Rockwell"/>
              </a:rPr>
              <a:t>Shintshanisa izitshalo isizini ngayinye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43256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98320"/>
            <a:ext cx="5074920" cy="41910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Ubhontshisi → Amaqabunga → Izithelo → Izimpande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706880"/>
            <a:ext cx="5608320" cy="423672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82000" y="2865120"/>
            <a:ext cx="822960" cy="822960"/>
          </a:xfrm>
          <a:prstGeom prst="ellipse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6512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87096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Rotation wheel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IVIDIYO · F-ANI-22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F-D4-16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16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Tshala njengehlathi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Umuthi omude · umuthi omncane · isihlahlana · amakhambi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Okumbozayo · izimpande · okukhwelayo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82000" y="2918460"/>
            <a:ext cx="822960" cy="822960"/>
          </a:xfrm>
          <a:prstGeom prst="ellipse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Seven layers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IVIDIYO · F-ANI-23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F-D4-17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17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Tshalani umuthi wezithelo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60 × 60 × 60 cm · ukujula okufana nesikhwama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425952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2595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471672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Umgodi · induku · i-mulch eshiya isikhala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791456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79145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837176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Amalitha angu-20 amanzi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Artwork for F-P17 · Food-forest layers &amp; planting a fruit tree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POSTER ART · F-P17-ART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F-D4-18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18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Uhlelo lwami lokutshala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Imiphi imibhede · iziphi izitshalo kuqala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425952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2595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471672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Lapho umuthi wezithelo ungaba khona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My garden 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F-IMG-04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F-D4-19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19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Kusasa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Lethani imbewu yokwabelana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Izitifiketi ngo-15:15 — imindeni yamukelekile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Closing circle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