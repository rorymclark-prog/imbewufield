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circle: garden-map share in groups. Rotate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F-D2-S1. Ask where last summer's storm water went, and where it was in September.</a:t>
            </a:r>
          </a:p>
          <a:p/>
          <a:p>
            <a:r>
              <a:t>Poster: F-P07</a:t>
            </a:r>
          </a:p>
          <a:p>
            <a:r>
              <a:t>Clip F-ANI-07: public/course-animations/water-harvesting/flow-roof-rain.mp4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Tray demo; every group's Materials person pours.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homestead from roof to soil. Ask: what is the biggest tank on your land? (the soil)</a:t>
            </a:r>
          </a:p>
          <a:p/>
          <a:p>
            <a:r>
              <a:t>Poster: F-P07</a:t>
            </a:r>
          </a:p>
          <a:p>
            <a:r>
              <a:t>Also: F-ANI-08</a:t>
            </a:r>
          </a:p>
          <a:p>
            <a:r>
              <a:t>Clip F-ANI-08: public/course-animations/water-harvesting/watch-04-swale-infiltration.mp4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Groups help every person mark two water catches on their garden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F-D2-S2. Say it before any tool is picked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to the five callouts. Not on steep slopes: use stone lines or grass strips there.</a:t>
            </a:r>
          </a:p>
          <a:p/>
          <a:p>
            <a:r>
              <a:t>Poster: F-P09</a:t>
            </a:r>
          </a:p>
          <a:p>
            <a:r>
              <a:t>Also: F-ANI-09</a:t>
            </a:r>
          </a:p>
          <a:p>
            <a:r>
              <a:t>Clip F-ANI-09: public/course-animations/water-harvesting/watch-07-swale-overflow-pond.mp4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Everyone in the group places the frame at least once. Smooth zig-zags; join sections.</a:t>
            </a:r>
          </a:p>
          <a:p/>
          <a:p>
            <a:r>
              <a:t>Poster: F-P06</a:t>
            </a:r>
          </a:p>
          <a:p>
            <a:r>
              <a:t>Clip F-ANI-06: public/course-animations/reading-landscape/flow-a-frame.mp4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Roles: 2 dig, 1 rakes berm, 1 checks depth (30 cm), 1 fetches water and times swaps.</a:t>
            </a:r>
          </a:p>
          <a:p/>
          <a:p>
            <a:r>
              <a:t>Poster: F-P09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it runs to one end, take soil off the floor at the high end. Mulch the mound.</a:t>
            </a:r>
          </a:p>
          <a:p/>
          <a:p>
            <a:r>
              <a:t>Clip F-ANI-09: public/course-animations/water-harvesting/watch-07-swale-overflow-pond.mp4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F-D2-S3. Hold up the 1 litre bottle. A 20 mm storm on 1 m² = one 20 litre bucket.</a:t>
            </a:r>
          </a:p>
          <a:p/>
          <a:p>
            <a:r>
              <a:t>Poster: F-P08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Knotted string (knot every metre) or a tape.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example, then the venue roof. Counters method: one bottle top = 1 m² = 1 bucket. Yearly: × your area's yearly rain (check locally).</a:t>
            </a:r>
          </a:p>
          <a:p/>
          <a:p>
            <a:r>
              <a:t>Poster: F-P08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learner estimates their own roof and writes the storm number on their map.</a:t>
            </a:r>
          </a:p>
          <a:p/>
          <a:p>
            <a:r>
              <a:t>Poster: F-P08</a:t>
            </a:r>
          </a:p>
          <a:p>
            <a:r>
              <a:t>Clip F-ANI-10: public/course-media/farmer-5day/F-ANI-10.mp4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F-D2-S4 carousel: bottles, mulch, greywater, banana circle.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Station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Station B. Dig and compare moisture under mulch and bare soil.</a:t>
            </a:r>
          </a:p>
          <a:p/>
          <a:p>
            <a:r>
              <a:t>Clip F-ANI-12: public/course-animations/food-forest/flow-sheet-mulching.mp4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Stations C and D. Mark a banana circle 1.5–2 m across; centre bowl filled with grass and prunings.</a:t>
            </a:r>
          </a:p>
          <a:p/>
          <a:p>
            <a:r>
              <a:t>Poster: F-P07</a:t>
            </a:r>
          </a:p>
          <a:p>
            <a:r>
              <a:t>Clip F-ANI-11: public/course-media/farmer-5day/F-ANI-11.mp4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circle.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D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F-D2-01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EFE6D2"/>
                </a:solidFill>
                <a:latin typeface="Rockwell"/>
              </a:rPr>
              <a:t>Usuku 2 · Amanzi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EFE6D2"/>
                </a:solidFill>
                <a:latin typeface="Verdana"/>
              </a:rPr>
              <a:t>Yenza imvula ihambe, ingagijimi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F-IMG-06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Storm on a slope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dark summer storm cloud over a rural homestead on a slope; rain curtains; brown water running along a path.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F-D2-02   ·   Poster F-P07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Isiphepho saya kuphi?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Iziphepho zasehlobo ziyabaleka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Zithatha inhlabathi yethu</a:t>
            </a:r>
          </a:p>
        </p:txBody>
      </p:sp>
      <p:pic>
        <p:nvPicPr>
          <p:cNvPr id="7" name="Picture 6" descr="flow-roof-ra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F-ANI-07 · play from the tablet: flow-roof-rain.mp4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Amanzi ashesha, amanzi ahamba kancane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Thelani enhlabathini engembozwe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Fakani amatshe notshani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Thelani futhi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Tray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Two shallow trays of soil tilted on bricks: one bare with water running off carrying soil into a basin; one with a line of stones and grass where water spreads and soaks. Hands pouring from 2 L bottles.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F-D2-04   ·   Poster F-P07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Nciphisa · Sabalalisa · Cwilisa · Gcina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Yinciphise ijubane · yisabalalise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Yicwilise · yigcine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F-P07-ART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F-P07 · Slow · Spread · Sink · Store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homestead cross-section on a slope, left (top of slope) to right (bottom). Rain falls on a corrugated-iron roof → gutter → a first-flush pipe → a round covered tank with a tap and an overflow pipe → the overflow leads into a swale with a mound planted with small trees → below it mulched vegetable beds with a buried 2 ℓ bottle beside a plant → a washing…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Izindawo ezimbili zokubamba amanzi ebalazweni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Imicibisholo eluhlaza: lapho amanzi evela khona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Izindawo ezimbili zokuwabamba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F-IMG-04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My garden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hand-drawn map on paper seen from above: a house square, a north arrow, a tap, blue arrows of water, a sun symbol on the north side, a circle marking zone 1. Pencil and crayon style.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Ukuphepha kuqala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Amathuluzi abheke phansi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Akekho ngemuva kwepiki elishaywayo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Shintshanani imisebenzi njalo emizuzwini engu-10 · phuzani amanzi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F-IMG-08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Tool safety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person carrying a spade and a pick with the points down; another person standing well to the side of someone swinging a mattock; a water bottle in the shade.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F-D2-07   ·   Poster F-P09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I-swale emugqeni olinganayo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Umsele emugqeni olinganayo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Inhlabathi ngezansi ibe isidunduma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Indlela ephephile yokuchichima ekugcineni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F-P09-ART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F-P09 · A swale on the level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large cross-section of a slope (uphill on the left). A trench on the level line (about 40 cm wide, 30 cm deep) with water standing in it and blue arrows soaking down and sideways under the mound; the dug soil forms a mound on the DOWNHILL side, mulched with grass and planted with a small tree and bushes whose roots reach towards the wet zone. Rain…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F-D2-08   ·   Poster F-P06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Makani i-contour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Unyawo olulodwa esikhonkwaneni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Jikisani kuze intambo ifike phakathi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Isikhonkwane · qhubekani · phindani</a:t>
            </a:r>
          </a:p>
        </p:txBody>
      </p:sp>
      <p:pic>
        <p:nvPicPr>
          <p:cNvPr id="9" name="Picture 8" descr="flow-a-fra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F-ANI-06 · play from the tablet: flow-a-frame.mp4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F-D2-09   ·   Poster F-P09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Mbani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Umsele ngenhla kwezikhonkwane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Inhlabathi iye ngezansi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Phansi komsele kube yisicaba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F-IMG-09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Digging the swale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Five learners on a contour line of pegs: two digging the ditch uphill of the pegs, one raking soil into a mound downhill, one measuring depth with a marked stick, one bringing water.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Kuhloleni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Amabhodlela amabili amanzi engxenyeni yenu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Ayasabalala noma ayagijima?</a:t>
            </a:r>
          </a:p>
        </p:txBody>
      </p:sp>
      <p:pic>
        <p:nvPicPr>
          <p:cNvPr id="9" name="Picture 8" descr="watch-07-swale-overflow-po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3660" y="2103120"/>
            <a:ext cx="470916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F-ANI-09 · play from the tablet: watch-07-swale-overflow-pond.mp4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F-D2-11   ·   Poster F-P08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Umthetho womlingo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1 mm wemvula ku-1 m² = 1 litha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F-P08-ART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F-P08 · How much rain from your roof?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Top: a single square metre of ground marked with four pegs and string, a rain cloud over it, and one 1-litre bottle beside it. Middle: a simple house with a corrugated roof, a measuring tape along the length and width at ground level, rain falling, and a row of identical 20 ℓ buckets lined up beside a tank. Bottom: a tank close-up — gutter with a gentle…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Linganisani uphahla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Ubude × ububanzi phansi emhlabathini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Ningaze nikhwele ophahleni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F-IMG-11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Measuring the roof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Two learners stretching a knotted string along the ground under the edge of a corrugated-iron roof of a hall; a third counting knots.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F-D2-13   ·   Poster F-P08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Mangaki amabhakede?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10 m × 6 m = 60 m²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60 × 20 mm × 0.8 = 960 amalitha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≈ 48 amabhakede esiphephweni esisodwa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F-IMG-12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Buckets from one storm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small house roof with rain and, beside it, a long neat line of identical 20 L buckets receding into the distance — many buckets.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F-D2-14   ·   Poster F-P08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Igatha, i-first-flush, ithange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Imvula yokuqala igeza uphahla — yiyeke ihambe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Vala isivalo · ithephu ngaphezu kwebhakede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Okuchichimayo kuye engadini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ANIMATION · F-ANI-10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First-flush tank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Rain on a corrugated-iron roof. The first dirty water (leaves, dust) fills a vertical side pipe until it is full; then clean water flows past it into a covered round tank; the tank fills and the overflow pipe sends water to a planted swale. (Replaces the withdrawn clip `water-harvesting/watch-16-first-flush-tank.mp4`.)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D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F-D2-15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EFE6D2"/>
                </a:solidFill>
                <a:latin typeface="Rockwell"/>
              </a:rPr>
              <a:t>Lonke iconsi kabili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EFE6D2"/>
                </a:solidFill>
                <a:latin typeface="Verdana"/>
              </a:rPr>
              <a:t>Iziteshi ezine · imizuzu engu-10 ngayinye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F-P07-ART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F-P07 · Slow · Spread · Sink · Store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homestead cross-section on a slope, left (top of slope) to right (bottom). Rain falls on a corrugated-iron roof → gutter → a first-flush pipe → a round covered tank with a tap and an overflow pipe → the overflow leads into a swale with a mound planted with small trees → below it mulched vegetable beds with a buried 2 ℓ bottle beside a plant → a washing…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Ibhodlela lokunisela ngamaconsi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Izimbobo ezimbili ezincane ngezansi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Lingcwabeni kuze kube sentanyeni eduze kwesitshalo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Isipikili esishisayo: ngopliya kuphela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F-IMG-13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Bottle drip-waterer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Cut-away of soil with a 2 L bottle buried to its neck beside a young plant; tiny droplets leaving two small holes near the base towards the roots.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I-mulch efanele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Ukujula okulingana nobubanzi besandla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Isikhala esilingana nesibhakela eduze kweziqu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Ukunisela kwehla ngohhafu</a:t>
            </a:r>
          </a:p>
        </p:txBody>
      </p:sp>
      <p:pic>
        <p:nvPicPr>
          <p:cNvPr id="7" name="Picture 6" descr="flow-sheet-mulch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F-ANI-12 · play from the tablet: flow-sheet-mulching.mp4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F-D2-18   ·   Poster F-P07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Amanzi okugeza nesiyingi sikabhanana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Amanzi okugeza emithini, hhayi emaqabungeni adliwa eluhlaza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Ungalokothi usebenzise amanzi asendlini yangasese, awenabukeni, anejiki noma anamafutha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Shintsha lapho uthela khona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ANIMATION · F-ANI-11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Greywater to mulch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person carries a basin of used washing water and pours it slowly onto a thick mulch ring around a broad-leaved banana-like plant and a fruit tree (never onto leafy vegetables); in cut-away the water soaks through the mulch down to the roots. (Replaces the withdrawn clip `water-harvesting/watch-21-greywater-mulch.mp4`.)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Kusihlwa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Ibhakede elilodwa lamanzi okugeza esitshalweni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Lethani utshani, amaqabunga, imifino, umquba kusasa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Closing circle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Late-afternoon warm light; a circle of standing people, one holding up a hand to speak; tools laid neatly on a tarp in the centre.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