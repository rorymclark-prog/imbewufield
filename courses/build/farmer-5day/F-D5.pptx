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circle; seed on the seed table.</a:t>
            </a:r>
          </a:p>
          <a:p/>
          <a:p>
            <a:r>
              <a:t>Picture F-IMG-31 (coming) — Seed table: A table covered with small labelled heaps of different seeds (beans of many colours, maize, pumpkin seed) and paper envelopes; hands reaching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F-D5-S1. Read the packet: F1 or hybrid means don't save.</a:t>
            </a:r>
          </a:p>
          <a:p/>
          <a:p>
            <a:r>
              <a:t>Poster: F-P18</a:t>
            </a:r>
          </a:p>
          <a:p>
            <a:r>
              <a:t>Picture F-P18-ART (coming) — Artwork for F-P18 · Save your seed: Top: two seed packets. Left packet leads to three generations of similar healthy plants (open-pollinated); right packet (marked with a small generic "F1" style badge shape — no letters, use a distinct symbol like a double circle) leads to one good plant then mixed, uneven small plants. Middle left: dry bean pods rattling on the plant, hands shelling, a bean snapping (dry test). Middle right: a jar with tomato pulp and a white film on top, then seeds in a sieve under running water, then seeds spread on a plate in the shade. Bottom: a glass jar with lid on a shelf in shade, a small dish of ash, blank label lines; ten seeds on a damp cloth, eight sprouted.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chosen plants with a ribbon.</a:t>
            </a:r>
          </a:p>
          <a:p/>
          <a:p>
            <a:r>
              <a:t>Poster: F-P18</a:t>
            </a:r>
          </a:p>
          <a:p>
            <a:r>
              <a:t>Clip F-ANI-24: public/course-animations/seeds-sovereignty/seed-selecting-parents.mp4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Groups shell beans or maize.</a:t>
            </a:r>
          </a:p>
          <a:p/>
          <a:p>
            <a:r>
              <a:t>Poster: F-P18</a:t>
            </a:r>
          </a:p>
          <a:p>
            <a:r>
              <a:t>Clip F-ANI-25: public/course-animations/seeds-sovereignty/seed-dry-processing.mp4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class ferment started 2 days ago.</a:t>
            </a:r>
          </a:p>
          <a:p/>
          <a:p>
            <a:r>
              <a:t>Poster: F-P18</a:t>
            </a:r>
          </a:p>
          <a:p>
            <a:r>
              <a:t>Clip F-ANI-27: public/course-media/farmer-5day/F-ANI-27.mp4</a:t>
            </a:r>
          </a:p>
          <a:p>
            <a:r>
              <a:t>Picture F-ANI-27 (coming) — Tomato seed ferment: A ripe tomato cut in half; seeds and jelly scooped with a spoon into a small glass jar; a little water added; cloth tied over the top. Sun/moon icons cycle 3 times; a thin white skin forms on the surface. The skin and floating seeds are poured off; the heavy seeds at the bottom are tipped into a sieve and rinsed under a stream from a jug; then spread thin on a plate in the shade to dry. No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the seed swap: take up to 5 packets; bring back double next season.</a:t>
            </a:r>
          </a:p>
          <a:p/>
          <a:p>
            <a:r>
              <a:t>Poster: F-P18</a:t>
            </a:r>
          </a:p>
          <a:p>
            <a:r>
              <a:t>Clip F-ANI-26: public/course-animations/seeds-sovereignty/new_seed-storage-jar-vs-bag.mp4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F-D5-S2. Colours: dark green (iron), orange (vitamin A), beans (growing).</a:t>
            </a:r>
          </a:p>
          <a:p/>
          <a:p>
            <a:r>
              <a:t>Poster: F-P19</a:t>
            </a:r>
          </a:p>
          <a:p>
            <a:r>
              <a:t>Picture F-P19-ART (coming) — Artwork for F-P19 · Eat the rainbow: A large round enamel plate from above, divided: half filled with vegetables and fruit of many colours (dark green leaves, orange pumpkin slices, red tomato, purple beetroot), a quarter with pap, a quarter with beans and an egg. Around the plate, a family: a gogo, a mother, a toddler on a lap, a school child — eating together. Along the bottom, four small colour-group icons: a dark green leaf bundle; an orange pumpkin; a bean pod and peanuts; red/purple fruit.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food cards per group (F-IMG-50 to 65).</a:t>
            </a:r>
          </a:p>
          <a:p/>
          <a:p>
            <a:r>
              <a:t>Picture F-IMG-50 (coming) — Food card — dark green leaves bundle (spinach/morogo): Dark green leaves bundle (spinach/morogo) as it looks in a South African kitchen, on a plain Paper background, no text. Sized to be cut out and placed on a paper 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local planting calendar; frost areas differ.</a:t>
            </a:r>
          </a:p>
          <a:p/>
          <a:p>
            <a:r>
              <a:t>Picture F-IMG-32 (coming) — A year of colour: A circular calendar ring divided into 12 segments, the top half (summer) full of warm-season vegetable shapes, the bottom half (winter) of cool-season leaf and root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[APP] twin: log the harvest in Records → Picked. Then the garden handover roster.</a:t>
            </a:r>
          </a:p>
          <a:p/>
          <a:p>
            <a:r>
              <a:t>Clip F-ANI-28: public/course-media/farmer-5day/F-ANI-28.mp4</a:t>
            </a:r>
          </a:p>
          <a:p>
            <a:r>
              <a:t>Picture F-ANI-28 (coming) — Surplus routes: A basket of harvested vegetables at a homestead; paths lead to three destinations one by one: the family table, a neighbour at the fence, and a small roadside table where a buyer hands over plain generic money (no real currency). (Replaces the withdrawn clip `market-community/watch-09-surplus-routes.mp4`.)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F-D5-S3. If it all goes in one pocket, you never know if the garden helps.</a:t>
            </a:r>
          </a:p>
          <a:p/>
          <a:p>
            <a:r>
              <a:t>Poster: F-P20</a:t>
            </a:r>
          </a:p>
          <a:p>
            <a:r>
              <a:t>Picture F-P20-ART (coming) — Artwork for F-P20 · Money in, money out: Top: three tins on a table with picture icons (a house, a seedling, a small safe/piggy-bank-like clay pot). Arrows: vegetables being handed to a buyer and notes coming back into the seedling tin; notes going out of the seedling tin to a seed packet, a manure bag and a taxi. Middle: an open exercise book with two ruled columns — one with a green arrow into it, one with a red arrow out of it — and tally marks and simple coin drawings (no readable text). Bottom: a bunch of spinach with a small price tag shape (blank), and a simple visual sum: seed + manure + water → one bed → a row of 40 bunches.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scenario cards in day-5.md S3.</a:t>
            </a:r>
          </a:p>
          <a:p/>
          <a:p>
            <a:r>
              <a:t>Picture F-IMG-33 (coming) — Market day: A small roadside table of bunches of greens and tomatoes; a buyer handing over notes; three tins on the table with house, seedling and savings-pot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writes their card's lines. [APP] twin: Records → Sold and Spent; scan a till slip in a Spent entry.</a:t>
            </a:r>
          </a:p>
          <a:p/>
          <a:p>
            <a:r>
              <a:t>Poster: F-P20</a:t>
            </a:r>
          </a:p>
          <a:p>
            <a:r>
              <a:t>Clip F-ANI-29: public/course-media/farmer-5day/F-ANI-29.mp4</a:t>
            </a:r>
          </a:p>
          <a:p>
            <a:r>
              <a:t>Picture F-ANI-29 (coming) —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own time is worth something too — Farmer Money course goes deeper.</a:t>
            </a:r>
          </a:p>
          <a:p/>
          <a:p>
            <a:r>
              <a:t>Poster: F-P20</a:t>
            </a:r>
          </a:p>
          <a:p>
            <a:r>
              <a:t>Picture F-IMG-34 (coming) — Cost per bunch: Visual sum: a seed packet + a manure bag + a water drop + a taxi → one bed → a row of 40 small bunches.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F-D5-S4. Read the example plan.</a:t>
            </a:r>
          </a:p>
          <a:p/>
          <a:p>
            <a:r>
              <a:t>Poster: F-P21</a:t>
            </a:r>
          </a:p>
          <a:p>
            <a:r>
              <a:t>Picture F-P21-ART (coming) — Artwork for F-P21 · My 90-day garden plan: A path drawn from bottom-left to top-right through three stepping stones. Stone 1: a person mulching and starting a small compost pile beside a tap. Stone 2: the same person digging one bed north of the house and planting seedlings with a spacing stick. Stone 3: the same person harvesting leafy greens into a basket, a jar of seed on the windowsill and a notebook in their pocket. A second smaller person (the buddy) waves from the side with a phone. Leave three blank rounded boxes beside the stones for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buddy's name on the plan.</a:t>
            </a:r>
          </a:p>
          <a:p/>
          <a:p>
            <a:r>
              <a:t>Picture F-IMG-35 (coming) — Buddies: Two learners from the same group shaking hands; one holding a paper plan, the other a basic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F-D5-S5. forms.md §5 and §6. Return to the "Our hopes" drawings.</a:t>
            </a:r>
          </a:p>
          <a:p/>
          <a:p>
            <a:r>
              <a:t>Picture F-IMG-70 (coming) — Picture quiz card 1: Question (said aloud, not printed in the art): 'Where is the sun at midday in winter?' Art: three panels A/B/C: sun to the north of a house (shadow south) · sun to the south · sun straight overhead. Three equal panels with a large A, B and C typeset below each panel in the layout (not in the 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each name clearly; hand personally; photo only with consent.</a:t>
            </a:r>
          </a:p>
          <a:p/>
          <a:p>
            <a:r>
              <a:t>Picture F-IMG-36 (coming) — Certificate: A facilitator handing a certificate to a smiling older woman in her Sunday best; group applauding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circle, final register, tools back.</a:t>
            </a:r>
          </a:p>
          <a:p/>
          <a:p>
            <a:r>
              <a:t>Picture F-IMG-37 (coming) — Go well: The course garden at dusk: planted beds, compost heaps, the young fruit tree, the swale mound — a few people walking home along the path with seedling trays.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F-D5-01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DAY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Day 5 · Seed, food, money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Closing the circle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Seed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2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Where does your seed come from?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Open-pollinated: save it for ever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Hybrid (F1): don't save it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Treated seed is poison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F-P18 · Save your 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F-P18-ART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Choose the parents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The best plants · many plants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Never the first to bolt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ed-selecting-par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seed-selecting-parents.mp4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4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Dry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Dry on the plant until it rattles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Dry is when it snaps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ed-dry-proces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440686"/>
            <a:ext cx="5388864" cy="30312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seed-dry-processing.mp4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5 /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Wet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Tomato seed in a jar, 2–3 days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Rinse · dry thin in the shade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Tomato seed ferment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6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Store and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Cool · dark · dry · labelled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10 seeds on a damp cloth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8 sprout = good seed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w_seed-storage-jar-vs-b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62962"/>
            <a:ext cx="5388864" cy="303123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99048" y="5422392"/>
            <a:ext cx="5388864" cy="411480"/>
          </a:xfrm>
          <a:prstGeom prst="rect">
            <a:avLst/>
          </a:prstGeom>
          <a:solidFill>
            <a:srgbClr val="1B1A17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5422392"/>
            <a:ext cx="5169408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Verdana"/>
              </a:rPr>
              <a:t>▶  Play clip · new_seed-storage-jar-vs-bag.mp4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7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The family 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Half vegetables and fruit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Quarter starch · quarter beans, eggs, meat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F-P19 · Eat the rainbow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F-P19-ART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8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Plate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3 plates for a family with a small child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At least 4 colours in the 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Food card — dark green leaves bundle (spinach/morogo)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9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A year of colour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Summer crops · winter crops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Something to pick every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 year of colour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10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Weigh and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Eaten · shared · sold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Write it on the harvest 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2000" y="2996184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Surplus routes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11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Two pockets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House money · garden money · savings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F-P20 · Money in, money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F-P20-ART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12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Market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R200 in the garden tin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Act out your card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Move the money between tins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Market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13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Money in, money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Date · what · in · out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Write it the same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2000" y="2918460"/>
            <a:ext cx="822960" cy="822960"/>
          </a:xfrm>
          <a:prstGeom prst="ellipse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Farm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CLIP · F-ANI-29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14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Cost per bunch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R100 spent ÷ 40 bunches = R2.50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Shop price? Check locally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Set a fair price in between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Cost per bunch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F5D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F5D34"/>
                </a:solidFill>
                <a:latin typeface="Verdana"/>
              </a:rPr>
              <a:t>POSTER F-P21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15 /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My next 90 days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First 2 weeks · by 6 weeks · by 90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Artwork for F-P21 · My 90-day garden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POSTER ART · F-P21-ART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16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Show your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2 minutes each to your group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Two stars and a wish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Choose your buddy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Buddies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17 /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Verdana"/>
              </a:rPr>
              <a:t>YOUR 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How did we do?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694688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Picture quiz again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1940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Fingers 1 to 5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Rockwel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3263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B1A17"/>
                </a:solidFill>
                <a:latin typeface="Verdana"/>
              </a:rPr>
              <a:t>Understand best · want to learn more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002024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Picture quiz card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D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3175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20116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73706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127295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180884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234474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288063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341653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95242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448831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502421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556010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609600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31893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7167787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7703681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239575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775469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9311362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9847256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383150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0919044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11454938" y="6291072"/>
            <a:ext cx="535893" cy="365760"/>
          </a:xfrm>
          <a:prstGeom prst="triangle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97880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Grow Food, Grow Strong  ·  F-D5-18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8840" y="5897880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2AF93"/>
                </a:solidFill>
                <a:latin typeface="Verdana"/>
              </a:rPr>
              <a:t>18 / 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FC4AA"/>
                </a:solidFill>
                <a:latin typeface="Verdana"/>
              </a:rPr>
              <a:t>DAY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EFE6D2"/>
                </a:solidFill>
                <a:latin typeface="Rockwell"/>
              </a:rPr>
              <a:t>Certificates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2D1BA"/>
                </a:solidFill>
                <a:latin typeface="Verdana"/>
              </a:rPr>
              <a:t>Congratulations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8F4EB"/>
          </a:solidFill>
          <a:ln w="50800">
            <a:solidFill>
              <a:srgbClr val="EFE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6408" y="3063240"/>
            <a:ext cx="334670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Certificate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6408" y="4553712"/>
            <a:ext cx="334670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9664" cy="6455664"/>
          </a:xfrm>
          <a:prstGeom prst="rect">
            <a:avLst/>
          </a:prstGeom>
          <a:noFill/>
          <a:ln w="1905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Grow Food, Grow Strong  ·  F-D5-19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19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B24E2A"/>
                </a:solidFill>
                <a:latin typeface="Verdana"/>
              </a:rPr>
              <a:t>DAY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B1A17"/>
                </a:solidFill>
                <a:latin typeface="Rockwell"/>
              </a:rPr>
              <a:t>Go 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39240"/>
            <a:ext cx="1097280" cy="91440"/>
          </a:xfrm>
          <a:prstGeom prst="rect">
            <a:avLst/>
          </a:prstGeom>
          <a:solidFill>
            <a:srgbClr val="B24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Your mentor visits within 2 weeks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Your buddy will call you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B24E2A"/>
                </a:solidFill>
                <a:latin typeface="Verdana"/>
              </a:rPr>
              <a:t>■  </a:t>
            </a:r>
            <a:r>
              <a:rPr sz="2600" b="0">
                <a:solidFill>
                  <a:srgbClr val="1B1A17"/>
                </a:solidFill>
                <a:latin typeface="Verdana"/>
              </a:rPr>
              <a:t>Look after our garden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8F4EB"/>
          </a:solidFill>
          <a:ln w="50800">
            <a:solidFill>
              <a:srgbClr val="1B1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CA8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C06F51"/>
                </a:solidFill>
                <a:latin typeface="Verdana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924300"/>
            <a:ext cx="4840224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C3B37"/>
                </a:solidFill>
                <a:latin typeface="Rockwell"/>
              </a:rPr>
              <a:t>Go well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5376672"/>
            <a:ext cx="4840224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7A766B"/>
                </a:solidFill>
                <a:latin typeface="Verdana"/>
              </a:rPr>
              <a:t>PICTURE · F-IMG-37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