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R-D3-S0. Register; energiser Market Shout; "what did you sleep on?"; rotate roles.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Start with the price board from the homework. Why are prices different? Who you sell to changes your price.</a:t>
            </a:r>
          </a:p>
          <a:p/>
          <a:p>
            <a:r>
              <a:t>Poster: R-P14</a:t>
            </a:r>
          </a:p>
          <a:p>
            <a:r>
              <a:t>Also: R-ANI-08</a:t>
            </a:r>
          </a:p>
          <a:p>
            <a:r>
              <a:t>Clip R-ANI-08: public/course-animations/market-community/watch-09-surplus-routes.mp4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Why = amount, price, when paid, quality, distance. Reporters: top buyer + one reason, 30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Hold up the good and bad bunch. Which would you buy?</a:t>
            </a:r>
          </a:p>
          <a:p/>
          <a:p>
            <a:r>
              <a:t>Poster: R-P14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R-D3-S1. Five neighbours × 20 bunches = the creche's 100. Taxi R60 together, not R150. Groups: what must they agree? (quality, delivery, one book, receipts per member, how to share money).</a:t>
            </a:r>
          </a:p>
          <a:p/>
          <a:p>
            <a:r>
              <a:t>Poster: R-P14</a:t>
            </a:r>
          </a:p>
          <a:p>
            <a:r>
              <a:t>Also: R-ANI-09</a:t>
            </a:r>
          </a:p>
          <a:p>
            <a:r>
              <a:t>Clip R-ANI-09: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Ask: the creche says "only 20 bunches". What can Lerato show?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Invoice = you owe me. Receipt = you paid me. Your copy stays in your book. Then a 3-minute demo — then stop and hand over.</a:t>
            </a:r>
          </a:p>
          <a:p/>
          <a:p>
            <a:r>
              <a:t>Poster: R-P15</a:t>
            </a:r>
          </a:p>
          <a:p>
            <a:r>
              <a:t>Also: R-P15-ART</a:t>
            </a:r>
          </a:p>
          <a:p>
            <a:r>
              <a:t>Clip R-ANI-03: public/course-media/farmer-money/R-ANI-03.mp4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Buyer tables: SPAZA (half now, half Friday), CRECHE (month-end, needs invoice), HAWKER (cash, no paper). Twist cards at 11:15: wilted bunches returned; treasurer away; no receipt given.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R-D3-S2. At 12:05: each seller group reads its Owed page. Practise a polite reminder in the local language.</a:t>
            </a:r>
          </a:p>
          <a:p/>
          <a:p>
            <a:r>
              <a:t>Poster: R-P15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Creche, 30 bunches × R12 = R360, due month-end. Save invoice. Share PDF to see — do not send to a real person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[APP]. Unpaid invoices stay outstanding — the app's Owed page. Marking paid records the sale once. Past sale / paper invoice is for invoices already written on paper.</a:t>
            </a:r>
          </a:p>
          <a:p/>
          <a:p>
            <a:r>
              <a:t>Also: R-IMG-36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R-D3-S2 [PAPER]. Invoice (P6) and receipt (P7) for the creche order. Amount in words is optional; the buyer's signature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Energiser Pass the Clap first (5 min). Take all answers.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 of a loan = pay back − borrowed. Registered lenders show an NCR number and give a written quote.</a:t>
            </a:r>
          </a:p>
          <a:p/>
          <a:p>
            <a:r>
              <a:t>Poster: R-P16</a:t>
            </a:r>
          </a:p>
          <a:p>
            <a:r>
              <a:t>Also: R-ANI-04</a:t>
            </a:r>
          </a:p>
          <a:p>
            <a:r>
              <a:t>Clip R-ANI-04: public/course-media/farmer-money/R-ANI-04.mp4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Costs: A R1 500 (and keeps the card — illegal), B R840 (R640 a month — garden has R400), C R450 (R1 150 a month for 3 months — too big; borrow less), D R0 (save R500 a month; hire a pump meanwhile).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R-D3-S3. NCR 0860 627 627. Never borrow with interest for food, parties or another loan. Reserve: R20 × 25 weeks = R500, kept in SAVE, for real emergencies.</a:t>
            </a:r>
          </a:p>
          <a:p/>
          <a:p>
            <a:r>
              <a:t>Poster: R-P16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Plans are private. Pictures and ticks are fine. No real amounts needed.</a:t>
            </a:r>
          </a:p>
          <a:p/>
          <a:p>
            <a:r>
              <a:t>Poster: R-P17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Readers help only if asked. Amounts stay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R-D3-S4. Write totals next to Day 1's. Now give the answers and celebrate the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R-D3-SC. Evaluation (forms.md §6 Q1–6, stickers on the 17 poster topics). Certificates: say each name, hand over, shake hands. Photos only with consent. Money back — the last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Day 3 · Selling &amp; growing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 · Day 3 of 3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Sell well · borrow wisely ·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R-D3-02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Who buys?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Neighbour · spaza · hawker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Creche kitchen · market stall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Selling together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R-P14 · Who buys? What do they want?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garden gate in the centre with a woman holding a crate of even, clean bunches. Six paths lead out to: ① a neighbour at the gate with a small bag ② a spaza shop (small building with a serving hatch, crates of vegetables, no signage) ③ a hawker at a taxi rank with a wheelbarrow stall ④ a creche kitchen door with a cook and a delivery crate ⑤ a market…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best buyer for our family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Six buyer cards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Put them in order, best on top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Say why (15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Buyer cards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A4 sheet, 6 cards (2 × 3), each one buyer, no text (facts on the backs — printables P16): 1 a neighbour at a garden gate with a shopping bag · 2 a spaza shop hatch with a shopkeeper and crates (no signage) · 3 a hawker with a wheelbarrow stall at a taxi rank · 4 a creche cook at a kitchen door with a delivery crate · 5 a market stall under an awning with…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R-D3-04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Quality is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Picked early · cool · clean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Same size · same every week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 time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R-IMG-08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Good bunch, bad bunch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Two bunches of leafy greens side by side on a plank. **Left (good):** fresh, upright, clean, deep green, even leaf size, neatly tied with a band, in the shade of a crate. **Right (bad):** wilted, soil on the stems, yellow and holed leaves, mixed sizes, loosely tied, lying in the sun. A small tick-shaped leaf above the left and a drooping leaf above the…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R-D3-05   ·   Poster R-P14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Selling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Five growers, one big order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One taxi, shared cost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Clear records for every member</a:t>
            </a:r>
          </a:p>
        </p:txBody>
      </p:sp>
      <p:pic>
        <p:nvPicPr>
          <p:cNvPr id="7" name="Picture 6" descr="market-community-l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04060"/>
            <a:ext cx="5852160" cy="3901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R-D3-06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Market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From order to receipt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R-D3-07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Five steps, five proofs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Order → deliver →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Paid → receipt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Each paper proves one step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ANIMATION · R-ANI-03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From order to receipt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Five beats, 5 s each, same two characters (a young woman grower, a creche cook). 1 Phone order: two phones, a speech bubble with a bunch icon and a crate icon. 2 Delivery: the grower hands a crate; the cook counts bunches one by one (a tally appears as dots) and signs a paper. 3 Invoice: the grower tears the top copy from a book and hands it over; the…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Market day role-play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Round 1: 3 sellers, 3 buyers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Follow your role card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Swap for round 2 (20 + 20 min)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Market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busy but friendly informal market scene at a taxi rank on a sunny morning (sun in the north). In the foreground a young woman grower hands a crate of even, clean bunches of greens to a creche cook in an apron, who counts them; the grower holds a small duplicate book and pen. Middle ground: a hawker's wheelbarrow stall with greens and tomatoes; a spaza…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R-D3-09   ·   Poster R-P15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Money owed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Owed is not in the tin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Agree the pay date in writing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new credit till it's paid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The Invoice builder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A new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Items, price, total due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Has the buyer paid? Not yet</a:t>
            </a:r>
          </a:p>
        </p:txBody>
      </p:sp>
      <p:pic>
        <p:nvPicPr>
          <p:cNvPr id="9" name="Picture 8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FF4E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Mark it paid — once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Open the saved invoice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Yes — paid in full + date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Don't also add it in Sold</a:t>
            </a:r>
          </a:p>
        </p:txBody>
      </p:sp>
      <p:pic>
        <p:nvPicPr>
          <p:cNvPr id="9" name="Picture 8" descr="payment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039527"/>
            <a:ext cx="5852160" cy="38305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Invoice and receipt books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Invoice: press hard, keep the copy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Owed page: R360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B2B2B"/>
                </a:solidFill>
                <a:latin typeface="Calibri"/>
              </a:rPr>
              <a:t>•  Paid? Receipt, tick, money in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PHOTO · R-PHO-01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 real money book page and tin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Real photograph, taken by the programme on Day 0: the course money book (P1) open on a wooden table, filled in by hand with **Lerato's week** (made-up data — never a learner's real book), a pencil, and a tin with its lid off showing play money. Daylight, from above, no faces. 1920 × 1080.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R-D3-13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Borrow wisely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Bongani wants a R3 000 pump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Where can he get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R-D3-14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Five questions before you borrow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What for? Total cost?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Can I pay? Registered?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What if?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Four ways to get R3 000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Count each offer in play money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Gets · pays back · cost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Can the garden pay? (20 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R-D3-16   ·   Poster R-P16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Spot the illegal lender · the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Keeps your card?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No NCR number? Walk away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Reserve: R20 a week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R-P16-ART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R-P16 · Borrow wisely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young man (mid-20s, cap, overalls) stands at a crossroads, a thought bubble above him showing a small water pump. Four paths lead to: ① a street corner where only a pair of hands is shown, holding a thick stack of bank cards and ID books (the danger — no face, no ethnicity) ② a plain office desk with forms, a stamp, and a person explaining a paper ③ a…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R-D3-17   ·   Poster R-P17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My money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Goal · three tins · book day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Pinch month and reserve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B2B2B"/>
                </a:solidFill>
                <a:latin typeface="Calibri"/>
              </a:rPr>
              <a:t>•  One step next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POSTER ART · R-P17-ART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Artwork for R-P17 · My money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A woman in her 30s and a young man sit at a table outdoors, each drawing on a large sheet. Around them, floating like a mind-map, five small pictures: ① a goal (a school uniform, a water tank, a small shelter for a stall) ② three tins ③ an open money book with a pencil and a sun/moon symbol (when I write) ④ a calendar with one month circled and a small…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Make and share your plan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15 min: my own plan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2 min each: goal and one step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One star from the group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4E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R-D3-19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B2B2B"/>
                </a:solidFill>
                <a:latin typeface="Calibri"/>
              </a:rPr>
              <a:t>Farmer Money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FF4E0"/>
                </a:solidFill>
                <a:latin typeface="Calibri"/>
              </a:rPr>
              <a:t>YOUR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B2B2B"/>
                </a:solidFill>
                <a:latin typeface="Arial Rounded MT Bold"/>
              </a:rPr>
              <a:t>Picture quiz — again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E066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Same cards, same corners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B2B2B"/>
                </a:solidFill>
                <a:latin typeface="Calibri"/>
              </a:rPr>
              <a:t>•  What changed?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R-IMG-20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Picture quiz cards (8 × 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Eight A4 landscape cards, one per quiz question (README table). Each card: a small question picture on the top third, and three answer panels below marked by a **big letter A, B, C typeset by the layout** (the art itself has no letters). 1 · top: coins from a spinach sale; A: coins into a purse with other things; B: coins into a tin beside an open book;…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2E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R-D3-20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FF4E0"/>
                </a:solidFill>
                <a:latin typeface="Calibri"/>
              </a:rPr>
              <a:t>Farmer Money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4E0"/>
                </a:solidFill>
                <a:latin typeface="Arial Rounded MT Bold"/>
              </a:rPr>
              <a:t>Certificates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2A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Farmer Money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FF4E0"/>
                </a:solidFill>
                <a:latin typeface="Calibri"/>
              </a:rPr>
              <a:t>Well done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FF4E0"/>
          </a:solidFill>
          <a:ln w="15875">
            <a:solidFill>
              <a:srgbClr val="E066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2A8C82"/>
                </a:solidFill>
                <a:latin typeface="Calibri"/>
              </a:rPr>
              <a:t>IMAGE · R-IMG-01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B2B2B"/>
                </a:solidFill>
                <a:latin typeface="Arial Rounded MT Bold"/>
              </a:rPr>
              <a:t>The three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B2B2B"/>
                </a:solidFill>
                <a:latin typeface="Calibri"/>
              </a:rPr>
              <a:t>Three side-by-side scenes, equal width, one per family, same style, a thin Hairline divider between them. **Left — the Dlamini household (rural KZN):** a rondavel and a small block house on a green hillside; a 2 500 ℓ plastic water tank beside the house; trench beds with leafy greens, cabbages and a row of maize. A grandmother (70s, headscarf, cardigan)…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