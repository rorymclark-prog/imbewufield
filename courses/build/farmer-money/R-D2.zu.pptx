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R-D2-S0. Register, energiser In · Out · Owed, "what did you sleep on?" — do not ask who made a bean map at home. Rotate roles.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R-D2-S1. Hold up a tin. Let them say "we can't tell". Then the book.</a:t>
            </a:r>
          </a:p>
          <a:p/>
          <a:p>
            <a:r>
              <a:t>Poster: R-P08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R-D2-S1. Point to columns 1–5 and the Owed page. F-P20 from Course 1 is the same book. One line for every rand, the same day.</a:t>
            </a:r>
          </a:p>
          <a:p/>
          <a:p>
            <a:r>
              <a:t>Poster: R-P08</a:t>
            </a:r>
          </a:p>
          <a:p>
            <a:r>
              <a:t>Also: R-ANI-07</a:t>
            </a:r>
          </a:p>
          <a:p>
            <a:r>
              <a:t>Picture R-P08-ART (coming) — Artwork for R-P08 · The money book: A large open exercise book, seen from above, on a wooden table. The left page has a grid of five columns; the column heads are **icons only**: ① a small calendar ② a leaf and a taxi (what happened) ③ a coin with an arrow going in ④ a coin with an arrow going out ⑤ a tin. Rows have scribble marks, not numbers. ⑥ The right page is a separate list with a hand holding out an open palm (owed to me). Beside the book: a tin with its lid off showing a few notes, a pencil, a bunch of spinach.</a:t>
            </a:r>
          </a:p>
          <a:p>
            <a:r>
              <a:t>Clip R-ANI-07: public/course-media/farmer-money/R-ANI-07.mp4</a:t>
            </a:r>
          </a:p>
          <a:p>
            <a:r>
              <a:t>Picture R-ANI-07 (coming) — The farm record: A hand makes tally marks in two columns of a simple exercise book beside a basket of harvested greens and a hanging scale; bunches move from the basket into three piles (eat, share, sell) as marks appear. Marks are simple strokes, never readable writing. (Replaces the withdrawn clip `market-community/watch-04-farm-record.mp4`.)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R-D2-S1. Materials moves play money; Recorder writes. Card 3 = Owed page (spaza R200). Card 7 = taken home R50. Card 9 = harvest record only. Closing balance R315.</a:t>
            </a:r>
          </a:p>
          <a:p/>
          <a:p>
            <a:r>
              <a:t>Picture R-IMG-03 (coming) — Play money artwork: Artwork for printed **play money** notes and coins. Notes 120 × 60 mm (clearly smaller than real notes, which must not be copied), coins 30 mm circles. Each note: Paper background, a big plain oval on the left with a simple **crop** drawing (R10 = a bean pod, R20 = a spinach leaf, R50 = a cabbage, R100 = a maize cob), a thick colour band down the right side (R10 Leaf, R20 Ochre, R50 Ink with a dotted pattern, R100 Forest — Water blue is kept for water only), and an empty box top right where the **value is typeset** large ("R10") with the words "PLAY MONEY — NOT LEGAL TENDER" typeset along the bottom by the layout (not in the art). Coins: R1, R2, R5 as plain circles with a seed pattern, colour Ochre / Mid-green / Ink outline. Deliver as layered SVG/PDF so values are typeset text. **Must not resemble any real SA banknote.**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R-D2-S1. Usual mistakes: card 7 missed; card 3 entered as cash. Mistakes are good — this is what reconciling is for.</a:t>
            </a:r>
          </a:p>
          <a:p/>
          <a:p>
            <a:r>
              <a:t>Poster: R-P08</a:t>
            </a:r>
          </a:p>
          <a:p>
            <a:r>
              <a:t>Picture R-P08-ART (coming) — Artwork for R-P08 · The money book: A large open exercise book, seen from above, on a wooden table. The left page has a grid of five columns; the column heads are **icons only**: ① a small calendar ② a leaf and a taxi (what happened) ③ a coin with an arrow going in ④ a coin with an arrow going out ⑤ a tin. Rows have scribble marks, not numbers. ⑥ The right page is a separate list with a hand holding out an open palm (owed to me). Beside the book: a tin with its lid off showing a few notes, a pencil, a bunch of spinach.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R-D2-S1. When the spaza pays at month-end: R200 in, tick off the Owed page. Never write the sale twice. Profit needs a full season — this afternoon.</a:t>
            </a:r>
          </a:p>
          <a:p/>
          <a:p>
            <a:r>
              <a:t>Poster: R-P08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R-D2-S1 [APP]. Enter cards 1, 2, 3 of Lerato's week. Card 3: New sale &amp; invoice → Not yet — payment outstanding. Keep the paper book too. App works offline.</a:t>
            </a:r>
          </a:p>
          <a:p/>
          <a:p>
            <a:r>
              <a:t>Also: R-IMG-32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R-D2-S1 [PAPER]. Opening R80 + R144 sale − R35 seed − R20 taxi = R169. Pictures are fine. Nobody reads your book.</a:t>
            </a:r>
          </a:p>
          <a:p/>
          <a:p>
            <a:r>
              <a:t>Picture R-PHO-01 (coming) — A real money book page and tin: Real photograph, taken by the programme on Day 0: the course money book (P1) open on a wooden table, filled in by hand with **Lerato's week** (made-up data — never a learner's real book), a pencil, and a tin with its lid off showing play money. Daylight, from above, no faces. 1920 × 1080.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Full basket in the middle. Ask where it goes. All four came from your work and costs.</a:t>
            </a:r>
          </a:p>
          <a:p/>
          <a:p>
            <a:r>
              <a:t>Poster: R-P09</a:t>
            </a:r>
          </a:p>
          <a:p>
            <a:r>
              <a:t>Also: R-P09-ART</a:t>
            </a:r>
          </a:p>
          <a:p>
            <a:r>
              <a:t>Clip R-ANI-06: public/course-media/farmer-money/R-ANI-06.mp4</a:t>
            </a:r>
          </a:p>
          <a:p>
            <a:r>
              <a:t>Picture R-ANI-06 (coming) — Where the harvest goes: A full basket of greens (0–2 s). Bunches lift out and travel along four paths: to a family pot on a fire (4 bunches), over a fence to a neighbour (1), to a buyer at a gate who hands back coins (4), and one wilts and falls to a goat (1) (2–10 s). Beside the family pot, a coin stays in a purse (money saved) (10–12 s). Poster frame: the four paths.</a:t>
            </a:r>
          </a:p>
          <a:p>
            <a:r>
              <a:t>Picture R-P09-ART (coming) — Artwork for R-P09 · Where did the harvest go?: A big woven basket of leafy greens in the centre. Four arrows lead to: ① a family (gogo, mother, two children) eating from a pot of greens and pap at a table ② a woman handing a bunch over a fence to a neighbour ③ a buyer at the garden gate handing coins for a bunch ④ wilted leaves on the ground, a goat's head reaching through a broken fence, a snail on a leaf. ⑤ Beside the family, a small ghost-image of a shop shelf with a coin that stays in the gogo's purse (the saving).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Outside at the bed. Family harvest weeks: Dlamini 30 = 8/2/18/2; Mokoena 50 = 5/5/35/5; Sizanani 40 = 4/0/34/2. The four must add up. App users may log the harvest in Picked (optional).</a:t>
            </a:r>
          </a:p>
          <a:p/>
          <a:p>
            <a:r>
              <a:t>Also: R-IMG-37</a:t>
            </a:r>
          </a:p>
          <a:p>
            <a:r>
              <a:t>Picture R-IMG-07 (coming) — Bunches weighed and counted: At the edge of a garden bed, a group of five (mixed ages) around a crate: one cuts outer leaves of leafy greens (leaving the heart), one ties even bunches with rubber bands, one hangs a bunch on a simple kitchen hanging scale, one sits on a bucket writing in a harvest record (lines only), one carries a basket. Morning light from the north. No text.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Count it with play money. Write "value of food eaten" at the bottom of the harvest record.</a:t>
            </a:r>
          </a:p>
          <a:p/>
          <a:p>
            <a:r>
              <a:t>Poster: R-P09</a:t>
            </a:r>
          </a:p>
          <a:p>
            <a:r>
              <a:t>Picture R-P09-ART (coming) — Artwork for R-P09 · Where did the harvest go?: A big woven basket of leafy greens in the centre. Four arrows lead to: ① a family (gogo, mother, two children) eating from a pot of greens and pap at a table ② a woman handing a bunch over a fence to a neighbour ③ a buyer at the garden gate handing coins for a bunch ④ wilted leaves on the ground, a goat's head reaching through a broken fence, a snail on a leaf. ⑤ Beside the family, a small ghost-image of a shop shelf with a coin that stays in the gogo's purse (the saving).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Solid lines = cash costs. Dashed = free but not free (manure, rainwater, own time).</a:t>
            </a:r>
          </a:p>
          <a:p/>
          <a:p>
            <a:r>
              <a:t>Poster: R-P10</a:t>
            </a:r>
          </a:p>
          <a:p>
            <a:r>
              <a:t>Picture R-P10-ART (coming) — Artwork for R-P10 · Count every cost: A healthy leafy bed in the centre (generic greens). Six items around it, each linked by a dotted line: ① a blank seed packet with a seed shape ② a bag of compost and a wheelbarrow of kraal manure ③ a JoJo-style tank with a tap and a watering can ④ a minibus taxi ⑤ rubber bands, a spade, a watering can ⑥ a clock beside a woman bent over the bed working. Items ② (manure) and ⑥ (time) are drawn with a dashed outline — "free but not free".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Answer R510: seed 35, compost 220, water 60, bands 30, transport 120, spray 15, watering-can share 30. Free but not free: manure, rainwater, seedlings, 44 hours.</a:t>
            </a:r>
          </a:p>
          <a:p/>
          <a:p>
            <a:r>
              <a:t>Picture R-IMG-09 (coming) — Cost cards (12): A4 sheet, 12 cards (3 × 4), each one object, no text (amounts are printed on the card backs — printables P17): 1 seed packet (blank) · 2 compost bag · 3 wheelbarrow of kraal manure (dashed outline — "free but not free") · 4 tap with a watering can (municipal water) · 5 JoJo-style tank with rain (dashed outline) · 6 rubber bands · 7 minibus taxi · 8 garlic and chilli with a spray bottle · 9 watering can · 10 a fence section of droppers and wire · 11 a phone with a talking bubble (airtime to buyers) · 12 a clock beside a woman working (dashed outline — own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Leave R510 on the flipchart for after lunch. Why R30 for a R90 can? It lasts three seasons.</a:t>
            </a:r>
          </a:p>
          <a:p/>
          <a:p>
            <a:r>
              <a:t>Poster: R-P10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[PAPER]. Slip page (P2): line number beside each slip. Home-made slip for taxi and hawker costs: date, what, how much, who, sign.</a:t>
            </a:r>
          </a:p>
          <a:p/>
          <a:p>
            <a:r>
              <a:t>Picture R-PHO-02 (coming) — A till slip glued into the book: Real photograph: a till slip from an agri/hardware shop (seed and compost) glued onto the slip page (P2), the total circled in pen and the money-book line number written beside it. Blur or crop any shop name, card digits or personal details. 1920 × 1080.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R-D2-S2 [APP]. Receipt photo → Take photo → Read a receipt with Lima. Check amount, date, what for. Crop this cost was for: only if just for that crop. Reading needs data; the photo saves offline. Keep the paper slip too.</a:t>
            </a:r>
          </a:p>
          <a:p/>
          <a:p>
            <a:r>
              <a:t>Also: R-IMG-32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R-D2-S3. Energiser "Price Is Right" first (5 min) using the Day 0 price sheet.</a:t>
            </a:r>
          </a:p>
          <a:p/>
          <a:p>
            <a:r>
              <a:t>Poster: R-P11</a:t>
            </a:r>
          </a:p>
          <a:p>
            <a:r>
              <a:t>Picture R-P11-ART (coming) — Artwork for R-P11 · One bunch: cost, price, profit: Top half: ① a pile of generic notes and coins on the left ② a row of many spinach bunches on the right ③ a curved arrow that shares the money onto one single bunch, which now sits on a tiny coin stack. Bottom half: three steps like a staircase: ④ the bottom step — a bunch resting on a small coin stack (the floor) ⑤ the middle step — a market stall with bunches ⑥ the top step — a creche cook smiling, holding a bunch, a delivery crate at her feet.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R-D2-S3. Start with R40 shared onto 10 bunch tokens (R4 each). Then Lerato's sum on the calculator. All 150 bunches count — eaten ones cost the same to grow.</a:t>
            </a:r>
          </a:p>
          <a:p/>
          <a:p>
            <a:r>
              <a:t>Poster: R-P11</a:t>
            </a:r>
          </a:p>
          <a:p>
            <a:r>
              <a:t>Picture R-P11-ART (coming) — Artwork for R-P11 · One bunch: cost, price, profit: Top half: ① a pile of generic notes and coins on the left ② a row of many spinach bunches on the right ③ a curved arrow that shares the money onto one single bunch, which now sits on a tiny coin stack. Bottom half: three steps like a staircase: ④ the bottom step — a bunch resting on a small coin stack (the floor) ⑤ the middle step — a market stall with bunches ⑥ the top step — a creche cook smiling, holding a bunch, a delivery crate at her feet.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R-D2-S3. Then her time: 44 h × about R30 (check the national minimum wage) = R1 320. Selling from one bed does not pay a wage — say it honestly. Only Lerato can decide if it's worth it. Ask how her time could earn more.</a:t>
            </a:r>
          </a:p>
          <a:p/>
          <a:p>
            <a:r>
              <a:t>Poster: R-P11</a:t>
            </a:r>
          </a:p>
          <a:p>
            <a:r>
              <a:t>Picture R-P11-ART (coming) — Artwork for R-P11 · One bunch: cost, price, profit: Top half: ① a pile of generic notes and coins on the left ② a row of many spinach bunches on the right ③ a curved arrow that shares the money onto one single bunch, which now sits on a tiny coin stack. Bottom half: three steps like a staircase: ④ the bottom step — a bunch resting on a small coin stack (the floor) ⑤ the middle step — a market stall with bunches ⑥ the top step — a creche cook smiling, holding a bunch, a delivery crate at her feet.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R-D2-S3. Sizanani: price R12, own cost R2 per bunch. Fence R200 + cans R100 + transport R300 = R600.</a:t>
            </a:r>
          </a:p>
          <a:p/>
          <a:p>
            <a:r>
              <a:t>Poster: R-P12</a:t>
            </a:r>
          </a:p>
          <a:p>
            <a:r>
              <a:t>Picture R-P12-ART (coming) — Artwork for R-P12 · Break-even with beans: A big clay cup or tin in the centre, labelled only by a small icon of a fence, a watering can and a taxi on its side (the season's costs). ① The cup is almost full of beans. ② A line of spinach bunches walks towards the cup (drawn as a row); from each bunch drops **one bean** into the cup. ③ The cup is exactly full, with a small star at the rim. ④ Beyond the cup, the next bunches drop their beans into a small basket beside a smiling young woman (profit).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R-D2-S3. At R10 each bunch leaves R8: 600 ÷ 8 = 75 bunches. Use piles of R8 in play money. Expected sales 200 — safe either way.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R-D2-S4. Stick local month names on R-P13, September on the left. Ask which month is hardest here (often January or September).</a:t>
            </a:r>
          </a:p>
          <a:p/>
          <a:p>
            <a:r>
              <a:t>Poster: R-P13</a:t>
            </a:r>
          </a:p>
          <a:p>
            <a:r>
              <a:t>Also: R-P13-ART</a:t>
            </a:r>
          </a:p>
          <a:p>
            <a:r>
              <a:t>Clip R-ANI-05: public/course-media/farmer-money/R-ANI-05.mp4</a:t>
            </a:r>
          </a:p>
          <a:p>
            <a:r>
              <a:t>Picture R-ANI-05 (coming) — The season tin: One tin in the foreground, a garden in the background that changes through 12 months (2 s per month), starting in spring (September): sowing → seedlings → growth → full harvest → autumn planting → winter greens with frost cloth → dry late winter. The sun moves lower in the **northern** sky in winter. The coin level in the tin: falls in September (coins flow to a seed packet and compost bag), rises from November, dips in December (a gift) and January (school shoes), rises through autumn, flat in winter. In December a few coins jump into a small padlock tin; in January they come back to cover the school shoes. Poster frame: January, tin low.</a:t>
            </a:r>
          </a:p>
          <a:p>
            <a:r>
              <a:t>Picture R-P13-ART (coming) — Artwork for R-P13 · Money through the season: A long landscape strip of 12 equal panels, left to right starting in **September** (spring). Top row: the same garden through the year — bare beds and seed sowing (Sep), seedlings (Oct), growing (Nov), full harvest (Dec–Mar), autumn planting (Mar–Apr), winter greens with frost cloth (Jun–Jul), dry late winter (Aug). Sun position consistent with the southern hemisphere (sun to the north, lower in winter). Bottom row: 12 identical glass jars / tins whose coin level rises and falls: ① low in Sep with coins flowing out to a seed packet and compost bag ② rising Nov–Dec with coins coming in from bunches ③ December panel shows a small gift and a pot of festive food; January panel shows school shoes and a uniform (big family months) ④ January tin very low, circled with a thick ochre ring ⑤ a small arrow from the fuller months into a padlock tin (save ahead). Leave a blank strip under the panels (4 cm) where the facilitator sticks local month names.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R-D2-S4. Month-ends: Sep −R50, Oct R0, Nov R250, Dec R450, Jan R100, Feb R350. Plans: save from winter sales, buy seed in steps, own compost, save in December for January.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R-D2-S4 [APP]. Find Lerato's three entries. Optional: Export this month (CSV) to send to a mentor. The sheet is only as good as what was typed 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R-D2-S4 [PAPER]. Summary page (P3) for Lerato's week: in R390, out R225, balance R315, tin R315, owed R200, taken home R50. Ten minutes, last day of every month.</a:t>
            </a:r>
          </a:p>
          <a:p/>
          <a:p>
            <a:r>
              <a:t>Picture R-PHO-01 (coming) — A real money book page and tin: Real photograph, taken by the programme on Day 0: the course money book (P1) open on a wooden table, filled in by hand with **Lerato's week** (made-up data — never a learner's real book), a pencil, and a tin with its lid off showing play money. Daylight, from above, no faces. 1920 × 1080.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R-D2-SC. Price-check homework: no buying needed; remember or photograph. Question Tree, money back, register PM.</a:t>
            </a:r>
          </a:p>
          <a:p/>
          <a:p>
            <a:r>
              <a:t>Poster: R-P08</a:t>
            </a:r>
          </a:p>
          <a:p>
            <a:r>
              <a:t>Picture R-P08-ART (coming) — Artwork for R-P08 · The money book: A large open exercise book, seen from above, on a wooden table. The left page has a grid of five columns; the column heads are **icons only**: ① a small calendar ② a leaf and a taxi (what happened) ③ a coin with an arrow going in ④ a coin with an arrow going out ⑤ a tin. Rows have scribble marks, not numbers. ⑥ The right page is a separate list with a hand holding out an open palm (owed to me). Beside the book: a tin with its lid off showing a few notes, a pencil, a bunch of spinach.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B2E4F"/>
        </a:solidFill>
        <a:effectLst/>
      </p:bgPr>
    </p:bg>
    <p:spTree>
      <p:nvGrpSpPr>
        <p:cNvPr id="1" name=""/>
        <p:cNvGrpSpPr/>
        <p:nvPr/>
      </p:nvGrpSpPr>
      <p:grpSpPr/>
      <p:sp>
        <p:nvSpPr>
          <p:cNvPr id="2" name="Oval 1"/>
          <p:cNvSpPr/>
          <p:nvPr/>
        </p:nvSpPr>
        <p:spPr>
          <a:xfrm>
            <a:off x="-1005840" y="-914400"/>
            <a:ext cx="3108960" cy="2860243"/>
          </a:xfrm>
          <a:prstGeom prst="ellipse">
            <a:avLst/>
          </a:prstGeom>
          <a:solidFill>
            <a:srgbClr val="2A8C8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20400" y="2194560"/>
            <a:ext cx="2651760" cy="2439619"/>
          </a:xfrm>
          <a:prstGeom prst="ellipse">
            <a:avLst/>
          </a:prstGeom>
          <a:solidFill>
            <a:srgbClr val="E0664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265920" y="-548640"/>
            <a:ext cx="1188720" cy="1093622"/>
          </a:xfrm>
          <a:prstGeom prst="ellipse">
            <a:avLst/>
          </a:prstGeom>
          <a:solidFill>
            <a:srgbClr val="FFF4E0">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120640" y="-411480"/>
            <a:ext cx="868680" cy="799185"/>
          </a:xfrm>
          <a:prstGeom prst="ellipse">
            <a:avLst/>
          </a:prstGeom>
          <a:solidFill>
            <a:srgbClr val="E0664A">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B7A5A6"/>
                </a:solidFill>
                <a:latin typeface="Calibri"/>
              </a:rPr>
              <a:t>Farmer Money  ·  R-D2-01</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B7A5A6"/>
                </a:solidFill>
                <a:latin typeface="Calibri"/>
              </a:rPr>
              <a:t>1 / 26</a:t>
            </a:r>
          </a:p>
        </p:txBody>
      </p:sp>
      <p:sp>
        <p:nvSpPr>
          <p:cNvPr id="8" name="TextBox 7"/>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D2C2BC"/>
                </a:solidFill>
                <a:latin typeface="Calibri"/>
              </a:rPr>
              <a:t>USUKU 2</a:t>
            </a:r>
          </a:p>
        </p:txBody>
      </p:sp>
      <p:sp>
        <p:nvSpPr>
          <p:cNvPr id="9" name="TextBox 8"/>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FF4E0"/>
                </a:solidFill>
                <a:latin typeface="Arial Rounded MT Bold"/>
              </a:rPr>
              <a:t>Usuku 2 · Imali yensimu</a:t>
            </a:r>
          </a:p>
        </p:txBody>
      </p:sp>
      <p:sp>
        <p:nvSpPr>
          <p:cNvPr id="10" name="Rounded Rectangle 9"/>
          <p:cNvSpPr/>
          <p:nvPr/>
        </p:nvSpPr>
        <p:spPr>
          <a:xfrm>
            <a:off x="822960" y="3639312"/>
            <a:ext cx="1463040" cy="128016"/>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E4D6CA"/>
                </a:solidFill>
                <a:latin typeface="Calibri"/>
              </a:rPr>
              <a:t>Farmer Money · Usuku 2 kwezi-3</a:t>
            </a:r>
          </a:p>
          <a:p>
            <a:pPr algn="l">
              <a:spcAft>
                <a:spcPts val="800"/>
              </a:spcAft>
            </a:pPr>
            <a:r>
              <a:rPr sz="2400" b="0">
                <a:solidFill>
                  <a:srgbClr val="E4D6CA"/>
                </a:solidFill>
                <a:latin typeface="Calibri"/>
              </a:rPr>
              <a:t>Bhala · bala · beka intengo</a:t>
            </a:r>
          </a:p>
        </p:txBody>
      </p:sp>
      <p:sp>
        <p:nvSpPr>
          <p:cNvPr id="12" name="Rounded Rectangle 11"/>
          <p:cNvSpPr/>
          <p:nvPr/>
        </p:nvSpPr>
        <p:spPr>
          <a:xfrm>
            <a:off x="7452360" y="914400"/>
            <a:ext cx="4114800" cy="42062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ecord-sale.jpg"/>
          <p:cNvPicPr>
            <a:picLocks noChangeAspect="1"/>
          </p:cNvPicPr>
          <p:nvPr/>
        </p:nvPicPr>
        <p:blipFill>
          <a:blip r:embed="rId2"/>
          <a:stretch>
            <a:fillRect/>
          </a:stretch>
        </p:blipFill>
        <p:spPr>
          <a:xfrm>
            <a:off x="7616952" y="1952249"/>
            <a:ext cx="3785616" cy="213054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IPHOSTA R-P08</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R-D2-02</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Ingabe uLerato wenze imali?</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Ithini lakhe lensimu line-R315</a:t>
            </a:r>
          </a:p>
          <a:p>
            <a:pPr algn="l" marL="412750" indent="-412750">
              <a:spcAft>
                <a:spcPts val="1800"/>
              </a:spcAft>
            </a:pPr>
            <a:r>
              <a:rPr sz="2600" b="1">
                <a:solidFill>
                  <a:srgbClr val="2A8C82"/>
                </a:solidFill>
                <a:latin typeface="Calibri"/>
              </a:rPr>
              <a:t>●  </a:t>
            </a:r>
            <a:r>
              <a:rPr sz="2600" b="0">
                <a:solidFill>
                  <a:srgbClr val="2B2B2B"/>
                </a:solidFill>
                <a:latin typeface="Calibri"/>
              </a:rPr>
              <a:t>Ingadi yenze imali yini?</a:t>
            </a:r>
          </a:p>
          <a:p>
            <a:pPr algn="l" marL="412750" indent="-412750">
              <a:spcAft>
                <a:spcPts val="1800"/>
              </a:spcAft>
            </a:pPr>
            <a:r>
              <a:rPr sz="2600" b="1">
                <a:solidFill>
                  <a:srgbClr val="2A8C82"/>
                </a:solidFill>
                <a:latin typeface="Calibri"/>
              </a:rPr>
              <a:t>●  </a:t>
            </a:r>
            <a:r>
              <a:rPr sz="2600" b="0">
                <a:solidFill>
                  <a:srgbClr val="2B2B2B"/>
                </a:solidFill>
                <a:latin typeface="Calibri"/>
              </a:rPr>
              <a:t>Ithini alisho. Incwadi iyasho.</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arket-community-l1.jpg"/>
          <p:cNvPicPr>
            <a:picLocks noChangeAspect="1"/>
          </p:cNvPicPr>
          <p:nvPr/>
        </p:nvPicPr>
        <p:blipFill>
          <a:blip r:embed="rId2"/>
          <a:stretch>
            <a:fillRect/>
          </a:stretch>
        </p:blipFill>
        <p:spPr>
          <a:xfrm>
            <a:off x="6153912" y="2393033"/>
            <a:ext cx="5279136" cy="297109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IPHOSTA R-P08</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R-D2-03</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3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Bhala yonke irandi</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Usuku · kwenzekeni · engenayo · ephumayo</a:t>
            </a:r>
          </a:p>
          <a:p>
            <a:pPr algn="l" marL="412750" indent="-412750">
              <a:spcAft>
                <a:spcPts val="1800"/>
              </a:spcAft>
            </a:pPr>
            <a:r>
              <a:rPr sz="2600" b="1">
                <a:solidFill>
                  <a:srgbClr val="2A8C82"/>
                </a:solidFill>
                <a:latin typeface="Calibri"/>
              </a:rPr>
              <a:t>●  </a:t>
            </a:r>
            <a:r>
              <a:rPr sz="2600" b="0">
                <a:solidFill>
                  <a:srgbClr val="2B2B2B"/>
                </a:solidFill>
                <a:latin typeface="Calibri"/>
              </a:rPr>
              <a:t>Ibhalansi = okusethinini</a:t>
            </a:r>
          </a:p>
          <a:p>
            <a:pPr algn="l" marL="412750" indent="-412750">
              <a:spcAft>
                <a:spcPts val="1800"/>
              </a:spcAft>
            </a:pPr>
            <a:r>
              <a:rPr sz="2600" b="1">
                <a:solidFill>
                  <a:srgbClr val="2A8C82"/>
                </a:solidFill>
                <a:latin typeface="Calibri"/>
              </a:rPr>
              <a:t>●  </a:t>
            </a:r>
            <a:r>
              <a:rPr sz="2600" b="0">
                <a:solidFill>
                  <a:srgbClr val="2B2B2B"/>
                </a:solidFill>
                <a:latin typeface="Calibri"/>
              </a:rPr>
              <a:t>Imali engiyikweletwayo: ikhasi elihlukile</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R-P08 · The money book</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R-P08-ART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R-D2-04</a:t>
            </a:r>
          </a:p>
        </p:txBody>
      </p:sp>
      <p:sp>
        <p:nvSpPr>
          <p:cNvPr id="4" name="TextBox 3"/>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4 / 26</a:t>
            </a:r>
          </a:p>
        </p:txBody>
      </p:sp>
      <p:sp>
        <p:nvSpPr>
          <p:cNvPr id="5" name="Rounded Rectangle 4"/>
          <p:cNvSpPr/>
          <p:nvPr/>
        </p:nvSpPr>
        <p:spPr>
          <a:xfrm>
            <a:off x="731520" y="457200"/>
            <a:ext cx="1213866" cy="346710"/>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Calibri"/>
              </a:rPr>
              <a:t>SEBENZANI</a:t>
            </a:r>
          </a:p>
        </p:txBody>
      </p:sp>
      <p:sp>
        <p:nvSpPr>
          <p:cNvPr id="7" name="TextBox 6"/>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Isonto likaLerato</a:t>
            </a:r>
          </a:p>
        </p:txBody>
      </p:sp>
      <p:sp>
        <p:nvSpPr>
          <p:cNvPr id="8" name="Rounded Rectangle 7"/>
          <p:cNvSpPr/>
          <p:nvPr/>
        </p:nvSpPr>
        <p:spPr>
          <a:xfrm>
            <a:off x="777240" y="1694688"/>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06044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1</a:t>
            </a:r>
          </a:p>
        </p:txBody>
      </p:sp>
      <p:sp>
        <p:nvSpPr>
          <p:cNvPr id="11" name="TextBox 10"/>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Ibhalansi yokuqala R150</a:t>
            </a:r>
          </a:p>
        </p:txBody>
      </p:sp>
      <p:sp>
        <p:nvSpPr>
          <p:cNvPr id="12" name="Oval 11"/>
          <p:cNvSpPr/>
          <p:nvPr/>
        </p:nvSpPr>
        <p:spPr>
          <a:xfrm>
            <a:off x="731520" y="305612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2</a:t>
            </a:r>
          </a:p>
        </p:txBody>
      </p:sp>
      <p:sp>
        <p:nvSpPr>
          <p:cNvPr id="14" name="TextBox 13"/>
          <p:cNvSpPr txBox="1"/>
          <p:nvPr/>
        </p:nvSpPr>
        <p:spPr>
          <a:xfrm>
            <a:off x="1508760" y="3101848"/>
            <a:ext cx="4160520" cy="1274064"/>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Amakhadi ayi-10: hambisani imali, bhalani umugqa</a:t>
            </a:r>
          </a:p>
        </p:txBody>
      </p:sp>
      <p:sp>
        <p:nvSpPr>
          <p:cNvPr id="15" name="Oval 14"/>
          <p:cNvSpPr/>
          <p:nvPr/>
        </p:nvSpPr>
        <p:spPr>
          <a:xfrm>
            <a:off x="731520" y="4421632"/>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42163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3</a:t>
            </a:r>
          </a:p>
        </p:txBody>
      </p:sp>
      <p:sp>
        <p:nvSpPr>
          <p:cNvPr id="17" name="TextBox 16"/>
          <p:cNvSpPr txBox="1"/>
          <p:nvPr/>
        </p:nvSpPr>
        <p:spPr>
          <a:xfrm>
            <a:off x="1508760" y="4467352"/>
            <a:ext cx="4160520" cy="1274064"/>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Amakhadi 3, 9: imali iyahamba? (20 min)</a:t>
            </a:r>
          </a:p>
        </p:txBody>
      </p:sp>
      <p:sp>
        <p:nvSpPr>
          <p:cNvPr id="18" name="Rounded Rectangle 17"/>
          <p:cNvSpPr/>
          <p:nvPr/>
        </p:nvSpPr>
        <p:spPr>
          <a:xfrm>
            <a:off x="5989320" y="1969008"/>
            <a:ext cx="5608320" cy="3974592"/>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82000" y="2996184"/>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21" name="TextBox 20"/>
          <p:cNvSpPr txBox="1"/>
          <p:nvPr/>
        </p:nvSpPr>
        <p:spPr>
          <a:xfrm>
            <a:off x="6428232" y="4002024"/>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Play money artwork</a:t>
            </a:r>
          </a:p>
        </p:txBody>
      </p:sp>
      <p:sp>
        <p:nvSpPr>
          <p:cNvPr id="22" name="TextBox 21"/>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ISITHOMBE · R-IMG-03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IPHOSTA R-P08</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R-D2-05</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5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Qhathanisa</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Bala ithini</a:t>
            </a:r>
          </a:p>
          <a:p>
            <a:pPr algn="l" marL="412750" indent="-412750">
              <a:spcAft>
                <a:spcPts val="1800"/>
              </a:spcAft>
            </a:pPr>
            <a:r>
              <a:rPr sz="2600" b="1">
                <a:solidFill>
                  <a:srgbClr val="2A8C82"/>
                </a:solidFill>
                <a:latin typeface="Calibri"/>
              </a:rPr>
              <a:t>●  </a:t>
            </a:r>
            <a:r>
              <a:rPr sz="2600" b="0">
                <a:solidFill>
                  <a:srgbClr val="2B2B2B"/>
                </a:solidFill>
                <a:latin typeface="Calibri"/>
              </a:rPr>
              <a:t>Liyafana nencwadi?</a:t>
            </a:r>
          </a:p>
          <a:p>
            <a:pPr algn="l" marL="412750" indent="-412750">
              <a:spcAft>
                <a:spcPts val="1800"/>
              </a:spcAft>
            </a:pPr>
            <a:r>
              <a:rPr sz="2600" b="1">
                <a:solidFill>
                  <a:srgbClr val="2A8C82"/>
                </a:solidFill>
                <a:latin typeface="Calibri"/>
              </a:rPr>
              <a:t>●  </a:t>
            </a:r>
            <a:r>
              <a:rPr sz="2600" b="0">
                <a:solidFill>
                  <a:srgbClr val="2B2B2B"/>
                </a:solidFill>
                <a:latin typeface="Calibri"/>
              </a:rPr>
              <a:t>Cha? Thola umugqa.</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R-P08 · The money book</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R-P08-ART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IPHOSTA R-P08</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R-D2-06</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6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11003280" cy="571500"/>
          </a:xfrm>
          <a:prstGeom prst="rect">
            <a:avLst/>
          </a:prstGeom>
          <a:noFill/>
        </p:spPr>
        <p:txBody>
          <a:bodyPr wrap="square" anchor="t" lIns="45720" rIns="45720" tIns="0" bIns="0">
            <a:spAutoFit/>
          </a:bodyPr>
          <a:lstStyle/>
          <a:p>
            <a:pPr algn="l">
              <a:lnSpc>
                <a:spcPct val="95000"/>
              </a:lnSpc>
              <a:spcAft>
                <a:spcPts val="800"/>
              </a:spcAft>
            </a:pPr>
            <a:r>
              <a:rPr sz="3600" b="1">
                <a:solidFill>
                  <a:srgbClr val="2B2B2B"/>
                </a:solidFill>
                <a:latin typeface="Arial Rounded MT Bold"/>
              </a:rPr>
              <a:t>Ukuthengisa akusiyo imali esandleni</a:t>
            </a:r>
          </a:p>
        </p:txBody>
      </p:sp>
      <p:sp>
        <p:nvSpPr>
          <p:cNvPr id="8" name="Rounded Rectangle 7"/>
          <p:cNvSpPr/>
          <p:nvPr/>
        </p:nvSpPr>
        <p:spPr>
          <a:xfrm>
            <a:off x="640080" y="148590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51660"/>
            <a:ext cx="11003280" cy="4137660"/>
          </a:xfrm>
          <a:prstGeom prst="rect">
            <a:avLst/>
          </a:prstGeom>
          <a:noFill/>
        </p:spPr>
        <p:txBody>
          <a:bodyPr wrap="square" anchor="t" lIns="45720" rIns="45720" tIns="0" bIns="0">
            <a:spAutoFit/>
          </a:bodyPr>
          <a:lstStyle/>
          <a:p>
            <a:pPr algn="l" marL="508000" indent="-508000">
              <a:spcAft>
                <a:spcPts val="1800"/>
              </a:spcAft>
            </a:pPr>
            <a:r>
              <a:rPr sz="3200" b="1">
                <a:solidFill>
                  <a:srgbClr val="2A8C82"/>
                </a:solidFill>
                <a:latin typeface="Calibri"/>
              </a:rPr>
              <a:t>●  </a:t>
            </a:r>
            <a:r>
              <a:rPr sz="3200" b="0">
                <a:solidFill>
                  <a:srgbClr val="2B2B2B"/>
                </a:solidFill>
                <a:latin typeface="Calibri"/>
              </a:rPr>
              <a:t>Kuthengiswe okungu-R590 kuleli sonto</a:t>
            </a:r>
          </a:p>
          <a:p>
            <a:pPr algn="l" marL="508000" indent="-508000">
              <a:spcAft>
                <a:spcPts val="1800"/>
              </a:spcAft>
            </a:pPr>
            <a:r>
              <a:rPr sz="3200" b="1">
                <a:solidFill>
                  <a:srgbClr val="2A8C82"/>
                </a:solidFill>
                <a:latin typeface="Calibri"/>
              </a:rPr>
              <a:t>●  </a:t>
            </a:r>
            <a:r>
              <a:rPr sz="3200" b="0">
                <a:solidFill>
                  <a:srgbClr val="2B2B2B"/>
                </a:solidFill>
                <a:latin typeface="Calibri"/>
              </a:rPr>
              <a:t>Imali engenile: R390</a:t>
            </a:r>
          </a:p>
          <a:p>
            <a:pPr algn="l" marL="508000" indent="-508000">
              <a:spcAft>
                <a:spcPts val="1800"/>
              </a:spcAft>
            </a:pPr>
            <a:r>
              <a:rPr sz="3200" b="1">
                <a:solidFill>
                  <a:srgbClr val="2A8C82"/>
                </a:solidFill>
                <a:latin typeface="Calibri"/>
              </a:rPr>
              <a:t>●  </a:t>
            </a:r>
            <a:r>
              <a:rPr sz="3200" b="0">
                <a:solidFill>
                  <a:srgbClr val="2B2B2B"/>
                </a:solidFill>
                <a:latin typeface="Calibri"/>
              </a:rPr>
              <a:t>Isipaza sikweleta R200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TextBox 1"/>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R-D2-07</a:t>
            </a:r>
          </a:p>
        </p:txBody>
      </p:sp>
      <p:sp>
        <p:nvSpPr>
          <p:cNvPr id="3" name="TextBox 2"/>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7 / 26</a:t>
            </a:r>
          </a:p>
        </p:txBody>
      </p:sp>
      <p:sp>
        <p:nvSpPr>
          <p:cNvPr id="4" name="Rounded Rectangle 3"/>
          <p:cNvSpPr/>
          <p:nvPr/>
        </p:nvSpPr>
        <p:spPr>
          <a:xfrm>
            <a:off x="10454640" y="411480"/>
            <a:ext cx="1143000" cy="320040"/>
          </a:xfrm>
          <a:prstGeom prst="roundRect">
            <a:avLst>
              <a:gd name="adj" fmla="val 50000"/>
            </a:avLst>
          </a:prstGeom>
          <a:solidFill>
            <a:srgbClr val="E06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640" y="411480"/>
            <a:ext cx="1143000" cy="320040"/>
          </a:xfrm>
          <a:prstGeom prst="rect">
            <a:avLst/>
          </a:prstGeom>
          <a:noFill/>
        </p:spPr>
        <p:txBody>
          <a:bodyPr wrap="square" anchor="ctr" lIns="45720" rIns="45720" tIns="0" bIns="0">
            <a:spAutoFit/>
          </a:bodyPr>
          <a:lstStyle/>
          <a:p>
            <a:pPr algn="ctr">
              <a:spcAft>
                <a:spcPts val="800"/>
              </a:spcAft>
            </a:pPr>
            <a:r>
              <a:rPr sz="1200" b="1">
                <a:solidFill>
                  <a:srgbClr val="FFFFFF"/>
                </a:solidFill>
                <a:latin typeface="Calibri"/>
              </a:rPr>
              <a:t>APP</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9723120" cy="944880"/>
          </a:xfrm>
          <a:prstGeom prst="rect">
            <a:avLst/>
          </a:prstGeom>
          <a:noFill/>
        </p:spPr>
        <p:txBody>
          <a:bodyPr wrap="square" anchor="t" lIns="45720" rIns="45720" tIns="0" bIns="0">
            <a:spAutoFit/>
          </a:bodyPr>
          <a:lstStyle/>
          <a:p>
            <a:pPr algn="l">
              <a:lnSpc>
                <a:spcPct val="95000"/>
              </a:lnSpc>
              <a:spcAft>
                <a:spcPts val="800"/>
              </a:spcAft>
            </a:pPr>
            <a:r>
              <a:rPr sz="3200" b="1">
                <a:solidFill>
                  <a:srgbClr val="2B2B2B"/>
                </a:solidFill>
                <a:latin typeface="Arial Rounded MT Bold"/>
              </a:rPr>
              <a:t>My Records (Amarekhodi Ami): Sold and Spent</a:t>
            </a:r>
          </a:p>
        </p:txBody>
      </p:sp>
      <p:sp>
        <p:nvSpPr>
          <p:cNvPr id="8" name="Rounded Rectangle 7"/>
          <p:cNvSpPr/>
          <p:nvPr/>
        </p:nvSpPr>
        <p:spPr>
          <a:xfrm>
            <a:off x="640080" y="185928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225040"/>
            <a:ext cx="5074920" cy="376428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Picked · Sold · Spent · Charts</a:t>
            </a:r>
          </a:p>
          <a:p>
            <a:pPr algn="l" marL="412750" indent="-412750">
              <a:spcAft>
                <a:spcPts val="1800"/>
              </a:spcAft>
            </a:pPr>
            <a:r>
              <a:rPr sz="2600" b="1">
                <a:solidFill>
                  <a:srgbClr val="2A8C82"/>
                </a:solidFill>
                <a:latin typeface="Calibri"/>
              </a:rPr>
              <a:t>●  </a:t>
            </a:r>
            <a:r>
              <a:rPr sz="2600" b="0">
                <a:solidFill>
                  <a:srgbClr val="2B2B2B"/>
                </a:solidFill>
                <a:latin typeface="Calibri"/>
              </a:rPr>
              <a:t>Sold → Quick sale entry</a:t>
            </a:r>
          </a:p>
          <a:p>
            <a:pPr algn="l" marL="412750" indent="-412750">
              <a:spcAft>
                <a:spcPts val="1800"/>
              </a:spcAft>
            </a:pPr>
            <a:r>
              <a:rPr sz="2600" b="1">
                <a:solidFill>
                  <a:srgbClr val="2A8C82"/>
                </a:solidFill>
                <a:latin typeface="Calibri"/>
              </a:rPr>
              <a:t>●  </a:t>
            </a:r>
            <a:r>
              <a:rPr sz="2600" b="0">
                <a:solidFill>
                  <a:srgbClr val="2B2B2B"/>
                </a:solidFill>
                <a:latin typeface="Calibri"/>
              </a:rPr>
              <a:t>Spent → New entry</a:t>
            </a:r>
          </a:p>
        </p:txBody>
      </p:sp>
      <p:sp>
        <p:nvSpPr>
          <p:cNvPr id="10" name="Rounded Rectangle 9"/>
          <p:cNvSpPr/>
          <p:nvPr/>
        </p:nvSpPr>
        <p:spPr>
          <a:xfrm>
            <a:off x="5989320" y="2133600"/>
            <a:ext cx="5608320" cy="381000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old.png"/>
          <p:cNvPicPr>
            <a:picLocks noChangeAspect="1"/>
          </p:cNvPicPr>
          <p:nvPr/>
        </p:nvPicPr>
        <p:blipFill>
          <a:blip r:embed="rId2"/>
          <a:stretch>
            <a:fillRect/>
          </a:stretch>
        </p:blipFill>
        <p:spPr>
          <a:xfrm>
            <a:off x="6153912" y="2310882"/>
            <a:ext cx="5279136" cy="345543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TextBox 1"/>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R-D2-08</a:t>
            </a:r>
          </a:p>
        </p:txBody>
      </p:sp>
      <p:sp>
        <p:nvSpPr>
          <p:cNvPr id="3" name="TextBox 2"/>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8 / 26</a:t>
            </a:r>
          </a:p>
        </p:txBody>
      </p:sp>
      <p:sp>
        <p:nvSpPr>
          <p:cNvPr id="4" name="TextBox 3"/>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5" name="TextBox 4"/>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Incwadi yami yemali</a:t>
            </a:r>
          </a:p>
        </p:txBody>
      </p:sp>
      <p:sp>
        <p:nvSpPr>
          <p:cNvPr id="6" name="Rounded Rectangle 5"/>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Bhala igama lakho ekhaveni</a:t>
            </a:r>
          </a:p>
          <a:p>
            <a:pPr algn="l" marL="412750" indent="-412750">
              <a:spcAft>
                <a:spcPts val="1800"/>
              </a:spcAft>
            </a:pPr>
            <a:r>
              <a:rPr sz="2600" b="1">
                <a:solidFill>
                  <a:srgbClr val="2A8C82"/>
                </a:solidFill>
                <a:latin typeface="Calibri"/>
              </a:rPr>
              <a:t>●  </a:t>
            </a:r>
            <a:r>
              <a:rPr sz="2600" b="0">
                <a:solidFill>
                  <a:srgbClr val="2B2B2B"/>
                </a:solidFill>
                <a:latin typeface="Calibri"/>
              </a:rPr>
              <a:t>Zijwayeze: uMsombuluko weSizanani</a:t>
            </a:r>
          </a:p>
          <a:p>
            <a:pPr algn="l" marL="412750" indent="-412750">
              <a:spcAft>
                <a:spcPts val="1800"/>
              </a:spcAft>
            </a:pPr>
            <a:r>
              <a:rPr sz="2600" b="1">
                <a:solidFill>
                  <a:srgbClr val="2A8C82"/>
                </a:solidFill>
                <a:latin typeface="Calibri"/>
              </a:rPr>
              <a:t>●  </a:t>
            </a:r>
            <a:r>
              <a:rPr sz="2600" b="0">
                <a:solidFill>
                  <a:srgbClr val="2B2B2B"/>
                </a:solidFill>
                <a:latin typeface="Calibri"/>
              </a:rPr>
              <a:t>Kusukela namuhla ebusuku: ingadi yakho</a:t>
            </a:r>
          </a:p>
        </p:txBody>
      </p:sp>
      <p:sp>
        <p:nvSpPr>
          <p:cNvPr id="8" name="Rounded Rectangle 7"/>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1" name="TextBox 10"/>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 real money book page and tin</a:t>
            </a:r>
          </a:p>
        </p:txBody>
      </p:sp>
      <p:sp>
        <p:nvSpPr>
          <p:cNvPr id="12" name="TextBox 11"/>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ISITHOMBE · R-PHO-01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4B2E4F"/>
        </a:solidFill>
        <a:effectLst/>
      </p:bgPr>
    </p:bg>
    <p:spTree>
      <p:nvGrpSpPr>
        <p:cNvPr id="1" name=""/>
        <p:cNvGrpSpPr/>
        <p:nvPr/>
      </p:nvGrpSpPr>
      <p:grpSpPr/>
      <p:sp>
        <p:nvSpPr>
          <p:cNvPr id="2" name="Oval 1"/>
          <p:cNvSpPr/>
          <p:nvPr/>
        </p:nvSpPr>
        <p:spPr>
          <a:xfrm>
            <a:off x="-1005840" y="-914400"/>
            <a:ext cx="3108960" cy="2860243"/>
          </a:xfrm>
          <a:prstGeom prst="ellipse">
            <a:avLst/>
          </a:prstGeom>
          <a:solidFill>
            <a:srgbClr val="2A8C8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20400" y="2194560"/>
            <a:ext cx="2651760" cy="2439619"/>
          </a:xfrm>
          <a:prstGeom prst="ellipse">
            <a:avLst/>
          </a:prstGeom>
          <a:solidFill>
            <a:srgbClr val="E0664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265920" y="-548640"/>
            <a:ext cx="1188720" cy="1093622"/>
          </a:xfrm>
          <a:prstGeom prst="ellipse">
            <a:avLst/>
          </a:prstGeom>
          <a:solidFill>
            <a:srgbClr val="FFF4E0">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120640" y="-411480"/>
            <a:ext cx="868680" cy="799185"/>
          </a:xfrm>
          <a:prstGeom prst="ellipse">
            <a:avLst/>
          </a:prstGeom>
          <a:solidFill>
            <a:srgbClr val="E0664A">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6272784"/>
            <a:ext cx="1316228" cy="266700"/>
          </a:xfrm>
          <a:prstGeom prst="roundRect">
            <a:avLst>
              <a:gd name="adj" fmla="val 50000"/>
            </a:avLst>
          </a:prstGeom>
          <a:noFill/>
          <a:ln w="15875">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FFF4E0"/>
                </a:solidFill>
                <a:latin typeface="Calibri"/>
              </a:rPr>
              <a:t>IPHOSTA R-P09</a:t>
            </a:r>
          </a:p>
        </p:txBody>
      </p:sp>
      <p:sp>
        <p:nvSpPr>
          <p:cNvPr id="8" name="TextBox 7"/>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B7A5A6"/>
                </a:solidFill>
                <a:latin typeface="Calibri"/>
              </a:rPr>
              <a:t>Farmer Money  ·  R-D2-09</a:t>
            </a:r>
          </a:p>
        </p:txBody>
      </p:sp>
      <p:sp>
        <p:nvSpPr>
          <p:cNvPr id="9" name="TextBox 8"/>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B7A5A6"/>
                </a:solidFill>
                <a:latin typeface="Calibri"/>
              </a:rPr>
              <a:t>9 / 26</a:t>
            </a:r>
          </a:p>
        </p:txBody>
      </p:sp>
      <p:sp>
        <p:nvSpPr>
          <p:cNvPr id="10" name="TextBox 9"/>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D2C2BC"/>
                </a:solidFill>
                <a:latin typeface="Calibri"/>
              </a:rPr>
              <a:t>USUKU 2</a:t>
            </a:r>
          </a:p>
        </p:txBody>
      </p:sp>
      <p:sp>
        <p:nvSpPr>
          <p:cNvPr id="11" name="TextBox 10"/>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FF4E0"/>
                </a:solidFill>
                <a:latin typeface="Arial Rounded MT Bold"/>
              </a:rPr>
              <a:t>Isivuno saya kuphi?</a:t>
            </a:r>
          </a:p>
        </p:txBody>
      </p:sp>
      <p:sp>
        <p:nvSpPr>
          <p:cNvPr id="12" name="Rounded Rectangle 11"/>
          <p:cNvSpPr/>
          <p:nvPr/>
        </p:nvSpPr>
        <p:spPr>
          <a:xfrm>
            <a:off x="822960" y="3639312"/>
            <a:ext cx="1463040" cy="128016"/>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E4D6CA"/>
                </a:solidFill>
                <a:latin typeface="Calibri"/>
              </a:rPr>
              <a:t>Kudliwe · kuphiwe abanye · kuthengisiwe · kulahlekile</a:t>
            </a:r>
          </a:p>
        </p:txBody>
      </p:sp>
      <p:sp>
        <p:nvSpPr>
          <p:cNvPr id="14" name="Rounded Rectangle 13"/>
          <p:cNvSpPr/>
          <p:nvPr/>
        </p:nvSpPr>
        <p:spPr>
          <a:xfrm>
            <a:off x="7452360" y="914400"/>
            <a:ext cx="4114800" cy="42062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98280" y="2057400"/>
            <a:ext cx="822960" cy="822960"/>
          </a:xfrm>
          <a:prstGeom prst="ellipse">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7" name="TextBox 16"/>
          <p:cNvSpPr txBox="1"/>
          <p:nvPr/>
        </p:nvSpPr>
        <p:spPr>
          <a:xfrm>
            <a:off x="7891272" y="3063240"/>
            <a:ext cx="323697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Where the harvest goes</a:t>
            </a:r>
          </a:p>
        </p:txBody>
      </p:sp>
      <p:sp>
        <p:nvSpPr>
          <p:cNvPr id="18" name="TextBox 17"/>
          <p:cNvSpPr txBox="1"/>
          <p:nvPr/>
        </p:nvSpPr>
        <p:spPr>
          <a:xfrm>
            <a:off x="7891272" y="4498848"/>
            <a:ext cx="323697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IVIDIYO · R-ANI-06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R-D2-10</a:t>
            </a:r>
          </a:p>
        </p:txBody>
      </p:sp>
      <p:sp>
        <p:nvSpPr>
          <p:cNvPr id="4" name="TextBox 3"/>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10 / 26</a:t>
            </a:r>
          </a:p>
        </p:txBody>
      </p:sp>
      <p:sp>
        <p:nvSpPr>
          <p:cNvPr id="5" name="Rounded Rectangle 4"/>
          <p:cNvSpPr/>
          <p:nvPr/>
        </p:nvSpPr>
        <p:spPr>
          <a:xfrm>
            <a:off x="731520" y="457200"/>
            <a:ext cx="1213866" cy="346710"/>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Calibri"/>
              </a:rPr>
              <a:t>SEBENZANI</a:t>
            </a:r>
          </a:p>
        </p:txBody>
      </p:sp>
      <p:sp>
        <p:nvSpPr>
          <p:cNvPr id="7" name="TextBox 6"/>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Vuna, bopha, bhala</a:t>
            </a:r>
          </a:p>
        </p:txBody>
      </p:sp>
      <p:sp>
        <p:nvSpPr>
          <p:cNvPr id="8" name="Rounded Rectangle 7"/>
          <p:cNvSpPr/>
          <p:nvPr/>
        </p:nvSpPr>
        <p:spPr>
          <a:xfrm>
            <a:off x="777240" y="1694688"/>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06044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1</a:t>
            </a:r>
          </a:p>
        </p:txBody>
      </p:sp>
      <p:sp>
        <p:nvSpPr>
          <p:cNvPr id="11" name="TextBox 10"/>
          <p:cNvSpPr txBox="1"/>
          <p:nvPr/>
        </p:nvSpPr>
        <p:spPr>
          <a:xfrm>
            <a:off x="1508760" y="2106168"/>
            <a:ext cx="4160520" cy="1274064"/>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Vunani izixha ezi-5 — amaqabunga angaphandle</a:t>
            </a:r>
          </a:p>
        </p:txBody>
      </p:sp>
      <p:sp>
        <p:nvSpPr>
          <p:cNvPr id="12" name="Oval 11"/>
          <p:cNvSpPr/>
          <p:nvPr/>
        </p:nvSpPr>
        <p:spPr>
          <a:xfrm>
            <a:off x="731520" y="3425952"/>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42595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2</a:t>
            </a:r>
          </a:p>
        </p:txBody>
      </p:sp>
      <p:sp>
        <p:nvSpPr>
          <p:cNvPr id="14" name="TextBox 13"/>
          <p:cNvSpPr txBox="1"/>
          <p:nvPr/>
        </p:nvSpPr>
        <p:spPr>
          <a:xfrm>
            <a:off x="1508760" y="3471672"/>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Kalani isixha esisodwa</a:t>
            </a:r>
          </a:p>
        </p:txBody>
      </p:sp>
      <p:sp>
        <p:nvSpPr>
          <p:cNvPr id="15" name="Oval 14"/>
          <p:cNvSpPr/>
          <p:nvPr/>
        </p:nvSpPr>
        <p:spPr>
          <a:xfrm>
            <a:off x="731520" y="4421632"/>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42163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3</a:t>
            </a:r>
          </a:p>
        </p:txBody>
      </p:sp>
      <p:sp>
        <p:nvSpPr>
          <p:cNvPr id="17" name="TextBox 16"/>
          <p:cNvSpPr txBox="1"/>
          <p:nvPr/>
        </p:nvSpPr>
        <p:spPr>
          <a:xfrm>
            <a:off x="1508760" y="4467352"/>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2B2B2B"/>
                </a:solidFill>
                <a:latin typeface="Calibri"/>
              </a:rPr>
              <a:t>Gcwalisani irekhodi lesivuno (25 min)</a:t>
            </a:r>
          </a:p>
        </p:txBody>
      </p:sp>
      <p:sp>
        <p:nvSpPr>
          <p:cNvPr id="18" name="Rounded Rectangle 17"/>
          <p:cNvSpPr/>
          <p:nvPr/>
        </p:nvSpPr>
        <p:spPr>
          <a:xfrm>
            <a:off x="5989320" y="1969008"/>
            <a:ext cx="5608320" cy="3974592"/>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82000" y="2996184"/>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21" name="TextBox 20"/>
          <p:cNvSpPr txBox="1"/>
          <p:nvPr/>
        </p:nvSpPr>
        <p:spPr>
          <a:xfrm>
            <a:off x="6428232" y="4002024"/>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Bunches weighed and counted</a:t>
            </a:r>
          </a:p>
        </p:txBody>
      </p:sp>
      <p:sp>
        <p:nvSpPr>
          <p:cNvPr id="22" name="TextBox 21"/>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ISITHOMBE · R-IMG-07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IPHOSTA R-P09</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R-D2-11</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11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11003280" cy="571500"/>
          </a:xfrm>
          <a:prstGeom prst="rect">
            <a:avLst/>
          </a:prstGeom>
          <a:noFill/>
        </p:spPr>
        <p:txBody>
          <a:bodyPr wrap="square" anchor="t" lIns="45720" rIns="45720" tIns="0" bIns="0">
            <a:spAutoFit/>
          </a:bodyPr>
          <a:lstStyle/>
          <a:p>
            <a:pPr algn="l">
              <a:lnSpc>
                <a:spcPct val="95000"/>
              </a:lnSpc>
              <a:spcAft>
                <a:spcPts val="800"/>
              </a:spcAft>
            </a:pPr>
            <a:r>
              <a:rPr sz="3600" b="1">
                <a:solidFill>
                  <a:srgbClr val="2B2B2B"/>
                </a:solidFill>
                <a:latin typeface="Arial Rounded MT Bold"/>
              </a:rPr>
              <a:t>Ukudla okudliwe kuyimali eyongiwe</a:t>
            </a:r>
          </a:p>
        </p:txBody>
      </p:sp>
      <p:sp>
        <p:nvSpPr>
          <p:cNvPr id="8" name="Rounded Rectangle 7"/>
          <p:cNvSpPr/>
          <p:nvPr/>
        </p:nvSpPr>
        <p:spPr>
          <a:xfrm>
            <a:off x="640080" y="148590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51660"/>
            <a:ext cx="5074920" cy="413766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Izixha ezi-8 × R12 = R96</a:t>
            </a:r>
          </a:p>
          <a:p>
            <a:pPr algn="l" marL="412750" indent="-412750">
              <a:spcAft>
                <a:spcPts val="1800"/>
              </a:spcAft>
            </a:pPr>
            <a:r>
              <a:rPr sz="2600" b="1">
                <a:solidFill>
                  <a:srgbClr val="2A8C82"/>
                </a:solidFill>
                <a:latin typeface="Calibri"/>
              </a:rPr>
              <a:t>●  </a:t>
            </a:r>
            <a:r>
              <a:rPr sz="2600" b="0">
                <a:solidFill>
                  <a:srgbClr val="2B2B2B"/>
                </a:solidFill>
                <a:latin typeface="Calibri"/>
              </a:rPr>
              <a:t>I-R96 yasala esikhwameni sikaGogo</a:t>
            </a:r>
          </a:p>
          <a:p>
            <a:pPr algn="l" marL="412750" indent="-412750">
              <a:spcAft>
                <a:spcPts val="1800"/>
              </a:spcAft>
            </a:pPr>
            <a:r>
              <a:rPr sz="2600" b="1">
                <a:solidFill>
                  <a:srgbClr val="2A8C82"/>
                </a:solidFill>
                <a:latin typeface="Calibri"/>
              </a:rPr>
              <a:t>●  </a:t>
            </a:r>
            <a:r>
              <a:rPr sz="2600" b="0">
                <a:solidFill>
                  <a:srgbClr val="2B2B2B"/>
                </a:solidFill>
                <a:latin typeface="Calibri"/>
              </a:rPr>
              <a:t>Isizini: R480 engasetshenziswanga</a:t>
            </a:r>
          </a:p>
        </p:txBody>
      </p:sp>
      <p:sp>
        <p:nvSpPr>
          <p:cNvPr id="10" name="Rounded Rectangle 9"/>
          <p:cNvSpPr/>
          <p:nvPr/>
        </p:nvSpPr>
        <p:spPr>
          <a:xfrm>
            <a:off x="5989320" y="1760220"/>
            <a:ext cx="5608320" cy="418338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89179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89179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89763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R-P09 · Where did the harvest go?</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R-P09-ART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IPHOSTA R-P10</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R-D2-12</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12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Bala zonke izindleko</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Imbewu · i-compost · amanzi · imali yokugibela</a:t>
            </a:r>
          </a:p>
          <a:p>
            <a:pPr algn="l" marL="412750" indent="-412750">
              <a:spcAft>
                <a:spcPts val="1800"/>
              </a:spcAft>
            </a:pPr>
            <a:r>
              <a:rPr sz="2600" b="1">
                <a:solidFill>
                  <a:srgbClr val="2A8C82"/>
                </a:solidFill>
                <a:latin typeface="Calibri"/>
              </a:rPr>
              <a:t>●  </a:t>
            </a:r>
            <a:r>
              <a:rPr sz="2600" b="0">
                <a:solidFill>
                  <a:srgbClr val="2B2B2B"/>
                </a:solidFill>
                <a:latin typeface="Calibri"/>
              </a:rPr>
              <a:t>Amarabha, izikhwama, amathuluzi</a:t>
            </a:r>
          </a:p>
          <a:p>
            <a:pPr algn="l" marL="412750" indent="-412750">
              <a:spcAft>
                <a:spcPts val="1800"/>
              </a:spcAft>
            </a:pPr>
            <a:r>
              <a:rPr sz="2600" b="1">
                <a:solidFill>
                  <a:srgbClr val="2A8C82"/>
                </a:solidFill>
                <a:latin typeface="Calibri"/>
              </a:rPr>
              <a:t>●  </a:t>
            </a:r>
            <a:r>
              <a:rPr sz="2600" b="0">
                <a:solidFill>
                  <a:srgbClr val="2B2B2B"/>
                </a:solidFill>
                <a:latin typeface="Calibri"/>
              </a:rPr>
              <a:t>Isikhathi sakho</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R-P10 · Count every cost</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R-P10-ART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R-D2-13</a:t>
            </a:r>
          </a:p>
        </p:txBody>
      </p:sp>
      <p:sp>
        <p:nvSpPr>
          <p:cNvPr id="4" name="TextBox 3"/>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13 / 26</a:t>
            </a:r>
          </a:p>
        </p:txBody>
      </p:sp>
      <p:sp>
        <p:nvSpPr>
          <p:cNvPr id="5" name="Rounded Rectangle 4"/>
          <p:cNvSpPr/>
          <p:nvPr/>
        </p:nvSpPr>
        <p:spPr>
          <a:xfrm>
            <a:off x="731520" y="457200"/>
            <a:ext cx="1213866" cy="346710"/>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Calibri"/>
              </a:rPr>
              <a:t>SEBENZANI</a:t>
            </a:r>
          </a:p>
        </p:txBody>
      </p:sp>
      <p:sp>
        <p:nvSpPr>
          <p:cNvPr id="7" name="TextBox 6"/>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Umbhede wesipinashi kaLerato</a:t>
            </a:r>
          </a:p>
        </p:txBody>
      </p:sp>
      <p:sp>
        <p:nvSpPr>
          <p:cNvPr id="8" name="Rounded Rectangle 7"/>
          <p:cNvSpPr/>
          <p:nvPr/>
        </p:nvSpPr>
        <p:spPr>
          <a:xfrm>
            <a:off x="777240" y="1694688"/>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06044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1</a:t>
            </a:r>
          </a:p>
        </p:txBody>
      </p:sp>
      <p:sp>
        <p:nvSpPr>
          <p:cNvPr id="11" name="TextBox 10"/>
          <p:cNvSpPr txBox="1"/>
          <p:nvPr/>
        </p:nvSpPr>
        <p:spPr>
          <a:xfrm>
            <a:off x="1508760" y="2106168"/>
            <a:ext cx="4160520" cy="1188720"/>
          </a:xfrm>
          <a:prstGeom prst="rect">
            <a:avLst/>
          </a:prstGeom>
          <a:noFill/>
        </p:spPr>
        <p:txBody>
          <a:bodyPr wrap="square" anchor="t" lIns="45720" rIns="45720" tIns="0" bIns="0">
            <a:spAutoFit/>
          </a:bodyPr>
          <a:lstStyle/>
          <a:p>
            <a:pPr algn="l">
              <a:lnSpc>
                <a:spcPct val="95000"/>
              </a:lnSpc>
              <a:spcAft>
                <a:spcPts val="800"/>
              </a:spcAft>
            </a:pPr>
            <a:r>
              <a:rPr sz="2400" b="1">
                <a:solidFill>
                  <a:srgbClr val="2B2B2B"/>
                </a:solidFill>
                <a:latin typeface="Calibri"/>
              </a:rPr>
              <a:t>Amakhadi ezindleko ayi-12, izinqwaba ezimbili</a:t>
            </a:r>
          </a:p>
        </p:txBody>
      </p:sp>
      <p:sp>
        <p:nvSpPr>
          <p:cNvPr id="12" name="Oval 11"/>
          <p:cNvSpPr/>
          <p:nvPr/>
        </p:nvSpPr>
        <p:spPr>
          <a:xfrm>
            <a:off x="731520" y="334060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3406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2</a:t>
            </a:r>
          </a:p>
        </p:txBody>
      </p:sp>
      <p:sp>
        <p:nvSpPr>
          <p:cNvPr id="14" name="TextBox 13"/>
          <p:cNvSpPr txBox="1"/>
          <p:nvPr/>
        </p:nvSpPr>
        <p:spPr>
          <a:xfrm>
            <a:off x="1508760" y="3386328"/>
            <a:ext cx="4160520" cy="847344"/>
          </a:xfrm>
          <a:prstGeom prst="rect">
            <a:avLst/>
          </a:prstGeom>
          <a:noFill/>
        </p:spPr>
        <p:txBody>
          <a:bodyPr wrap="square" anchor="t" lIns="45720" rIns="45720" tIns="0" bIns="0">
            <a:spAutoFit/>
          </a:bodyPr>
          <a:lstStyle/>
          <a:p>
            <a:pPr algn="l">
              <a:lnSpc>
                <a:spcPct val="95000"/>
              </a:lnSpc>
              <a:spcAft>
                <a:spcPts val="800"/>
              </a:spcAft>
            </a:pPr>
            <a:r>
              <a:rPr sz="2400" b="1">
                <a:solidFill>
                  <a:srgbClr val="2B2B2B"/>
                </a:solidFill>
                <a:latin typeface="Calibri"/>
              </a:rPr>
              <a:t>Hlanganisani izindleko zemali</a:t>
            </a:r>
          </a:p>
        </p:txBody>
      </p:sp>
      <p:sp>
        <p:nvSpPr>
          <p:cNvPr id="15" name="Oval 14"/>
          <p:cNvSpPr/>
          <p:nvPr/>
        </p:nvSpPr>
        <p:spPr>
          <a:xfrm>
            <a:off x="731520" y="4279392"/>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7939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3</a:t>
            </a:r>
          </a:p>
        </p:txBody>
      </p:sp>
      <p:sp>
        <p:nvSpPr>
          <p:cNvPr id="17" name="TextBox 16"/>
          <p:cNvSpPr txBox="1"/>
          <p:nvPr/>
        </p:nvSpPr>
        <p:spPr>
          <a:xfrm>
            <a:off x="1508760" y="4325112"/>
            <a:ext cx="4160520" cy="1530096"/>
          </a:xfrm>
          <a:prstGeom prst="rect">
            <a:avLst/>
          </a:prstGeom>
          <a:noFill/>
        </p:spPr>
        <p:txBody>
          <a:bodyPr wrap="square" anchor="t" lIns="45720" rIns="45720" tIns="0" bIns="0">
            <a:spAutoFit/>
          </a:bodyPr>
          <a:lstStyle/>
          <a:p>
            <a:pPr algn="l">
              <a:lnSpc>
                <a:spcPct val="95000"/>
              </a:lnSpc>
              <a:spcAft>
                <a:spcPts val="800"/>
              </a:spcAft>
            </a:pPr>
            <a:r>
              <a:rPr sz="2400" b="1">
                <a:solidFill>
                  <a:srgbClr val="2B2B2B"/>
                </a:solidFill>
                <a:latin typeface="Calibri"/>
              </a:rPr>
              <a:t>Imali yokudlala kuqala, ikhalkhuletha ekugcineni (20 min)</a:t>
            </a:r>
          </a:p>
        </p:txBody>
      </p:sp>
      <p:sp>
        <p:nvSpPr>
          <p:cNvPr id="18" name="Rounded Rectangle 17"/>
          <p:cNvSpPr/>
          <p:nvPr/>
        </p:nvSpPr>
        <p:spPr>
          <a:xfrm>
            <a:off x="5989320" y="1969008"/>
            <a:ext cx="5608320" cy="3974592"/>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82000" y="2996184"/>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21" name="TextBox 20"/>
          <p:cNvSpPr txBox="1"/>
          <p:nvPr/>
        </p:nvSpPr>
        <p:spPr>
          <a:xfrm>
            <a:off x="6428232" y="4002024"/>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Cost cards (12)</a:t>
            </a:r>
          </a:p>
        </p:txBody>
      </p:sp>
      <p:sp>
        <p:nvSpPr>
          <p:cNvPr id="22" name="TextBox 21"/>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ISITHOMBE · R-IMG-09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IPHOSTA R-P10</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R-D2-14</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14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Izindleko zesizini</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Izindleko zemali: R510</a:t>
            </a:r>
          </a:p>
          <a:p>
            <a:pPr algn="l" marL="412750" indent="-412750">
              <a:spcAft>
                <a:spcPts val="1800"/>
              </a:spcAft>
            </a:pPr>
            <a:r>
              <a:rPr sz="2600" b="1">
                <a:solidFill>
                  <a:srgbClr val="2A8C82"/>
                </a:solidFill>
                <a:latin typeface="Calibri"/>
              </a:rPr>
              <a:t>●  </a:t>
            </a:r>
            <a:r>
              <a:rPr sz="2600" b="0">
                <a:solidFill>
                  <a:srgbClr val="2B2B2B"/>
                </a:solidFill>
                <a:latin typeface="Calibri"/>
              </a:rPr>
              <a:t>Kanye namahora angu-44 esikhathi sakhe</a:t>
            </a:r>
          </a:p>
          <a:p>
            <a:pPr algn="l" marL="412750" indent="-412750">
              <a:spcAft>
                <a:spcPts val="1800"/>
              </a:spcAft>
            </a:pPr>
            <a:r>
              <a:rPr sz="2600" b="1">
                <a:solidFill>
                  <a:srgbClr val="2A8C82"/>
                </a:solidFill>
                <a:latin typeface="Calibri"/>
              </a:rPr>
              <a:t>●  </a:t>
            </a:r>
            <a:r>
              <a:rPr sz="2600" b="0">
                <a:solidFill>
                  <a:srgbClr val="2B2B2B"/>
                </a:solidFill>
                <a:latin typeface="Calibri"/>
              </a:rPr>
              <a:t>Kuvunwe izixha ezingu-150</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xpense-record.jpg"/>
          <p:cNvPicPr>
            <a:picLocks noChangeAspect="1"/>
          </p:cNvPicPr>
          <p:nvPr/>
        </p:nvPicPr>
        <p:blipFill>
          <a:blip r:embed="rId2"/>
          <a:stretch>
            <a:fillRect/>
          </a:stretch>
        </p:blipFill>
        <p:spPr>
          <a:xfrm>
            <a:off x="6153912" y="2393033"/>
            <a:ext cx="5279136" cy="297109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TextBox 1"/>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R-D2-15</a:t>
            </a:r>
          </a:p>
        </p:txBody>
      </p:sp>
      <p:sp>
        <p:nvSpPr>
          <p:cNvPr id="3" name="TextBox 2"/>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15 / 26</a:t>
            </a:r>
          </a:p>
        </p:txBody>
      </p:sp>
      <p:sp>
        <p:nvSpPr>
          <p:cNvPr id="4" name="TextBox 3"/>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5" name="TextBox 4"/>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Gcina zonke izilipi</a:t>
            </a:r>
          </a:p>
        </p:txBody>
      </p:sp>
      <p:sp>
        <p:nvSpPr>
          <p:cNvPr id="6" name="Rounded Rectangle 5"/>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Dweba indilinga esambeni</a:t>
            </a:r>
          </a:p>
          <a:p>
            <a:pPr algn="l" marL="412750" indent="-412750">
              <a:spcAft>
                <a:spcPts val="1800"/>
              </a:spcAft>
            </a:pPr>
            <a:r>
              <a:rPr sz="2600" b="1">
                <a:solidFill>
                  <a:srgbClr val="2A8C82"/>
                </a:solidFill>
                <a:latin typeface="Calibri"/>
              </a:rPr>
              <a:t>●  </a:t>
            </a:r>
            <a:r>
              <a:rPr sz="2600" b="0">
                <a:solidFill>
                  <a:srgbClr val="2B2B2B"/>
                </a:solidFill>
                <a:latin typeface="Calibri"/>
              </a:rPr>
              <a:t>Yinamathisele, noma uyifake emvilophini</a:t>
            </a:r>
          </a:p>
          <a:p>
            <a:pPr algn="l" marL="412750" indent="-412750">
              <a:spcAft>
                <a:spcPts val="1800"/>
              </a:spcAft>
            </a:pPr>
            <a:r>
              <a:rPr sz="2600" b="1">
                <a:solidFill>
                  <a:srgbClr val="2A8C82"/>
                </a:solidFill>
                <a:latin typeface="Calibri"/>
              </a:rPr>
              <a:t>●  </a:t>
            </a:r>
            <a:r>
              <a:rPr sz="2600" b="0">
                <a:solidFill>
                  <a:srgbClr val="2B2B2B"/>
                </a:solidFill>
                <a:latin typeface="Calibri"/>
              </a:rPr>
              <a:t>Asikho isilipi? Bhala esakho</a:t>
            </a:r>
          </a:p>
        </p:txBody>
      </p:sp>
      <p:sp>
        <p:nvSpPr>
          <p:cNvPr id="8" name="Rounded Rectangle 7"/>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1" name="TextBox 10"/>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 till slip glued into the book</a:t>
            </a:r>
          </a:p>
        </p:txBody>
      </p:sp>
      <p:sp>
        <p:nvSpPr>
          <p:cNvPr id="12" name="TextBox 11"/>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ISITHOMBE · R-PHO-02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TextBox 1"/>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R-D2-16</a:t>
            </a:r>
          </a:p>
        </p:txBody>
      </p:sp>
      <p:sp>
        <p:nvSpPr>
          <p:cNvPr id="3" name="TextBox 2"/>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16 / 26</a:t>
            </a:r>
          </a:p>
        </p:txBody>
      </p:sp>
      <p:sp>
        <p:nvSpPr>
          <p:cNvPr id="4" name="Rounded Rectangle 3"/>
          <p:cNvSpPr/>
          <p:nvPr/>
        </p:nvSpPr>
        <p:spPr>
          <a:xfrm>
            <a:off x="10454640" y="411480"/>
            <a:ext cx="1143000" cy="320040"/>
          </a:xfrm>
          <a:prstGeom prst="roundRect">
            <a:avLst>
              <a:gd name="adj" fmla="val 50000"/>
            </a:avLst>
          </a:prstGeom>
          <a:solidFill>
            <a:srgbClr val="E06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640" y="411480"/>
            <a:ext cx="1143000" cy="320040"/>
          </a:xfrm>
          <a:prstGeom prst="rect">
            <a:avLst/>
          </a:prstGeom>
          <a:noFill/>
        </p:spPr>
        <p:txBody>
          <a:bodyPr wrap="square" anchor="ctr" lIns="45720" rIns="45720" tIns="0" bIns="0">
            <a:spAutoFit/>
          </a:bodyPr>
          <a:lstStyle/>
          <a:p>
            <a:pPr algn="ctr">
              <a:spcAft>
                <a:spcPts val="800"/>
              </a:spcAft>
            </a:pPr>
            <a:r>
              <a:rPr sz="1200" b="1">
                <a:solidFill>
                  <a:srgbClr val="FFFFFF"/>
                </a:solidFill>
                <a:latin typeface="Calibri"/>
              </a:rPr>
              <a:t>APP</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9723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Skena isilipi sasesitolo</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Spent → New entry</a:t>
            </a:r>
          </a:p>
          <a:p>
            <a:pPr algn="l" marL="412750" indent="-412750">
              <a:spcAft>
                <a:spcPts val="1800"/>
              </a:spcAft>
            </a:pPr>
            <a:r>
              <a:rPr sz="2600" b="1">
                <a:solidFill>
                  <a:srgbClr val="2A8C82"/>
                </a:solidFill>
                <a:latin typeface="Calibri"/>
              </a:rPr>
              <a:t>●  </a:t>
            </a:r>
            <a:r>
              <a:rPr sz="2600" b="0">
                <a:solidFill>
                  <a:srgbClr val="2B2B2B"/>
                </a:solidFill>
                <a:latin typeface="Calibri"/>
              </a:rPr>
              <a:t>Take photo → Read with Lima</a:t>
            </a:r>
          </a:p>
          <a:p>
            <a:pPr algn="l" marL="412750" indent="-412750">
              <a:spcAft>
                <a:spcPts val="1800"/>
              </a:spcAft>
            </a:pPr>
            <a:r>
              <a:rPr sz="2600" b="1">
                <a:solidFill>
                  <a:srgbClr val="2A8C82"/>
                </a:solidFill>
                <a:latin typeface="Calibri"/>
              </a:rPr>
              <a:t>●  </a:t>
            </a:r>
            <a:r>
              <a:rPr sz="2600" b="0">
                <a:solidFill>
                  <a:srgbClr val="2B2B2B"/>
                </a:solidFill>
                <a:latin typeface="Calibri"/>
              </a:rPr>
              <a:t>Hlola kahle, bese uyagcina</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pent-form.png"/>
          <p:cNvPicPr>
            <a:picLocks noChangeAspect="1"/>
          </p:cNvPicPr>
          <p:nvPr/>
        </p:nvPicPr>
        <p:blipFill>
          <a:blip r:embed="rId2"/>
          <a:stretch>
            <a:fillRect/>
          </a:stretch>
        </p:blipFill>
        <p:spPr>
          <a:xfrm>
            <a:off x="6153912" y="2150862"/>
            <a:ext cx="5279136" cy="345543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4B2E4F"/>
        </a:solidFill>
        <a:effectLst/>
      </p:bgPr>
    </p:bg>
    <p:spTree>
      <p:nvGrpSpPr>
        <p:cNvPr id="1" name=""/>
        <p:cNvGrpSpPr/>
        <p:nvPr/>
      </p:nvGrpSpPr>
      <p:grpSpPr/>
      <p:sp>
        <p:nvSpPr>
          <p:cNvPr id="2" name="Oval 1"/>
          <p:cNvSpPr/>
          <p:nvPr/>
        </p:nvSpPr>
        <p:spPr>
          <a:xfrm>
            <a:off x="-1005840" y="-914400"/>
            <a:ext cx="3108960" cy="2860243"/>
          </a:xfrm>
          <a:prstGeom prst="ellipse">
            <a:avLst/>
          </a:prstGeom>
          <a:solidFill>
            <a:srgbClr val="2A8C8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20400" y="2194560"/>
            <a:ext cx="2651760" cy="2439619"/>
          </a:xfrm>
          <a:prstGeom prst="ellipse">
            <a:avLst/>
          </a:prstGeom>
          <a:solidFill>
            <a:srgbClr val="E0664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265920" y="-548640"/>
            <a:ext cx="1188720" cy="1093622"/>
          </a:xfrm>
          <a:prstGeom prst="ellipse">
            <a:avLst/>
          </a:prstGeom>
          <a:solidFill>
            <a:srgbClr val="FFF4E0">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120640" y="-411480"/>
            <a:ext cx="868680" cy="799185"/>
          </a:xfrm>
          <a:prstGeom prst="ellipse">
            <a:avLst/>
          </a:prstGeom>
          <a:solidFill>
            <a:srgbClr val="E0664A">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6272784"/>
            <a:ext cx="1316228" cy="266700"/>
          </a:xfrm>
          <a:prstGeom prst="roundRect">
            <a:avLst>
              <a:gd name="adj" fmla="val 50000"/>
            </a:avLst>
          </a:prstGeom>
          <a:noFill/>
          <a:ln w="15875">
            <a:solidFill>
              <a:srgbClr val="FFF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FFF4E0"/>
                </a:solidFill>
                <a:latin typeface="Calibri"/>
              </a:rPr>
              <a:t>IPHOSTA R-P11</a:t>
            </a:r>
          </a:p>
        </p:txBody>
      </p:sp>
      <p:sp>
        <p:nvSpPr>
          <p:cNvPr id="8" name="TextBox 7"/>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B7A5A6"/>
                </a:solidFill>
                <a:latin typeface="Calibri"/>
              </a:rPr>
              <a:t>Farmer Money  ·  R-D2-17</a:t>
            </a:r>
          </a:p>
        </p:txBody>
      </p:sp>
      <p:sp>
        <p:nvSpPr>
          <p:cNvPr id="9" name="TextBox 8"/>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B7A5A6"/>
                </a:solidFill>
                <a:latin typeface="Calibri"/>
              </a:rPr>
              <a:t>17 / 26</a:t>
            </a:r>
          </a:p>
        </p:txBody>
      </p:sp>
      <p:sp>
        <p:nvSpPr>
          <p:cNvPr id="10" name="TextBox 9"/>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D2C2BC"/>
                </a:solidFill>
                <a:latin typeface="Calibri"/>
              </a:rPr>
              <a:t>USUKU 2</a:t>
            </a:r>
          </a:p>
        </p:txBody>
      </p:sp>
      <p:sp>
        <p:nvSpPr>
          <p:cNvPr id="11" name="TextBox 10"/>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FF4E0"/>
                </a:solidFill>
                <a:latin typeface="Arial Rounded MT Bold"/>
              </a:rPr>
              <a:t>Isixha esisodwa</a:t>
            </a:r>
          </a:p>
        </p:txBody>
      </p:sp>
      <p:sp>
        <p:nvSpPr>
          <p:cNvPr id="12" name="Rounded Rectangle 11"/>
          <p:cNvSpPr/>
          <p:nvPr/>
        </p:nvSpPr>
        <p:spPr>
          <a:xfrm>
            <a:off x="822960" y="3639312"/>
            <a:ext cx="1463040" cy="128016"/>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E4D6CA"/>
                </a:solidFill>
                <a:latin typeface="Calibri"/>
              </a:rPr>
              <a:t>Izindleko · intengo · inzuzo</a:t>
            </a:r>
          </a:p>
        </p:txBody>
      </p:sp>
      <p:sp>
        <p:nvSpPr>
          <p:cNvPr id="14" name="Rounded Rectangle 13"/>
          <p:cNvSpPr/>
          <p:nvPr/>
        </p:nvSpPr>
        <p:spPr>
          <a:xfrm>
            <a:off x="7452360" y="914400"/>
            <a:ext cx="4114800" cy="42062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098280" y="205740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7" name="TextBox 16"/>
          <p:cNvSpPr txBox="1"/>
          <p:nvPr/>
        </p:nvSpPr>
        <p:spPr>
          <a:xfrm>
            <a:off x="7891272" y="3063240"/>
            <a:ext cx="323697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R-P11 · One bunch: cost, price, profit</a:t>
            </a:r>
          </a:p>
        </p:txBody>
      </p:sp>
      <p:sp>
        <p:nvSpPr>
          <p:cNvPr id="18" name="TextBox 17"/>
          <p:cNvSpPr txBox="1"/>
          <p:nvPr/>
        </p:nvSpPr>
        <p:spPr>
          <a:xfrm>
            <a:off x="7891272" y="4498848"/>
            <a:ext cx="323697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R-P11-ART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IPHOSTA R-P11</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R-D2-18</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18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Izindleko zesixha esisodwa</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Zonke izindleko ÷ zonke izixha</a:t>
            </a:r>
          </a:p>
          <a:p>
            <a:pPr algn="l" marL="412750" indent="-412750">
              <a:spcAft>
                <a:spcPts val="1800"/>
              </a:spcAft>
            </a:pPr>
            <a:r>
              <a:rPr sz="2600" b="1">
                <a:solidFill>
                  <a:srgbClr val="2A8C82"/>
                </a:solidFill>
                <a:latin typeface="Calibri"/>
              </a:rPr>
              <a:t>●  </a:t>
            </a:r>
            <a:r>
              <a:rPr sz="2600" b="0">
                <a:solidFill>
                  <a:srgbClr val="2B2B2B"/>
                </a:solidFill>
                <a:latin typeface="Calibri"/>
              </a:rPr>
              <a:t>R510 ÷ 150 = R3.40</a:t>
            </a:r>
          </a:p>
          <a:p>
            <a:pPr algn="l" marL="412750" indent="-412750">
              <a:spcAft>
                <a:spcPts val="1800"/>
              </a:spcAft>
            </a:pPr>
            <a:r>
              <a:rPr sz="2600" b="1">
                <a:solidFill>
                  <a:srgbClr val="2A8C82"/>
                </a:solidFill>
                <a:latin typeface="Calibri"/>
              </a:rPr>
              <a:t>●  </a:t>
            </a:r>
            <a:r>
              <a:rPr sz="2600" b="0">
                <a:solidFill>
                  <a:srgbClr val="2B2B2B"/>
                </a:solidFill>
                <a:latin typeface="Calibri"/>
              </a:rPr>
              <a:t>Ungalokothi uthengise ngaphansi kwazo</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R-P11 · One bunch: cost, price, profit</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R-P11-ART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IPHOSTA R-P11</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R-D2-19</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19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Intengo efanele, inzuzo eqotho</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Intengo ephansi · imakethe · umthengi</a:t>
            </a:r>
          </a:p>
          <a:p>
            <a:pPr algn="l" marL="412750" indent="-412750">
              <a:spcAft>
                <a:spcPts val="1800"/>
              </a:spcAft>
            </a:pPr>
            <a:r>
              <a:rPr sz="2600" b="1">
                <a:solidFill>
                  <a:srgbClr val="2A8C82"/>
                </a:solidFill>
                <a:latin typeface="Calibri"/>
              </a:rPr>
              <a:t>●  </a:t>
            </a:r>
            <a:r>
              <a:rPr sz="2600" b="0">
                <a:solidFill>
                  <a:srgbClr val="2B2B2B"/>
                </a:solidFill>
                <a:latin typeface="Calibri"/>
              </a:rPr>
              <a:t>R1 080 − R510 = R570</a:t>
            </a:r>
          </a:p>
          <a:p>
            <a:pPr algn="l" marL="412750" indent="-412750">
              <a:spcAft>
                <a:spcPts val="1800"/>
              </a:spcAft>
            </a:pPr>
            <a:r>
              <a:rPr sz="2600" b="1">
                <a:solidFill>
                  <a:srgbClr val="2A8C82"/>
                </a:solidFill>
                <a:latin typeface="Calibri"/>
              </a:rPr>
              <a:t>●  </a:t>
            </a:r>
            <a:r>
              <a:rPr sz="2600" b="0">
                <a:solidFill>
                  <a:srgbClr val="2B2B2B"/>
                </a:solidFill>
                <a:latin typeface="Calibri"/>
              </a:rPr>
              <a:t>Kanye no-R480 wokudla</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R-P11 · One bunch: cost, price, profit</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R-P11-ART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IPHOSTA R-P12</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R-D2-20</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20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Gcwalisa inkomishi kuqala</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Izindleko zesizini: R600 = ubhontshisi ongu-60</a:t>
            </a:r>
          </a:p>
          <a:p>
            <a:pPr algn="l" marL="412750" indent="-412750">
              <a:spcAft>
                <a:spcPts val="1800"/>
              </a:spcAft>
            </a:pPr>
            <a:r>
              <a:rPr sz="2600" b="1">
                <a:solidFill>
                  <a:srgbClr val="2A8C82"/>
                </a:solidFill>
                <a:latin typeface="Calibri"/>
              </a:rPr>
              <a:t>●  </a:t>
            </a:r>
            <a:r>
              <a:rPr sz="2600" b="0">
                <a:solidFill>
                  <a:srgbClr val="2B2B2B"/>
                </a:solidFill>
                <a:latin typeface="Calibri"/>
              </a:rPr>
              <a:t>Isixha ngasinye sishiya R10 = ubhontshisi owodwa</a:t>
            </a:r>
          </a:p>
          <a:p>
            <a:pPr algn="l" marL="412750" indent="-412750">
              <a:spcAft>
                <a:spcPts val="1800"/>
              </a:spcAft>
            </a:pPr>
            <a:r>
              <a:rPr sz="2600" b="1">
                <a:solidFill>
                  <a:srgbClr val="2A8C82"/>
                </a:solidFill>
                <a:latin typeface="Calibri"/>
              </a:rPr>
              <a:t>●  </a:t>
            </a:r>
            <a:r>
              <a:rPr sz="2600" b="0">
                <a:solidFill>
                  <a:srgbClr val="2B2B2B"/>
                </a:solidFill>
                <a:latin typeface="Calibri"/>
              </a:rPr>
              <a:t>Izixha ezingu-60 = i-break-even</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R-P12 · Break-even with beans</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R-P12-ART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R-D2-21</a:t>
            </a:r>
          </a:p>
        </p:txBody>
      </p:sp>
      <p:sp>
        <p:nvSpPr>
          <p:cNvPr id="4" name="TextBox 3"/>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21 / 26</a:t>
            </a:r>
          </a:p>
        </p:txBody>
      </p:sp>
      <p:sp>
        <p:nvSpPr>
          <p:cNvPr id="5" name="Rounded Rectangle 4"/>
          <p:cNvSpPr/>
          <p:nvPr/>
        </p:nvSpPr>
        <p:spPr>
          <a:xfrm>
            <a:off x="731520" y="457200"/>
            <a:ext cx="1213866" cy="346710"/>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Calibri"/>
              </a:rPr>
              <a:t>SEBENZANI</a:t>
            </a:r>
          </a:p>
        </p:txBody>
      </p:sp>
      <p:sp>
        <p:nvSpPr>
          <p:cNvPr id="7" name="TextBox 6"/>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I-break-even ngobhontshisi</a:t>
            </a:r>
          </a:p>
        </p:txBody>
      </p:sp>
      <p:sp>
        <p:nvSpPr>
          <p:cNvPr id="8" name="Rounded Rectangle 7"/>
          <p:cNvSpPr/>
          <p:nvPr/>
        </p:nvSpPr>
        <p:spPr>
          <a:xfrm>
            <a:off x="777240" y="1694688"/>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06044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1</a:t>
            </a:r>
          </a:p>
        </p:txBody>
      </p:sp>
      <p:sp>
        <p:nvSpPr>
          <p:cNvPr id="11" name="TextBox 10"/>
          <p:cNvSpPr txBox="1"/>
          <p:nvPr/>
        </p:nvSpPr>
        <p:spPr>
          <a:xfrm>
            <a:off x="1508760" y="2106168"/>
            <a:ext cx="9951720" cy="1018032"/>
          </a:xfrm>
          <a:prstGeom prst="rect">
            <a:avLst/>
          </a:prstGeom>
          <a:noFill/>
        </p:spPr>
        <p:txBody>
          <a:bodyPr wrap="square" anchor="t" lIns="45720" rIns="45720" tIns="0" bIns="0">
            <a:spAutoFit/>
          </a:bodyPr>
          <a:lstStyle/>
          <a:p>
            <a:pPr algn="l">
              <a:lnSpc>
                <a:spcPct val="95000"/>
              </a:lnSpc>
              <a:spcAft>
                <a:spcPts val="800"/>
              </a:spcAft>
            </a:pPr>
            <a:r>
              <a:rPr sz="3000" b="1">
                <a:solidFill>
                  <a:srgbClr val="2B2B2B"/>
                </a:solidFill>
                <a:latin typeface="Calibri"/>
              </a:rPr>
              <a:t>Fakani ubhontshisi owodwa ngesixha ngasinye</a:t>
            </a:r>
          </a:p>
        </p:txBody>
      </p:sp>
      <p:sp>
        <p:nvSpPr>
          <p:cNvPr id="12" name="Oval 11"/>
          <p:cNvSpPr/>
          <p:nvPr/>
        </p:nvSpPr>
        <p:spPr>
          <a:xfrm>
            <a:off x="731520" y="3169920"/>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69920"/>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2</a:t>
            </a:r>
          </a:p>
        </p:txBody>
      </p:sp>
      <p:sp>
        <p:nvSpPr>
          <p:cNvPr id="14" name="TextBox 13"/>
          <p:cNvSpPr txBox="1"/>
          <p:nvPr/>
        </p:nvSpPr>
        <p:spPr>
          <a:xfrm>
            <a:off x="1508760" y="3215640"/>
            <a:ext cx="9951720" cy="621792"/>
          </a:xfrm>
          <a:prstGeom prst="rect">
            <a:avLst/>
          </a:prstGeom>
          <a:noFill/>
        </p:spPr>
        <p:txBody>
          <a:bodyPr wrap="square" anchor="t" lIns="45720" rIns="45720" tIns="0" bIns="0">
            <a:spAutoFit/>
          </a:bodyPr>
          <a:lstStyle/>
          <a:p>
            <a:pPr algn="l">
              <a:lnSpc>
                <a:spcPct val="95000"/>
              </a:lnSpc>
              <a:spcAft>
                <a:spcPts val="800"/>
              </a:spcAft>
            </a:pPr>
            <a:r>
              <a:rPr sz="3000" b="1">
                <a:solidFill>
                  <a:srgbClr val="2B2B2B"/>
                </a:solidFill>
                <a:latin typeface="Calibri"/>
              </a:rPr>
              <a:t>Balani kuze kugcwale inkomishi</a:t>
            </a:r>
          </a:p>
        </p:txBody>
      </p:sp>
      <p:sp>
        <p:nvSpPr>
          <p:cNvPr id="15" name="Oval 14"/>
          <p:cNvSpPr/>
          <p:nvPr/>
        </p:nvSpPr>
        <p:spPr>
          <a:xfrm>
            <a:off x="731520" y="3883152"/>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8315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3</a:t>
            </a:r>
          </a:p>
        </p:txBody>
      </p:sp>
      <p:sp>
        <p:nvSpPr>
          <p:cNvPr id="17" name="TextBox 16"/>
          <p:cNvSpPr txBox="1"/>
          <p:nvPr/>
        </p:nvSpPr>
        <p:spPr>
          <a:xfrm>
            <a:off x="1508760" y="3928872"/>
            <a:ext cx="9951720" cy="1018032"/>
          </a:xfrm>
          <a:prstGeom prst="rect">
            <a:avLst/>
          </a:prstGeom>
          <a:noFill/>
        </p:spPr>
        <p:txBody>
          <a:bodyPr wrap="square" anchor="t" lIns="45720" rIns="45720" tIns="0" bIns="0">
            <a:spAutoFit/>
          </a:bodyPr>
          <a:lstStyle/>
          <a:p>
            <a:pPr algn="l">
              <a:lnSpc>
                <a:spcPct val="95000"/>
              </a:lnSpc>
              <a:spcAft>
                <a:spcPts val="800"/>
              </a:spcAft>
            </a:pPr>
            <a:r>
              <a:rPr sz="3000" b="1">
                <a:solidFill>
                  <a:srgbClr val="2B2B2B"/>
                </a:solidFill>
                <a:latin typeface="Calibri"/>
              </a:rPr>
              <a:t>Zamani: intengo yehla ibe yi-R10 (15 min)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IPHOSTA R-P13</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R-D2-22</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22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Imali kuyo yonke isizini</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Imali iphuma kuqala</a:t>
            </a:r>
          </a:p>
          <a:p>
            <a:pPr algn="l" marL="412750" indent="-412750">
              <a:spcAft>
                <a:spcPts val="1800"/>
              </a:spcAft>
            </a:pPr>
            <a:r>
              <a:rPr sz="2600" b="1">
                <a:solidFill>
                  <a:srgbClr val="2A8C82"/>
                </a:solidFill>
                <a:latin typeface="Calibri"/>
              </a:rPr>
              <a:t>●  </a:t>
            </a:r>
            <a:r>
              <a:rPr sz="2600" b="0">
                <a:solidFill>
                  <a:srgbClr val="2B2B2B"/>
                </a:solidFill>
                <a:latin typeface="Calibri"/>
              </a:rPr>
              <a:t>Imali ingena kamuva</a:t>
            </a:r>
          </a:p>
          <a:p>
            <a:pPr algn="l" marL="412750" indent="-412750">
              <a:spcAft>
                <a:spcPts val="1800"/>
              </a:spcAft>
            </a:pPr>
            <a:r>
              <a:rPr sz="2600" b="1">
                <a:solidFill>
                  <a:srgbClr val="2A8C82"/>
                </a:solidFill>
                <a:latin typeface="Calibri"/>
              </a:rPr>
              <a:t>●  </a:t>
            </a:r>
            <a:r>
              <a:rPr sz="2600" b="0">
                <a:solidFill>
                  <a:srgbClr val="2B2B2B"/>
                </a:solidFill>
                <a:latin typeface="Calibri"/>
              </a:rPr>
              <a:t>Thola inyanga enzima</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382000" y="2918460"/>
            <a:ext cx="822960" cy="822960"/>
          </a:xfrm>
          <a:prstGeom prst="ellipse">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The season tin</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IVIDIYO · R-ANI-05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R-D2-23</a:t>
            </a:r>
          </a:p>
        </p:txBody>
      </p:sp>
      <p:sp>
        <p:nvSpPr>
          <p:cNvPr id="4" name="TextBox 3"/>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23 / 26</a:t>
            </a:r>
          </a:p>
        </p:txBody>
      </p:sp>
      <p:sp>
        <p:nvSpPr>
          <p:cNvPr id="5" name="Rounded Rectangle 4"/>
          <p:cNvSpPr/>
          <p:nvPr/>
        </p:nvSpPr>
        <p:spPr>
          <a:xfrm>
            <a:off x="731520" y="457200"/>
            <a:ext cx="1213866" cy="346710"/>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Calibri"/>
              </a:rPr>
              <a:t>SEBENZANI</a:t>
            </a:r>
          </a:p>
        </p:txBody>
      </p:sp>
      <p:sp>
        <p:nvSpPr>
          <p:cNvPr id="7" name="TextBox 6"/>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Ithini lensimu lakwaDlamini</a:t>
            </a:r>
          </a:p>
        </p:txBody>
      </p:sp>
      <p:sp>
        <p:nvSpPr>
          <p:cNvPr id="8" name="Rounded Rectangle 7"/>
          <p:cNvSpPr/>
          <p:nvPr/>
        </p:nvSpPr>
        <p:spPr>
          <a:xfrm>
            <a:off x="777240" y="1694688"/>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060448"/>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1</a:t>
            </a:r>
          </a:p>
        </p:txBody>
      </p:sp>
      <p:sp>
        <p:nvSpPr>
          <p:cNvPr id="11" name="TextBox 10"/>
          <p:cNvSpPr txBox="1"/>
          <p:nvPr/>
        </p:nvSpPr>
        <p:spPr>
          <a:xfrm>
            <a:off x="1508760" y="2106168"/>
            <a:ext cx="9951720" cy="621792"/>
          </a:xfrm>
          <a:prstGeom prst="rect">
            <a:avLst/>
          </a:prstGeom>
          <a:noFill/>
        </p:spPr>
        <p:txBody>
          <a:bodyPr wrap="square" anchor="t" lIns="45720" rIns="45720" tIns="0" bIns="0">
            <a:spAutoFit/>
          </a:bodyPr>
          <a:lstStyle/>
          <a:p>
            <a:pPr algn="l">
              <a:lnSpc>
                <a:spcPct val="95000"/>
              </a:lnSpc>
              <a:spcAft>
                <a:spcPts val="800"/>
              </a:spcAft>
            </a:pPr>
            <a:r>
              <a:rPr sz="3000" b="1">
                <a:solidFill>
                  <a:srgbClr val="2B2B2B"/>
                </a:solidFill>
                <a:latin typeface="Calibri"/>
              </a:rPr>
              <a:t>Qalani: R200 ngomhla ka-1 Septemba</a:t>
            </a:r>
          </a:p>
        </p:txBody>
      </p:sp>
      <p:sp>
        <p:nvSpPr>
          <p:cNvPr id="12" name="Oval 11"/>
          <p:cNvSpPr/>
          <p:nvPr/>
        </p:nvSpPr>
        <p:spPr>
          <a:xfrm>
            <a:off x="731520" y="2773680"/>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773680"/>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2</a:t>
            </a:r>
          </a:p>
        </p:txBody>
      </p:sp>
      <p:sp>
        <p:nvSpPr>
          <p:cNvPr id="14" name="TextBox 13"/>
          <p:cNvSpPr txBox="1"/>
          <p:nvPr/>
        </p:nvSpPr>
        <p:spPr>
          <a:xfrm>
            <a:off x="1508760" y="2819400"/>
            <a:ext cx="9951720" cy="621792"/>
          </a:xfrm>
          <a:prstGeom prst="rect">
            <a:avLst/>
          </a:prstGeom>
          <a:noFill/>
        </p:spPr>
        <p:txBody>
          <a:bodyPr wrap="square" anchor="t" lIns="45720" rIns="45720" tIns="0" bIns="0">
            <a:spAutoFit/>
          </a:bodyPr>
          <a:lstStyle/>
          <a:p>
            <a:pPr algn="l">
              <a:lnSpc>
                <a:spcPct val="95000"/>
              </a:lnSpc>
              <a:spcAft>
                <a:spcPts val="800"/>
              </a:spcAft>
            </a:pPr>
            <a:r>
              <a:rPr sz="3000" b="1">
                <a:solidFill>
                  <a:srgbClr val="2B2B2B"/>
                </a:solidFill>
                <a:latin typeface="Calibri"/>
              </a:rPr>
              <a:t>Inyanga ngenyanga, ngemali yokudlala</a:t>
            </a:r>
          </a:p>
        </p:txBody>
      </p:sp>
      <p:sp>
        <p:nvSpPr>
          <p:cNvPr id="15" name="Oval 14"/>
          <p:cNvSpPr/>
          <p:nvPr/>
        </p:nvSpPr>
        <p:spPr>
          <a:xfrm>
            <a:off x="731520" y="3486912"/>
            <a:ext cx="566928" cy="566928"/>
          </a:xfrm>
          <a:prstGeom prst="ellipse">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486912"/>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Arial Rounded MT Bold"/>
              </a:rPr>
              <a:t>3</a:t>
            </a:r>
          </a:p>
        </p:txBody>
      </p:sp>
      <p:sp>
        <p:nvSpPr>
          <p:cNvPr id="17" name="TextBox 16"/>
          <p:cNvSpPr txBox="1"/>
          <p:nvPr/>
        </p:nvSpPr>
        <p:spPr>
          <a:xfrm>
            <a:off x="1508760" y="3532632"/>
            <a:ext cx="9951720" cy="621792"/>
          </a:xfrm>
          <a:prstGeom prst="rect">
            <a:avLst/>
          </a:prstGeom>
          <a:noFill/>
        </p:spPr>
        <p:txBody>
          <a:bodyPr wrap="square" anchor="t" lIns="45720" rIns="45720" tIns="0" bIns="0">
            <a:spAutoFit/>
          </a:bodyPr>
          <a:lstStyle/>
          <a:p>
            <a:pPr algn="l">
              <a:lnSpc>
                <a:spcPct val="95000"/>
              </a:lnSpc>
              <a:spcAft>
                <a:spcPts val="800"/>
              </a:spcAft>
            </a:pPr>
            <a:r>
              <a:rPr sz="3000" b="1">
                <a:solidFill>
                  <a:srgbClr val="2B2B2B"/>
                </a:solidFill>
                <a:latin typeface="Calibri"/>
              </a:rPr>
              <a:t>Bomvu uma kungaphansi kukaziro (25 min)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TextBox 1"/>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R-D2-24</a:t>
            </a:r>
          </a:p>
        </p:txBody>
      </p:sp>
      <p:sp>
        <p:nvSpPr>
          <p:cNvPr id="3" name="TextBox 2"/>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24 / 26</a:t>
            </a:r>
          </a:p>
        </p:txBody>
      </p:sp>
      <p:sp>
        <p:nvSpPr>
          <p:cNvPr id="4" name="Rounded Rectangle 3"/>
          <p:cNvSpPr/>
          <p:nvPr/>
        </p:nvSpPr>
        <p:spPr>
          <a:xfrm>
            <a:off x="10454640" y="411480"/>
            <a:ext cx="1143000" cy="320040"/>
          </a:xfrm>
          <a:prstGeom prst="roundRect">
            <a:avLst>
              <a:gd name="adj" fmla="val 50000"/>
            </a:avLst>
          </a:prstGeom>
          <a:solidFill>
            <a:srgbClr val="E06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640" y="411480"/>
            <a:ext cx="1143000" cy="320040"/>
          </a:xfrm>
          <a:prstGeom prst="rect">
            <a:avLst/>
          </a:prstGeom>
          <a:noFill/>
        </p:spPr>
        <p:txBody>
          <a:bodyPr wrap="square" anchor="ctr" lIns="45720" rIns="45720" tIns="0" bIns="0">
            <a:spAutoFit/>
          </a:bodyPr>
          <a:lstStyle/>
          <a:p>
            <a:pPr algn="ctr">
              <a:spcAft>
                <a:spcPts val="800"/>
              </a:spcAft>
            </a:pPr>
            <a:r>
              <a:rPr sz="1200" b="1">
                <a:solidFill>
                  <a:srgbClr val="FFFFFF"/>
                </a:solidFill>
                <a:latin typeface="Calibri"/>
              </a:rPr>
              <a:t>APP</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9723120" cy="518160"/>
          </a:xfrm>
          <a:prstGeom prst="rect">
            <a:avLst/>
          </a:prstGeom>
          <a:noFill/>
        </p:spPr>
        <p:txBody>
          <a:bodyPr wrap="square" anchor="t" lIns="45720" rIns="45720" tIns="0" bIns="0">
            <a:spAutoFit/>
          </a:bodyPr>
          <a:lstStyle/>
          <a:p>
            <a:pPr algn="l">
              <a:lnSpc>
                <a:spcPct val="95000"/>
              </a:lnSpc>
              <a:spcAft>
                <a:spcPts val="800"/>
              </a:spcAft>
            </a:pPr>
            <a:r>
              <a:rPr sz="3200" b="1">
                <a:solidFill>
                  <a:srgbClr val="2B2B2B"/>
                </a:solidFill>
                <a:latin typeface="Arial Rounded MT Bold"/>
              </a:rPr>
              <a:t>Financial sheet (Ishidi lezimali)</a:t>
            </a:r>
          </a:p>
        </p:txBody>
      </p:sp>
      <p:sp>
        <p:nvSpPr>
          <p:cNvPr id="8" name="Rounded Rectangle 7"/>
          <p:cNvSpPr/>
          <p:nvPr/>
        </p:nvSpPr>
        <p:spPr>
          <a:xfrm>
            <a:off x="640080" y="143256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98320"/>
            <a:ext cx="5074920" cy="419100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My Records → Financial sheet</a:t>
            </a:r>
          </a:p>
          <a:p>
            <a:pPr algn="l" marL="412750" indent="-412750">
              <a:spcAft>
                <a:spcPts val="1800"/>
              </a:spcAft>
            </a:pPr>
            <a:r>
              <a:rPr sz="2600" b="1">
                <a:solidFill>
                  <a:srgbClr val="2A8C82"/>
                </a:solidFill>
                <a:latin typeface="Calibri"/>
              </a:rPr>
              <a:t>●  </a:t>
            </a:r>
            <a:r>
              <a:rPr sz="2600" b="0">
                <a:solidFill>
                  <a:srgbClr val="2B2B2B"/>
                </a:solidFill>
                <a:latin typeface="Calibri"/>
              </a:rPr>
              <a:t>Inyanga: Income · Expenses</a:t>
            </a:r>
          </a:p>
          <a:p>
            <a:pPr algn="l" marL="412750" indent="-412750">
              <a:spcAft>
                <a:spcPts val="1800"/>
              </a:spcAft>
            </a:pPr>
            <a:r>
              <a:rPr sz="2600" b="1">
                <a:solidFill>
                  <a:srgbClr val="2A8C82"/>
                </a:solidFill>
                <a:latin typeface="Calibri"/>
              </a:rPr>
              <a:t>●  </a:t>
            </a:r>
            <a:r>
              <a:rPr sz="2600" b="0">
                <a:solidFill>
                  <a:srgbClr val="2B2B2B"/>
                </a:solidFill>
                <a:latin typeface="Calibri"/>
              </a:rPr>
              <a:t>Imali esele erekhodiwe ≠ inzuzo yesizini</a:t>
            </a:r>
          </a:p>
        </p:txBody>
      </p:sp>
      <p:sp>
        <p:nvSpPr>
          <p:cNvPr id="10" name="Rounded Rectangle 9"/>
          <p:cNvSpPr/>
          <p:nvPr/>
        </p:nvSpPr>
        <p:spPr>
          <a:xfrm>
            <a:off x="5989320" y="1706880"/>
            <a:ext cx="5608320" cy="423672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nancial-sheet.png"/>
          <p:cNvPicPr>
            <a:picLocks noChangeAspect="1"/>
          </p:cNvPicPr>
          <p:nvPr/>
        </p:nvPicPr>
        <p:blipFill>
          <a:blip r:embed="rId2"/>
          <a:stretch>
            <a:fillRect/>
          </a:stretch>
        </p:blipFill>
        <p:spPr>
          <a:xfrm>
            <a:off x="6153912" y="2097522"/>
            <a:ext cx="5279136" cy="345543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TextBox 1"/>
          <p:cNvSpPr txBox="1"/>
          <p:nvPr/>
        </p:nvSpPr>
        <p:spPr>
          <a:xfrm>
            <a:off x="594360"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R-D2-25</a:t>
            </a:r>
          </a:p>
        </p:txBody>
      </p:sp>
      <p:sp>
        <p:nvSpPr>
          <p:cNvPr id="3" name="TextBox 2"/>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25 / 26</a:t>
            </a:r>
          </a:p>
        </p:txBody>
      </p:sp>
      <p:sp>
        <p:nvSpPr>
          <p:cNvPr id="4" name="TextBox 3"/>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5" name="TextBox 4"/>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Ukuhlola ekupheleni kwenyanga</a:t>
            </a:r>
          </a:p>
        </p:txBody>
      </p:sp>
      <p:sp>
        <p:nvSpPr>
          <p:cNvPr id="6" name="Rounded Rectangle 5"/>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Engenayo · ephumayo · ibhalansi · ukubala ithini</a:t>
            </a:r>
          </a:p>
          <a:p>
            <a:pPr algn="l" marL="412750" indent="-412750">
              <a:spcAft>
                <a:spcPts val="1800"/>
              </a:spcAft>
            </a:pPr>
            <a:r>
              <a:rPr sz="2600" b="1">
                <a:solidFill>
                  <a:srgbClr val="2A8C82"/>
                </a:solidFill>
                <a:latin typeface="Calibri"/>
              </a:rPr>
              <a:t>●  </a:t>
            </a:r>
            <a:r>
              <a:rPr sz="2600" b="0">
                <a:solidFill>
                  <a:srgbClr val="2B2B2B"/>
                </a:solidFill>
                <a:latin typeface="Calibri"/>
              </a:rPr>
              <a:t>Engiyikweletwayo · engiyikweletayo</a:t>
            </a:r>
          </a:p>
          <a:p>
            <a:pPr algn="l" marL="412750" indent="-412750">
              <a:spcAft>
                <a:spcPts val="1800"/>
              </a:spcAft>
            </a:pPr>
            <a:r>
              <a:rPr sz="2600" b="1">
                <a:solidFill>
                  <a:srgbClr val="2A8C82"/>
                </a:solidFill>
                <a:latin typeface="Calibri"/>
              </a:rPr>
              <a:t>●  </a:t>
            </a:r>
            <a:r>
              <a:rPr sz="2600" b="0">
                <a:solidFill>
                  <a:srgbClr val="2B2B2B"/>
                </a:solidFill>
                <a:latin typeface="Calibri"/>
              </a:rPr>
              <a:t>Okuyiswe ekhaya</a:t>
            </a:r>
          </a:p>
        </p:txBody>
      </p:sp>
      <p:sp>
        <p:nvSpPr>
          <p:cNvPr id="8" name="Rounded Rectangle 7"/>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1" name="TextBox 10"/>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 real money book page and tin</a:t>
            </a:r>
          </a:p>
        </p:txBody>
      </p:sp>
      <p:sp>
        <p:nvSpPr>
          <p:cNvPr id="12" name="TextBox 11"/>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ISITHOMBE · R-PHO-01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4E0"/>
        </a:solidFill>
        <a:effectLst/>
      </p:bgPr>
    </p:bg>
    <p:spTree>
      <p:nvGrpSpPr>
        <p:cNvPr id="1" name=""/>
        <p:cNvGrpSpPr/>
        <p:nvPr/>
      </p:nvGrpSpPr>
      <p:grpSpPr/>
      <p:sp>
        <p:nvSpPr>
          <p:cNvPr id="2" name="Rounded Rectangle 1"/>
          <p:cNvSpPr/>
          <p:nvPr/>
        </p:nvSpPr>
        <p:spPr>
          <a:xfrm>
            <a:off x="594360" y="6272784"/>
            <a:ext cx="1316228" cy="266700"/>
          </a:xfrm>
          <a:prstGeom prst="roundRect">
            <a:avLst>
              <a:gd name="adj" fmla="val 50000"/>
            </a:avLst>
          </a:prstGeom>
          <a:noFill/>
          <a:ln w="15875">
            <a:solidFill>
              <a:srgbClr val="E06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316228" cy="266700"/>
          </a:xfrm>
          <a:prstGeom prst="rect">
            <a:avLst/>
          </a:prstGeom>
          <a:noFill/>
        </p:spPr>
        <p:txBody>
          <a:bodyPr wrap="square" anchor="ctr" lIns="45720" rIns="45720" tIns="0" bIns="0">
            <a:spAutoFit/>
          </a:bodyPr>
          <a:lstStyle/>
          <a:p>
            <a:pPr algn="ctr">
              <a:spcAft>
                <a:spcPts val="800"/>
              </a:spcAft>
            </a:pPr>
            <a:r>
              <a:rPr sz="1000" b="1">
                <a:solidFill>
                  <a:srgbClr val="E0664A"/>
                </a:solidFill>
                <a:latin typeface="Calibri"/>
              </a:rPr>
              <a:t>IPHOSTA R-P08</a:t>
            </a:r>
          </a:p>
        </p:txBody>
      </p:sp>
      <p:sp>
        <p:nvSpPr>
          <p:cNvPr id="4" name="TextBox 3"/>
          <p:cNvSpPr txBox="1"/>
          <p:nvPr/>
        </p:nvSpPr>
        <p:spPr>
          <a:xfrm>
            <a:off x="204774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8A857C"/>
                </a:solidFill>
                <a:latin typeface="Calibri"/>
              </a:rPr>
              <a:t>Farmer Money  ·  R-D2-26</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8A857C"/>
                </a:solidFill>
                <a:latin typeface="Calibri"/>
              </a:rPr>
              <a:t>26 / 26</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2A8C82"/>
                </a:solidFill>
                <a:latin typeface="Calibri"/>
              </a:rPr>
              <a:t>USUKU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2B2B2B"/>
                </a:solidFill>
                <a:latin typeface="Arial Rounded MT Bold"/>
              </a:rPr>
              <a:t>Okwenziwa ekhaya</a:t>
            </a:r>
          </a:p>
        </p:txBody>
      </p:sp>
      <p:sp>
        <p:nvSpPr>
          <p:cNvPr id="8" name="Rounded Rectangle 7"/>
          <p:cNvSpPr/>
          <p:nvPr/>
        </p:nvSpPr>
        <p:spPr>
          <a:xfrm>
            <a:off x="640080" y="1539240"/>
            <a:ext cx="1280160" cy="109728"/>
          </a:xfrm>
          <a:prstGeom prst="roundRect">
            <a:avLst>
              <a:gd name="adj" fmla="val 50000"/>
            </a:avLst>
          </a:prstGeom>
          <a:solidFill>
            <a:srgbClr val="2A8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2A8C82"/>
                </a:solidFill>
                <a:latin typeface="Calibri"/>
              </a:rPr>
              <a:t>●  </a:t>
            </a:r>
            <a:r>
              <a:rPr sz="2600" b="0">
                <a:solidFill>
                  <a:srgbClr val="2B2B2B"/>
                </a:solidFill>
                <a:latin typeface="Calibri"/>
              </a:rPr>
              <a:t>Bhala yonke irandi yensimu izinsuku ezi-7</a:t>
            </a:r>
          </a:p>
          <a:p>
            <a:pPr algn="l" marL="412750" indent="-412750">
              <a:spcAft>
                <a:spcPts val="1800"/>
              </a:spcAft>
            </a:pPr>
            <a:r>
              <a:rPr sz="2600" b="1">
                <a:solidFill>
                  <a:srgbClr val="2A8C82"/>
                </a:solidFill>
                <a:latin typeface="Calibri"/>
              </a:rPr>
              <a:t>●  </a:t>
            </a:r>
            <a:r>
              <a:rPr sz="2600" b="0">
                <a:solidFill>
                  <a:srgbClr val="2B2B2B"/>
                </a:solidFill>
                <a:latin typeface="Calibri"/>
              </a:rPr>
              <a:t>Hlola intengo: isixha esisodwa, nokunye okukodwa</a:t>
            </a:r>
          </a:p>
          <a:p>
            <a:pPr algn="l" marL="412750" indent="-412750">
              <a:spcAft>
                <a:spcPts val="1800"/>
              </a:spcAft>
            </a:pPr>
            <a:r>
              <a:rPr sz="2600" b="1">
                <a:solidFill>
                  <a:srgbClr val="2A8C82"/>
                </a:solidFill>
                <a:latin typeface="Calibri"/>
              </a:rPr>
              <a:t>●  </a:t>
            </a:r>
            <a:r>
              <a:rPr sz="2600" b="0">
                <a:solidFill>
                  <a:srgbClr val="2B2B2B"/>
                </a:solidFill>
                <a:latin typeface="Calibri"/>
              </a:rPr>
              <a:t>Imali yokudlala: ibaleni yonke</a:t>
            </a:r>
          </a:p>
        </p:txBody>
      </p:sp>
      <p:sp>
        <p:nvSpPr>
          <p:cNvPr id="10" name="Rounded Rectangle 9"/>
          <p:cNvSpPr/>
          <p:nvPr/>
        </p:nvSpPr>
        <p:spPr>
          <a:xfrm>
            <a:off x="5989320" y="1813560"/>
            <a:ext cx="5608320" cy="4130040"/>
          </a:xfrm>
          <a:prstGeom prst="roundRect">
            <a:avLst>
              <a:gd name="adj" fmla="val 8000"/>
            </a:avLst>
          </a:prstGeom>
          <a:solidFill>
            <a:srgbClr val="FFFAF1"/>
          </a:solidFill>
          <a:ln w="38100">
            <a:solidFill>
              <a:srgbClr val="7FB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82000" y="2918460"/>
            <a:ext cx="822960" cy="822960"/>
          </a:xfrm>
          <a:prstGeom prst="roundRect">
            <a:avLst>
              <a:gd name="adj" fmla="val 12000"/>
            </a:avLst>
          </a:prstGeom>
          <a:noFill/>
          <a:ln w="25400">
            <a:solidFill>
              <a:srgbClr val="75B2A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55A298"/>
                </a:solidFill>
                <a:latin typeface="Calibri"/>
              </a:rPr>
              <a:t>✦</a:t>
            </a:r>
          </a:p>
        </p:txBody>
      </p:sp>
      <p:sp>
        <p:nvSpPr>
          <p:cNvPr id="13" name="TextBox 12"/>
          <p:cNvSpPr txBox="1"/>
          <p:nvPr/>
        </p:nvSpPr>
        <p:spPr>
          <a:xfrm>
            <a:off x="6428232" y="3924300"/>
            <a:ext cx="4730496" cy="822960"/>
          </a:xfrm>
          <a:prstGeom prst="rect">
            <a:avLst/>
          </a:prstGeom>
          <a:noFill/>
        </p:spPr>
        <p:txBody>
          <a:bodyPr wrap="square" anchor="t" lIns="45720" rIns="45720" tIns="0" bIns="0">
            <a:spAutoFit/>
          </a:bodyPr>
          <a:lstStyle/>
          <a:p>
            <a:pPr algn="ctr">
              <a:spcAft>
                <a:spcPts val="800"/>
              </a:spcAft>
            </a:pPr>
            <a:r>
              <a:rPr sz="2000" b="1">
                <a:solidFill>
                  <a:srgbClr val="4B4A49"/>
                </a:solidFill>
                <a:latin typeface="Arial Rounded MT Bold"/>
              </a:rPr>
              <a:t>Artwork for R-P08 · The money book</a:t>
            </a:r>
          </a:p>
        </p:txBody>
      </p:sp>
      <p:sp>
        <p:nvSpPr>
          <p:cNvPr id="14" name="TextBox 13"/>
          <p:cNvSpPr txBox="1"/>
          <p:nvPr/>
        </p:nvSpPr>
        <p:spPr>
          <a:xfrm>
            <a:off x="6428232" y="5321808"/>
            <a:ext cx="4730496" cy="274320"/>
          </a:xfrm>
          <a:prstGeom prst="rect">
            <a:avLst/>
          </a:prstGeom>
          <a:noFill/>
        </p:spPr>
        <p:txBody>
          <a:bodyPr wrap="square" anchor="t" lIns="45720" rIns="45720" tIns="0" bIns="0">
            <a:spAutoFit/>
          </a:bodyPr>
          <a:lstStyle/>
          <a:p>
            <a:pPr algn="ctr">
              <a:spcAft>
                <a:spcPts val="800"/>
              </a:spcAft>
            </a:pPr>
            <a:r>
              <a:rPr sz="1000" b="0">
                <a:solidFill>
                  <a:srgbClr val="8A857C"/>
                </a:solidFill>
                <a:latin typeface="Calibri"/>
              </a:rPr>
              <a:t>POSTER ART · R-P08-ART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