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R-D2-S0. Register, energiser In · Out · Owed, "what did you sleep on?" — do not ask who made a bean map at home. Rotate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R-D2-S1. Hold up a tin. Let them say "we can't tell". Then the book.</a:t>
            </a:r>
          </a:p>
          <a:p/>
          <a:p>
            <a:r>
              <a:t>Poster: R-P08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R-D2-S1. Point to columns 1–5 and the Owed page. F-P20 from Course 1 is the same book. One line for every rand, the same day.</a:t>
            </a:r>
          </a:p>
          <a:p/>
          <a:p>
            <a:r>
              <a:t>Poster: R-P08</a:t>
            </a:r>
          </a:p>
          <a:p>
            <a:r>
              <a:t>Also: R-ANI-07</a:t>
            </a:r>
          </a:p>
          <a:p>
            <a:r>
              <a:t>Clip R-ANI-07: public/course-animations/market-community/watch-04-farm-record.mp4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R-D2-S1. Materials moves play money; Recorder writes. Card 3 = Owed page (spaza R200). Card 7 = taken home R50. Card 9 = harvest record only. Closing balance R315.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R-D2-S1. Usual mistakes: card 7 missed; card 3 entered as cash. Mistakes are good — this is what reconciling is for.</a:t>
            </a:r>
          </a:p>
          <a:p/>
          <a:p>
            <a:r>
              <a:t>Poster: R-P08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R-D2-S1. When the spaza pays at month-end: R200 in, tick off the Owed page. Never write the sale twice. Profit needs a full season — this afternoon.</a:t>
            </a:r>
          </a:p>
          <a:p/>
          <a:p>
            <a:r>
              <a:t>Poster: R-P08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R-D2-S1 [APP]. Enter cards 1, 2, 3 of Lerato's week. Card 3: New sale &amp; invoice → Not yet — payment outstanding. Keep the paper book too. App works offline.</a:t>
            </a:r>
          </a:p>
          <a:p/>
          <a:p>
            <a:r>
              <a:t>Also: R-IMG-32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R-D2-S1 [PAPER]. Opening R80 + R144 sale − R35 seed − R20 taxi = R169. Pictures are fine. Nobody reads your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R-D2-S2. Full basket in the middle. Ask where it goes. All four came from your work and costs.</a:t>
            </a:r>
          </a:p>
          <a:p/>
          <a:p>
            <a:r>
              <a:t>Poster: R-P09</a:t>
            </a:r>
          </a:p>
          <a:p>
            <a:r>
              <a:t>Also: R-P09-ART</a:t>
            </a:r>
          </a:p>
          <a:p>
            <a:r>
              <a:t>Clip R-ANI-06: public/course-media/farmer-money/R-ANI-06.mp4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R-D2-S2. Outside at the bed. Family harvest weeks: Dlamini 30 = 8/2/18/2; Mokoena 50 = 5/5/35/5; Sizanani 40 = 4/0/34/2. The four must add up. App users may log the harvest in Picked (optional).</a:t>
            </a:r>
          </a:p>
          <a:p/>
          <a:p>
            <a:r>
              <a:t>Also: R-IMG-37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R-D2-S2. Count it with play money. Write "value of food eaten" at the bottom of the harvest record.</a:t>
            </a:r>
          </a:p>
          <a:p/>
          <a:p>
            <a:r>
              <a:t>Poster: R-P09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R-D2-S2. Solid lines = cash costs. Dashed = free but not free (manure, rainwater, own time).</a:t>
            </a:r>
          </a:p>
          <a:p/>
          <a:p>
            <a:r>
              <a:t>Poster: R-P10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R-D2-S2. Answer R510: seed 35, compost 220, water 60, bands 30, transport 120, spray 15, watering-can share 30. Free but not free: manure, rainwater, seedlings, 44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R-D2-S2. Leave R510 on the flipchart for after lunch. Why R30 for a R90 can? It lasts three seasons.</a:t>
            </a:r>
          </a:p>
          <a:p/>
          <a:p>
            <a:r>
              <a:t>Poster: R-P10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 [PAPER]. Slip page (P2): line number beside each slip. Home-made slip for taxi and hawker costs: date, what, how much, who, 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 [APP]. Receipt photo → Take photo → Read a receipt with Lima. Check amount, date, what for. Crop this cost was for: only if just for that crop. Reading needs data; the photo saves offline. Keep the paper slip too.</a:t>
            </a:r>
          </a:p>
          <a:p/>
          <a:p>
            <a:r>
              <a:t>Also: R-IMG-32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R-D2-S3. Energiser "Price Is Right" first (5 min) using the Day 0 price sheet.</a:t>
            </a:r>
          </a:p>
          <a:p/>
          <a:p>
            <a:r>
              <a:t>Poster: R-P11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R-D2-S3. Start with R40 shared onto 10 bunch tokens (R4 each). Then Lerato's sum on the calculator. All 150 bunches count — eaten ones cost the same to grow.</a:t>
            </a:r>
          </a:p>
          <a:p/>
          <a:p>
            <a:r>
              <a:t>Poster: R-P11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R-D2-S3. Then her time: 44 h × about R30 (check the national minimum wage) = R1 320. Selling from one bed does not pay a wage — say it honestly. Only Lerato can decide if it's worth it. Ask how her time could earn more.</a:t>
            </a:r>
          </a:p>
          <a:p/>
          <a:p>
            <a:r>
              <a:t>Poster: R-P11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R-D2-S3. Sizanani: price R12, own cost R2 per bunch. Fence R200 + cans R100 + transport R300 = R600.</a:t>
            </a:r>
          </a:p>
          <a:p/>
          <a:p>
            <a:r>
              <a:t>Poster: R-P12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R-D2-S3. At R10 each bunch leaves R8: 600 ÷ 8 = 75 bunches. Use piles of R8 in play money. Expected sales 200 — safe either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R-D2-S4. Stick local month names on R-P13, September on the left. Ask which month is hardest here (often January or September).</a:t>
            </a:r>
          </a:p>
          <a:p/>
          <a:p>
            <a:r>
              <a:t>Poster: R-P13</a:t>
            </a:r>
          </a:p>
          <a:p>
            <a:r>
              <a:t>Also: R-P13-ART</a:t>
            </a:r>
          </a:p>
          <a:p>
            <a:r>
              <a:t>Clip R-ANI-05: public/course-media/farmer-money/R-ANI-05.mp4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R-D2-S4. Month-ends: Sep −R50, Oct R0, Nov R250, Dec R450, Jan R100, Feb R350. Plans: save from winter sales, buy seed in steps, own compost, save in December for January.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R-D2-S4 [APP]. Find Lerato's three entries. Optional: Export this month (CSV) to send to a mentor. The sheet is only as good as what was typed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R-D2-S4 [PAPER]. Summary page (P3) for Lerato's week: in R390, out R225, balance R315, tin R315, owed R200, taken home R50. Ten minutes, last day of every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R-D2-SC. Price-check homework: no buying needed; remember or photograph. Question Tree, money back, register PM.</a:t>
            </a:r>
          </a:p>
          <a:p/>
          <a:p>
            <a:r>
              <a:t>Poster: R-P08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R-D2-01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4E0"/>
                </a:solidFill>
                <a:latin typeface="Arial Rounded MT Bold"/>
              </a:rPr>
              <a:t>Usuku 2 · Imali yensimu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Farmer Money · Usuku 2 kwezi-3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Bhala · bala · beka intengo</a:t>
            </a:r>
          </a:p>
        </p:txBody>
      </p:sp>
      <p:pic>
        <p:nvPicPr>
          <p:cNvPr id="7" name="Picture 6" descr="record-sa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2108206"/>
            <a:ext cx="4206240" cy="236726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R-D2-02   ·   Poster R-P08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Ingabe uLerato wenze imali?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Ithini lakhe lensimu line-R315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Ingadi yenze imali yini?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Ithini alisho. Incwadi iyasho.</a:t>
            </a:r>
          </a:p>
        </p:txBody>
      </p:sp>
      <p:pic>
        <p:nvPicPr>
          <p:cNvPr id="7" name="Picture 6" descr="market-community-l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7984"/>
            <a:ext cx="5852160" cy="32935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R-D2-03   ·   Poster R-P08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Bhala yonke irandi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Usuku · kwenzekeni · engenayo · ephumayo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Ibhalansi = okusethinini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Imali engiyikweletwayo: ikhasi elihlukile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R-P08-ART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R-P08 · The money 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large open exercise book, seen from above, on a wooden table. The left page has a grid of five columns; the column heads are **icons only**: ① a small calendar ② a leaf and a taxi (what happened) ③ a coin with an arrow going in ④ a coin with an arrow going out ⑤ a tin. Rows have scribble marks, not numbers. ⑥ The right page is a separate list with a…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Isonto likaLerato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Ibhalansi yokuqala R150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Amakhadi ayi-10: hambisani imali, bhalani umugqa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Amakhadi 3, 9: imali iyahamba? (20 min)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R-IMG-03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Play money artwork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Artwork for printed **play money** notes and coins. Notes 120 × 60 mm (clearly smaller than real notes, which must not be copied), coins 30 mm circles. Each note: Paper background, a big plain oval on the left with a simple **crop** drawing (R10 = a bean pod, R20 = a spinach leaf, R50 = a cabbage, R100 = a maize cob), a thick colour band down the right…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R-D2-05   ·   Poster R-P08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Qhathanisa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Bala ithini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Liyafana nencwadi?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Cha? Thola umugqa.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R-P08-ART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R-P08 · The money 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large open exercise book, seen from above, on a wooden table. The left page has a grid of five columns; the column heads are **icons only**: ① a small calendar ② a leaf and a taxi (what happened) ③ a coin with an arrow going in ④ a coin with an arrow going out ⑤ a tin. Rows have scribble marks, not numbers. ⑥ The right page is a separate list with a…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R-D2-06   ·   Poster R-P08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Ukuthengisa akusiyo imali esandleni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4712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Kuthengiswe okungu-R590 kuleli sonto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Imali engenile: R390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Isipaza sikweleta R200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FF4E0"/>
                </a:solidFill>
                <a:latin typeface="Calibri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My Records (Amarekhodi Ami): Sold and Spent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Picked · Sold · Spent · Charts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Sold → Quick sale entry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Spent → New entry</a:t>
            </a:r>
          </a:p>
        </p:txBody>
      </p:sp>
      <p:pic>
        <p:nvPicPr>
          <p:cNvPr id="9" name="Picture 8" descr="s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039527"/>
            <a:ext cx="5852160" cy="383050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Incwadi yami yemali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Bhala igama lakho ekhaveni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Zijwayeze: uMsombuluko weSizanani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Kusukela namuhla ebusuku: ingadi yakho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PHOTO · R-PHO-01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 real money book page and tin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Real photograph, taken by the programme on Day 0: the course money book (P1) open on a wooden table, filled in by hand with **Lerato's week** (made-up data — never a learner's real book), a pencil, and a tin with its lid off showing play money. Daylight, from above, no faces. 1920 × 1080.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R-D2-09   ·   Poster R-P09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4E0"/>
                </a:solidFill>
                <a:latin typeface="Arial Rounded MT Bold"/>
              </a:rPr>
              <a:t>Isivuno saya kuphi?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Kudliwe · kuphiwe abanye · kuthengisiwe · kulahlekile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ANIMATION · R-ANI-06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Where the harvest goes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full basket of greens (0–2 s). Bunches lift out and travel along four paths: to a family pot on a fire (4 bunches), over a fence to a neighbour (1), to a buyer at a gate who hands back coins (4), and one wilts and falls to a goat (1) (2–10 s). Beside the family pot, a coin stays in a purse (money saved) (10–12 s). Poster frame: the four paths.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Vuna, bopha, bhala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Vunani izixha ezi-5 — amaqabunga angaphandle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Kalani isixha esisodwa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Gcwalisani irekhodi lesivuno (25 min)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Bunches weighed and counted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At the edge of a garden bed, a group of five (mixed ages) around a crate: one cuts outer leaves of leafy greens (leaving the heart), one ties even bunches with rubber bands, one hangs a bunch on a simple kitchen hanging scale, one sits on a bucket writing in a harvest record (lines only), one carries a basket. Morning light from the north. No text.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R-D2-11   ·   Poster R-P09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Ukudla okudliwe kuyimali eyongiwe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Izixha ezi-8 × R12 = R96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I-R96 yasala esikhwameni sikaGogo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Isizini: R480 engasetshenziswanga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R-P09-ART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R-P09 · Where did the harvest go?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big woven basket of leafy greens in the centre. Four arrows lead to: ① a family (gogo, mother, two children) eating from a pot of greens and pap at a table ② a woman handing a bunch over a fence to a neighbour ③ a buyer at the garden gate handing coins for a bunch ④ wilted leaves on the ground, a goat's head reaching through a broken fence, a snail on…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R-D2-12   ·   Poster R-P10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Bala zonke izindleko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Imbewu · i-compost · amanzi · imali yokugibela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Amarabha, izikhwama, amathuluzi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Isikhathi sakho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R-P10 · Count every cost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healthy leafy bed in the centre (generic greens). Six items around it, each linked by a dotted line: ① a blank seed packet with a seed shape ② a bag of compost and a wheelbarrow of kraal manure ③ a JoJo-style tank with a tap and a watering can ④ a minibus taxi ⑤ rubber bands, a spade, a watering can ⑥ a clock beside a woman bent over the bed working.…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Umbhede wesipinashi kaLerato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Amakhadi ezindleko ayi-12, izinqwaba ezimbili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Hlanganisani izindleko zemali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Imali yokudlala kuqala, ikhalkhuletha ekugcineni (20 min)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R-IMG-09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Cost cards (12)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A4 sheet, 12 cards (3 × 4), each one object, no text (amounts are printed on the card backs — printables P17): 1 seed packet (blank) · 2 compost bag · 3 wheelbarrow of kraal manure (dashed outline — "free but not free") · 4 tap with a watering can (municipal water) · 5 JoJo-style tank with rain (dashed outline) · 6 rubber bands · 7 minibus taxi · 8…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R-D2-14   ·   Poster R-P10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Izindleko zesizini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Izindleko zemali: R510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Kanye namahora angu-44 esikhathi sakhe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Kuvunwe izixha ezingu-150</a:t>
            </a:r>
          </a:p>
        </p:txBody>
      </p:sp>
      <p:pic>
        <p:nvPicPr>
          <p:cNvPr id="7" name="Picture 6" descr="expense-reco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7984"/>
            <a:ext cx="5852160" cy="329359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Gcina zonke izilipi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Dweba indilinga esambeni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Yinamathisele, noma uyifake emvilophini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Asikho isilipi? Bhala esakho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PHOTO · R-PHO-02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 till slip glued into the 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Real photograph: a till slip from an agri/hardware shop (seed and compost) glued onto the slip page (P2), the total circled in pen and the money-book line number written beside it. Blur or crop any shop name, card digits or personal details. 1920 × 1080.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FF4E0"/>
                </a:solidFill>
                <a:latin typeface="Calibri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Skena isilipi sasesitolo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Spent → New entry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Take photo → Read with Lima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Hlola kahle, bese uyagcina</a:t>
            </a:r>
          </a:p>
        </p:txBody>
      </p:sp>
      <p:pic>
        <p:nvPicPr>
          <p:cNvPr id="9" name="Picture 8" descr="spent-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039527"/>
            <a:ext cx="5852160" cy="383050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R-D2-17   ·   Poster R-P11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4E0"/>
                </a:solidFill>
                <a:latin typeface="Arial Rounded MT Bold"/>
              </a:rPr>
              <a:t>Isixha esisodwa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Izindleko · intengo · inzuzo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R-P11 · One bunch: cost, price, profit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Top half: ① a pile of generic notes and coins on the left ② a row of many spinach bunches on the right ③ a curved arrow that shares the money onto one single bunch, which now sits on a tiny coin stack. Bottom half: three steps like a staircase: ④ the bottom step — a bunch resting on a small coin stack (the floor) ⑤ the middle step — a market stall with…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R-D2-18   ·   Poster R-P11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Izindleko zesixha esisodwa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Zonke izindleko ÷ zonke izixha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R510 ÷ 150 = R3.40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Ungalokothi uthengise ngaphansi kwazo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R-P11 · One bunch: cost, price, profit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Top half: ① a pile of generic notes and coins on the left ② a row of many spinach bunches on the right ③ a curved arrow that shares the money onto one single bunch, which now sits on a tiny coin stack. Bottom half: three steps like a staircase: ④ the bottom step — a bunch resting on a small coin stack (the floor) ⑤ the middle step — a market stall with…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R-D2-19   ·   Poster R-P11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Intengo efanele, inzuzo eqotho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Intengo ephansi · imakethe · umthengi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R1 080 − R510 = R570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Kanye no-R480 wokudla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R-P11 · One bunch: cost, price, profit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Top half: ① a pile of generic notes and coins on the left ② a row of many spinach bunches on the right ③ a curved arrow that shares the money onto one single bunch, which now sits on a tiny coin stack. Bottom half: three steps like a staircase: ④ the bottom step — a bunch resting on a small coin stack (the floor) ⑤ the middle step — a market stall with…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R-D2-20   ·   Poster R-P12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Gcwalisa inkomishi kuqala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Izindleko zesizini: R600 = ubhontshisi ongu-60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Isixha ngasinye sishiya R10 = ubhontshisi owodwa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Izixha ezingu-60 = i-break-even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R-P12 · Break-even with beans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big clay cup or tin in the centre, labelled only by a small icon of a fence, a watering can and a taxi on its side (the season's costs). ① The cup is almost full of beans. ② A line of spinach bunches walks towards the cup (drawn as a row); from each bunch drops **one bean** into the cup. ③ The cup is exactly full, with a small star at the rim. ④ Beyond…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I-break-even ngobhontshisi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Fakani ubhontshisi owodwa ngesixha ngasinye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Balani kuze kugcwale inkomishi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Zamani: intengo yehla ibe yi-R10 (15 min)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R-D2-22   ·   Poster R-P13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Imali kuyo yonke isizini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Imali iphuma kuqala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Imali ingena kamuva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Thola inyanga enzima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ANIMATION · R-ANI-05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The season tin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One tin in the foreground, a garden in the background that changes through 12 months (2 s per month), starting in spring (September): sowing → seedlings → growth → full harvest → autumn planting → winter greens with frost cloth → dry late winter. The sun moves lower in the **northern** sky in winter. The coin level in the tin: falls in September (coins…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Ithini lensimu lakwaDlamini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Qalani: R200 ngomhla ka-1 Septemba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Inyanga ngenyanga, ngemali yokudlala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Bomvu uma kungaphansi kukaziro (25 min)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FF4E0"/>
                </a:solidFill>
                <a:latin typeface="Calibri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Financial sheet (Ishidi lezimali)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My Records → Financial sheet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Inyanga: Income · Expenses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Imali esele erekhodiwe ≠ inzuzo yesizini</a:t>
            </a:r>
          </a:p>
        </p:txBody>
      </p:sp>
      <p:pic>
        <p:nvPicPr>
          <p:cNvPr id="9" name="Picture 8" descr="financial-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039527"/>
            <a:ext cx="5852160" cy="383050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Ukuhlola ekupheleni kwenyanga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Engenayo · ephumayo · ibhalansi · ukubala ithini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Engiyikweletwayo · engiyikweletayo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Okuyiswe ekhaya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PHOTO · R-PHO-01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 real money book page and tin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Real photograph, taken by the programme on Day 0: the course money book (P1) open on a wooden table, filled in by hand with **Lerato's week** (made-up data — never a learner's real book), a pencil, and a tin with its lid off showing play money. Daylight, from above, no faces. 1920 × 1080.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R-D2-26   ·   Poster R-P08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Okwenziwa ekhaya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Bhala yonke irandi yensimu izinsuku ezi-7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Hlola intengo: isixha esisodwa, nokunye okukodwa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Imali yokudlala: ibaleni yonke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R-P08-ART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R-P08 · The money 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large open exercise book, seen from above, on a wooden table. The left page has a grid of five columns; the column heads are **icons only**: ① a small calendar ② a leaf and a taxi (what happened) ③ a coin with an arrow going in ④ a coin with an arrow going out ⑤ a tin. Rows have scribble marks, not numbers. ⑥ The right page is a separate list with a…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