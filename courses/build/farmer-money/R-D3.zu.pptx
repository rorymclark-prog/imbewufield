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R-D3-S0. Register; energiser Market Shout; "what did you sleep on?"; rotate roles.</a:t>
            </a:r>
          </a:p>
          <a:p/>
          <a:p>
            <a:r>
              <a:t>Picture R-IMG-05 (coming) — Market day: A busy but friendly informal market scene at a taxi rank on a sunny morning (sun in the north). In the foreground a young woman grower hands a crate of even, clean bunches of greens to a creche cook in an apron, who counts them; the grower holds a small duplicate book and pen. Middle ground: a hawker's wheelbarrow stall with greens and tomatoes; a spaza shop with a serving hatch and crates (no signage). Background: minibus taxis (no branding), people of all ages. Generic notes changing hands at the hawker stall.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R-D3-S1. Start with the price board from the homework. Why are prices different? Who you sell to changes your price.</a:t>
            </a:r>
          </a:p>
          <a:p/>
          <a:p>
            <a:r>
              <a:t>Poster: R-P14</a:t>
            </a:r>
          </a:p>
          <a:p>
            <a:r>
              <a:t>Also: R-ANI-08</a:t>
            </a:r>
          </a:p>
          <a:p>
            <a:r>
              <a:t>Picture R-P14-ART (coming) — Artwork for R-P14 · Who buys? What do they want?: A garden gate in the centre with a woman holding a crate of even, clean bunches. Six paths lead out to: ① a neighbour at the gate with a small bag ② a spaza shop (small building with a serving hatch, crates of vegetables, no signage) ③ a hawker at a taxi rank with a wheelbarrow stall ④ a creche kitchen door with a cook and a delivery crate ⑤ a market stall under a green awning ⑥ five growers carrying crates together to one bakkie.</a:t>
            </a:r>
          </a:p>
          <a:p>
            <a:r>
              <a:t>Clip R-ANI-08: public/course-media/farmer-money/R-ANI-08.mp4</a:t>
            </a:r>
          </a:p>
          <a:p>
            <a:r>
              <a:t>Picture R-ANI-08 (coming) — Surplus routes: A basket of harvested vegetables at a homestead; paths lead to three destinations one by one: the family table, a neighbour at the fence, and a small roadside table where a buyer hands over plain generic money (no real currency). (Replaces the withdrawn clip `market-community/watch-09-surplus-routes.mp4`.)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R-D3-S1. Why = amount, price, when paid, quality, distance. Reporters: top buyer + one reason, 30 seconds.</a:t>
            </a:r>
          </a:p>
          <a:p/>
          <a:p>
            <a:r>
              <a:t>Picture R-IMG-10 (coming) — Buyer cards (6): A4 sheet, 6 cards (2 × 3), each one buyer, no text (facts on the backs — printables P16): 1 a neighbour at a garden gate with a shopping bag · 2 a spaza shop hatch with a shopkeeper and crates (no signage) · 3 a hawker with a wheelbarrow stall at a taxi rank · 4 a creche cook at a kitchen door with a delivery crate · 5 a market stall under an awning with a trader and scale · 6 five growers loading crates onto one bakkie (selling together).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R-D3-S1. Hold up the good and bad bunch. Which would you buy?</a:t>
            </a:r>
          </a:p>
          <a:p/>
          <a:p>
            <a:r>
              <a:t>Poster: R-P14</a:t>
            </a:r>
          </a:p>
          <a:p>
            <a:r>
              <a:t>Picture R-IMG-08 (coming) — Good bunch, bad bunch: Two bunches of leafy greens side by side on a plank. **Left (good):** fresh, upright, clean, deep green, even leaf size, neatly tied with a band, in the shade of a crate. **Right (bad):** wilted, soil on the stems, yellow and holed leaves, mixed sizes, loosely tied, lying in the sun. A small tick-shaped leaf above the left and a drooping leaf above the right (no letters or symbols that need translating).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R-D3-S1. Five neighbours × 20 bunches = the creche's 100. Taxi R60 together, not R150. Groups: what must they agree? (quality, delivery, one book, receipts per member, how to share money).</a:t>
            </a:r>
          </a:p>
          <a:p/>
          <a:p>
            <a:r>
              <a:t>Poster: R-P14</a:t>
            </a:r>
          </a:p>
          <a:p>
            <a:r>
              <a:t>Also: R-ANI-09</a:t>
            </a:r>
          </a:p>
          <a:p>
            <a:r>
              <a:t>Clip R-ANI-09: public/course-media/farmer-money/R-ANI-09.mp4</a:t>
            </a:r>
          </a:p>
          <a:p>
            <a:r>
              <a:t>Picture R-ANI-09 (coming) — The community network: Several homestead gardens on a hillside light up one by one and are joined by footpaths; people walk between them carrying seed packets, seedlings and tools; a group gathers in a circle at one host garden. (Replaces the withdrawn clip `market-community/watch-14-community-network.mp4`.)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R-D3-S2. Ask: the creche says "only 20 bunches". What can Lerato show?</a:t>
            </a:r>
          </a:p>
          <a:p/>
          <a:p>
            <a:r>
              <a:t>Poster: R-P15</a:t>
            </a:r>
          </a:p>
          <a:p>
            <a:r>
              <a:t>Picture R-IMG-05 (coming) — Market day: A busy but friendly informal market scene at a taxi rank on a sunny morning (sun in the north). In the foreground a young woman grower hands a crate of even, clean bunches of greens to a creche cook in an apron, who counts them; the grower holds a small duplicate book and pen. Middle ground: a hawker's wheelbarrow stall with greens and tomatoes; a spaza shop with a serving hatch and crates (no signage). Background: minibus taxis (no branding), people of all ages. Generic notes changing hands at the hawker stall.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R-D3-S2. Invoice = you owe me. Receipt = you paid me. Your copy stays in your book. Then a 3-minute demo — then stop and hand over.</a:t>
            </a:r>
          </a:p>
          <a:p/>
          <a:p>
            <a:r>
              <a:t>Poster: R-P15</a:t>
            </a:r>
          </a:p>
          <a:p>
            <a:r>
              <a:t>Also: R-P15-ART</a:t>
            </a:r>
          </a:p>
          <a:p>
            <a:r>
              <a:t>Clip R-ANI-03: public/course-media/farmer-money/R-ANI-03.mp4</a:t>
            </a:r>
          </a:p>
          <a:p>
            <a:r>
              <a:t>Picture R-ANI-03 (coming) — From order to receipt: Five beats, 5 s each, same two characters (a young woman grower, a creche cook). 1 Phone order: two phones, a speech bubble with a bunch icon and a crate icon. 2 Delivery: the grower hands a crate; the cook counts bunches one by one (a tally appears as dots) and signs a paper. 3 Invoice: the grower tears the top copy from a book and hands it over; the copy stays in her book (it glows faintly). 4 Paid: a calendar page flips; the cook hands over generic notes. 5 Receipt: the grower writes and tears out a receipt; the cook tucks it into a folder; both nod. Poster frame: beat 3.</a:t>
            </a:r>
          </a:p>
          <a:p>
            <a:r>
              <a:t>Picture R-P15-ART (coming) — Artwork for R-P15 · From order to receipt: A five-panel comic strip, reading left to right and top to bottom: ① a creche cook on a phone, a young woman grower on another phone (the order) ② the grower delivering a crate; the cook counting bunches and signing a paper ③ the grower handing over a paper with a torn-off copy staying in her book (invoice) ④ a few weeks later (a calendar with a page turned), the cook handing over notes ⑤ the grower tearing out a receipt and handing it to the cook; both smiling. Papers show lines only — no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R-D3-S2. Buyer tables: SPAZA (half now, half Friday), CRECHE (month-end, needs invoice), HAWKER (cash, no paper). Twist cards at 11:15: wilted bunches returned; treasurer away; no receipt given.</a:t>
            </a:r>
          </a:p>
          <a:p/>
          <a:p>
            <a:r>
              <a:t>Picture R-IMG-05 (coming) — Market day: A busy but friendly informal market scene at a taxi rank on a sunny morning (sun in the north). In the foreground a young woman grower hands a crate of even, clean bunches of greens to a creche cook in an apron, who counts them; the grower holds a small duplicate book and pen. Middle ground: a hawker's wheelbarrow stall with greens and tomatoes; a spaza shop with a serving hatch and crates (no signage). Background: minibus taxis (no branding), people of all ages. Generic notes changing hands at the hawker stall.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R-D3-S2. At 12:05: each seller group reads its Owed page. Practise a polite reminder in the local language.</a:t>
            </a:r>
          </a:p>
          <a:p/>
          <a:p>
            <a:r>
              <a:t>Poster: R-P15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 [APP]. Creche, 30 bunches × R12 = R360, due month-end. Save invoice. Share PDF to see — do not send to a real person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 [APP]. Unpaid invoices stay outstanding — the app's Owed page. Marking paid records the sale once. Past sale / paper invoice is for invoices already written on paper.</a:t>
            </a:r>
          </a:p>
          <a:p/>
          <a:p>
            <a:r>
              <a:t>Also: R-IMG-36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R-D3-S2 [PAPER]. Invoice (P6) and receipt (P7) for the creche order. Amount in words is optional; the buyer's signature matters.</a:t>
            </a:r>
          </a:p>
          <a:p/>
          <a:p>
            <a:r>
              <a:t>Picture R-PHO-01 (coming) — A real money book page and tin: Real photograph, taken by the programme on Day 0: the course money book (P1) open on a wooden table, filled in by hand with **Lerato's week** (made-up data — never a learner's real book), a pencil, and a tin with its lid off showing play money. Daylight, from above, no faces. 1920 × 1080.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R-D3-S3. Energiser Pass the Clap first (5 min). Take all answers.</a:t>
            </a:r>
          </a:p>
          <a:p/>
          <a:p>
            <a:r>
              <a:t>Poster: R-P16</a:t>
            </a:r>
          </a:p>
          <a:p>
            <a:r>
              <a:t>Picture R-P16-ART (coming) — Artwork for R-P16 · Borrow wisely: A young man (mid-20s, cap, overalls) stands at a crossroads, a thought bubble above him showing a small water pump. Four paths lead to: ① a street corner where only a pair of hands is shown, holding a thick stack of bank cards and ID books (the danger — no face, no ethnicity) ② a plain office desk with forms, a stamp, and a person explaining a paper ③ a savings-group circle around the three-lock cash box ④ a row of tins filling up month by month, and two neighbours sharing one pump. Callouts ⑤ and ⑥ sit on the young man: a question mark shape over the tins (what if?), and his hand holding his own card tightly.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R-D3-S3. Cost of a loan = pay back − borrowed. Registered lenders show an NCR number and give a written quote.</a:t>
            </a:r>
          </a:p>
          <a:p/>
          <a:p>
            <a:r>
              <a:t>Poster: R-P16</a:t>
            </a:r>
          </a:p>
          <a:p>
            <a:r>
              <a:t>Also: R-ANI-04</a:t>
            </a:r>
          </a:p>
          <a:p>
            <a:r>
              <a:t>Picture R-P16-ART (coming) — Artwork for R-P16 · Borrow wisely: A young man (mid-20s, cap, overalls) stands at a crossroads, a thought bubble above him showing a small water pump. Four paths lead to: ① a street corner where only a pair of hands is shown, holding a thick stack of bank cards and ID books (the danger — no face, no ethnicity) ② a plain office desk with forms, a stamp, and a person explaining a paper ③ a savings-group circle around the three-lock cash box ④ a row of tins filling up month by month, and two neighbours sharing one pump. Callouts ⑤ and ⑥ sit on the young man: a question mark shape over the tins (what if?), and his hand holding his own card tightly.</a:t>
            </a:r>
          </a:p>
          <a:p>
            <a:r>
              <a:t>Clip R-ANI-04: public/course-media/farmer-money/R-ANI-04.mp4</a:t>
            </a:r>
          </a:p>
          <a:p>
            <a:r>
              <a:t>Picture R-ANI-04 (coming) — How a debt grows — and the reserve that stops it: Left half: a young man receives a small stack of generic notes from a pair of hands (no face) (0–3 s). A calendar flips month by month; each flip, a new, larger stack appears on the "pay back" side, and his card is shown being held by the other hands (3–10 s). Right half, same young man: he drops a single coin into a padlock tin each week (calendar flips); the tin fills slowly (10–17 s). Final beat: a pump breaks; he pays for the repair from the tin and keeps his card in his own pocket (17–20 s). Poster frame: split screen at 10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R-D3-S3. Costs: A R1 500 (and keeps the card — illegal), B R840 (R640 a month — garden has R400), C R450 (R1 150 a month for 3 months — too big; borrow less), D R0 (save R500 a month; hire a pump meanwhile).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R-D3-S3. NCR 0860 627 627. Never borrow with interest for food, parties or another loan. Reserve: R20 × 25 weeks = R500, kept in SAVE, for real emergencies.</a:t>
            </a:r>
          </a:p>
          <a:p/>
          <a:p>
            <a:r>
              <a:t>Poster: R-P16</a:t>
            </a:r>
          </a:p>
          <a:p>
            <a:r>
              <a:t>Picture R-P16-ART (coming) — Artwork for R-P16 · Borrow wisely: A young man (mid-20s, cap, overalls) stands at a crossroads, a thought bubble above him showing a small water pump. Four paths lead to: ① a street corner where only a pair of hands is shown, holding a thick stack of bank cards and ID books (the danger — no face, no ethnicity) ② a plain office desk with forms, a stamp, and a person explaining a paper ③ a savings-group circle around the three-lock cash box ④ a row of tins filling up month by month, and two neighbours sharing one pump. Callouts ⑤ and ⑥ sit on the young man: a question mark shape over the tins (what if?), and his hand holding his own card tightly.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R-D3-S4. Plans are private. Pictures and ticks are fine. No real amounts needed.</a:t>
            </a:r>
          </a:p>
          <a:p/>
          <a:p>
            <a:r>
              <a:t>Poster: R-P17</a:t>
            </a:r>
          </a:p>
          <a:p>
            <a:r>
              <a:t>Picture R-P17-ART (coming) — Artwork for R-P17 · My money plan: A woman in her 30s and a young man sit at a table outdoors, each drawing on a large sheet. Around them, floating like a mind-map, five small pictures: ① a goal (a school uniform, a water tank, a small shelter for a stall) ② three tins ③ an open money book with a pencil and a sun/moon symbol (when I write) ④ a calendar with one month circled and a small padlock tin (reserve) ⑤ a footprint stepping onto a path towards a buyer at a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R-D3-S4. Readers help only if asked. Amounts stay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R-D3-S4. Write totals next to Day 1's. Now give the answers and celebrate the change.</a:t>
            </a:r>
          </a:p>
          <a:p/>
          <a:p>
            <a:r>
              <a:t>Picture R-IMG-20 (coming) — Picture quiz cards (8 × 3): Eight A4 landscape cards, one per quiz question (README table). Each card: a small question picture on the top third, and three answer panels below marked by a **big letter A, B, C typeset by the layout** (the art itself has no letters). 1 · top: coins from a spinach sale; A: coins into a purse with other things; B: coins into a tin beside an open book; C: many hands reaching. 2 · top: a question-shape above a shopping basket; A: phone with game; B: bag of maize meal; C: fancy cap. 3 · top: a phone ringing; A: an older woman speaking into it, relaxed; B: the same, covering half her mouth; C: her hand putting the phone down, firm. 4 · top: a spaza owner receiving 20 bunches; A: bunches at the spaza + an empty hand with a calendar page; B: an empty hand; C: bunches on a rubbish heap. 5 · top: seed packet + compost bag + a pile of coins; A/B/C: three coin piles of clearly different sizes (small, medium, large — the numbers are typeset). 6 · top: a hand receiving notes; A/B/C: three paths with coin piles of different heights and calendars with different numbers of pages. 7 · top: a hand passing a card to another hand (lender, hands only); A: a shrug; B: a red stop hand; C: a heart. 8 · top: a row of tins (season); A: a gift; B: school shoes and uniform; C: a frost-covered 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R-D3-SC. Evaluation (forms.md §6 Q1–6, stickers on the 17 poster topics). Certificates: say each name, hand over, shake hands. Photos only with consent. Money back — the last count.</a:t>
            </a:r>
          </a:p>
          <a:p/>
          <a:p>
            <a:r>
              <a:t>Picture R-IMG-01 (coming) — The three families: Three side-by-side scenes, equal width, one per family, same style, a thin Hairline divider between them. **Left — the Dlamini household (rural KZN):** a rondavel and a small block house on a green hillside; a 2 500 ℓ plastic water tank beside the house; trench beds with leafy greens, cabbages and a row of maize. A grandmother (70s, headscarf, cardigan) seated on a chair; her daughter (40s) standing with a hoe; a young man (early 20s) with a phone in his pocket; two children (8 and 12) carrying a watering can. **Middle — the Mokoena household (peri-urban Free State):** a small RDP-style house with a fence of droppers and wire, flat dry grassland beyond; three raised beds with greens and onions, a small plot of green maize. A woman (mid-30s, braids) tying a bunch of greens; a boy (11) and a girl (6) at her side. **Right — Sizanani Youth Garden (Mpumalanga):** a church building with a corrugated-iron roof; beside it a plot with seedling trays on a bench under shade-cloth and greens in rows; three young people (two men, one woman, 21–27) carrying buckets of water. Sun high in the north (shadows fall to the south).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R-D3-01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1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USUKU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800" b="1">
                <a:solidFill>
                  <a:srgbClr val="FFF4E0"/>
                </a:solidFill>
                <a:latin typeface="Arial Rounded MT Bold"/>
              </a:rPr>
              <a:t>Usuku 3 · Ukuthengisa nokukhula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Farmer Money · Usuku 3 kwezi-3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Thengisa kahle · boleka ngokuhlakanipha · hlela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Market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Ubani othengayo?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Umakhelwane · isipaza · umthengisi wasemgwaqweni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Ikhishi lekhilishi · itafula lasemakethe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Ukuthengisa ndawonye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R-P14 · Who buys? What do they want?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R-P14-ART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3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Umthengi ongcono emndenini wethu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Amakhadi abathengi ayisithupha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0184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Wabekeni ngokulandelana, ongcono phezulu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Yishoni ukuthi kungani (15 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Buyer cards (6)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Ikhwalithi iyintengo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Kuvunwe ekuseni · kupholile · kuhlanzekile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Ubukhulu obufanayo · kufana njalo ngesonto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Ngesikhathi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Good bunch, bad bunch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Ukuthengisa ndawonye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Abalimi abahlanu, i-oda elilodwa elikhulu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Itekisi elilodwa, izindleko ziyabiwa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Amarekhodi acacile elungu ngalinye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rket-community-l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2118868"/>
            <a:ext cx="5279136" cy="3519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FF4E0"/>
                </a:solidFill>
                <a:latin typeface="Calibri"/>
              </a:rPr>
              <a:t>IPHOSTA R-P15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R-D3-06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6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USUKU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Usuku lwemakethe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Kusuka ku-oda kuya kurisidi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Market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2B2B2B"/>
                </a:solidFill>
                <a:latin typeface="Arial Rounded MT Bold"/>
              </a:rPr>
              <a:t>Izinyathelo ezinhlanu, ubufakazi obuhlanu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3256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I-oda → ukuletha → i-invoyisi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Kukhokhiwe → irisidi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Iphepha ngalinye lifakazela isinyathelo esisodwa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706880"/>
            <a:ext cx="5608320" cy="423672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82000" y="2865120"/>
            <a:ext cx="822960" cy="822960"/>
          </a:xfrm>
          <a:prstGeom prst="ellipse">
            <a:avLst/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87096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From order to receipt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IVIDIYO · R-ANI-03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8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Umdlalo wosuku lwemakethe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Umzuliswano 1: abathengisi aba-3, abathengi aba-3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Landelani ikhadi lenu lendima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6735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Shintshanani emzuliswaneni 2 (20 + 20 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Market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Imali ekweletwayo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Ekweletwayo ayikho ethinini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Vumelanani ngosuku lokukhokha, nikubhale phansi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Asikho isikweletu esisha ize ikhokhwe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10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E0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972312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2B2B2B"/>
                </a:solidFill>
                <a:latin typeface="Arial Rounded MT Bold"/>
              </a:rPr>
              <a:t>Invoice builder (Isakhi se-invoyisi)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3256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I-invoyisi entsha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Izinto, intengo, isamba okufanele sikhokhwe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Umthengi usekhokhile? Akakakhokhi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706880"/>
            <a:ext cx="5608320" cy="423672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n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2097522"/>
            <a:ext cx="5279136" cy="34554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11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E0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972312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B2B2B"/>
                </a:solidFill>
                <a:latin typeface="Arial Rounded MT Bold"/>
              </a:rPr>
              <a:t>Yibhale ukuthi ikhokhiwe — kanye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590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Vula i-invoyisi egciniwe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Yebo — ikhokhwe yonke + usuku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Ungabe usayifaka naku-Sold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760220"/>
            <a:ext cx="5608320" cy="418338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yment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2124192"/>
            <a:ext cx="5279136" cy="34554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B2B2B"/>
                </a:solidFill>
                <a:latin typeface="Arial Rounded MT Bold"/>
              </a:rPr>
              <a:t>Izincwadi zama-invoyisi namarisidi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590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I-invoyisi: cindezela kakhulu, gcina ikhophi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Ikhasi lemali engiyikweletwayo: R360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Kukhokhiwe? Irisidi, thikha, imali ingene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760220"/>
            <a:ext cx="5608320" cy="418338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2000" y="289179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89763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 real money book page and 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R-PHO-01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FF4E0"/>
                </a:solidFill>
                <a:latin typeface="Calibri"/>
              </a:rPr>
              <a:t>IPHOSTA R-P16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R-D3-13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13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USUKU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800" b="1">
                <a:solidFill>
                  <a:srgbClr val="FFF4E0"/>
                </a:solidFill>
                <a:latin typeface="Arial Rounded MT Bold"/>
              </a:rPr>
              <a:t>Boleka ngokuhlakanipha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UBongani ufuna iphampu ye-R3 000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Angayithola kuphi?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R-P16 · Borrow wisely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R-P16-ART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2B2B2B"/>
                </a:solidFill>
                <a:latin typeface="Arial Rounded MT Bold"/>
              </a:rPr>
              <a:t>Imibuzo emihlanu ngaphambi kokuboleka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3256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Ngiboleka ukwenzani? Izindleko zonke?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Ngingakhokha? Ubhalisiwe?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Kuthiwani uma...?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706880"/>
            <a:ext cx="5608320" cy="423672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86512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87096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R-P16 · Borrow wisely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R-P16-ART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15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B2B2B"/>
                </a:solidFill>
                <a:latin typeface="Arial Rounded MT Bold"/>
              </a:rPr>
              <a:t>Izindlela ezine zokuthola u-R3 000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134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071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071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52828"/>
            <a:ext cx="9951720" cy="1018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Balani i-offer ngayinye ngemali yokudlala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11658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165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623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Uthola · ubuyisela · izindleko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82981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298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7553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Ingadi ingakhokha? (20 min)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9448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2B2B2B"/>
                </a:solidFill>
                <a:latin typeface="Arial Rounded MT Bold"/>
              </a:rPr>
              <a:t>Umbolekisi ongekho emthethweni · imali egciniwe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5928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25040"/>
            <a:ext cx="5074920" cy="3764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Ugcina ikhadi lakho? Hamba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Ayikho inombolo ye-NCR? Hamba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Imali egciniwe: R20 ngesonto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133600"/>
            <a:ext cx="5608320" cy="381000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307848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307848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408432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R-P16 · Borrow wisely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R-P16-ART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IPHOSTA R-P17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Uhlelo lwami lwemali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Umgomo · amathini amathathu · usuku lwencwadi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Inyanga enzima nemali egciniwe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Isinyathelo esisodwa ngenyanga ezayo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R-P17 · My money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R-P17-ART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18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B2B2B"/>
                </a:solidFill>
                <a:latin typeface="Arial Rounded MT Bold"/>
              </a:rPr>
              <a:t>Yenzani uhlelo lwenu nixoxe ngalo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134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071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071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5282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15 min: uhlelo lwami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2034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2034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66060"/>
            <a:ext cx="9951720" cy="1018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2 min ngamunye: umgomo nesinyathelo esisodwa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82981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298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7553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Inkanyezi eyodwa evela eqenjini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R-D3-19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19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Imibuzo ngezithombe — futhi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Amakhadi afanayo, amakhona afanayo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Yini eshintshile?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Picture quiz cards (8 ×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R-D3-20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USUKU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Izitifiketi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Farmer Money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Halala, nenze kahle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three families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ISITHOMBE · R-IMG-01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