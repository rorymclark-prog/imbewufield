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A-D2-S0. Register; energiser (each group: two true sentences about AI, one lie); what did you</a:t>
            </a:r>
          </a:p>
          <a:p>
            <a:r>
              <a:t>sleep on — who tried AI at home? Rotate roles. Day promise.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09:30. AI sign on for the hook; the room checks from its own knowledge (about half a</a:t>
            </a:r>
          </a:p>
          <a:p>
            <a:r>
              <a:t>metre — F-P15). "When we don't know, we need a ladder."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09:35. Ask first: how do you check a rumour in the village? A learner says each rung</a:t>
            </a:r>
          </a:p>
          <a:p>
            <a:r>
              <a:t>in their language. Rung 1 includes "sun in the north, our seasons".</a:t>
            </a:r>
          </a:p>
          <a:p/>
          <a:p>
            <a:r>
              <a:t>Poster: A-P07</a:t>
            </a:r>
          </a:p>
          <a:p>
            <a:r>
              <a:t>Also: A-ANI-04, A-ANI-05</a:t>
            </a:r>
          </a:p>
          <a:p>
            <a:r>
              <a:t>Clip A-ANI-04: public/course-media/ai-literacy/A-ANI-04.mp4</a:t>
            </a:r>
          </a:p>
          <a:p>
            <a:r>
              <a:t>Clip A-ANI-05: public/course-animations/reading-landscape/watch-09-sun-shadows.mp4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09:43. Red = sprays and poisons, medicine, animal health, loans, grants, SASSA,</a:t>
            </a:r>
          </a:p>
          <a:p>
            <a:r>
              <a:t>contracts, land. The label is the law. Groups sort T-01…T-12 (6 min).</a:t>
            </a:r>
          </a:p>
          <a:p/>
          <a:p>
            <a:r>
              <a:t>Poster: A-P08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09:53. Sets in the prompt-cards answer key. Check-it cards C-01…C-06 go round.</a:t>
            </a:r>
          </a:p>
          <a:p>
            <a:r>
              <a:t>Groups with a phone ask the same question again, differently. 10:10 report one mistake each;</a:t>
            </a:r>
          </a:p>
          <a:p>
            <a:r>
              <a:t>read the key.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10:18. Pairs. Then check one card as a room — ideally a red one. Model "I don't know —</a:t>
            </a:r>
          </a:p>
          <a:p>
            <a:r>
              <a:t>I'd ask the extension officer." Hand out Check Ladder (K-08) and Who to Ask (K-07).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10:50. Ask: what's in your wallet you'd never give a stranger?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A-D2-S2. POPIA in plain words: organisations must say why, use it only for that, keep it safe;</a:t>
            </a:r>
          </a:p>
          <a:p>
            <a:r>
              <a:t>you can ask what they hold and complain to the Information Regulator. AI apps may keep what you</a:t>
            </a:r>
          </a:p>
          <a:p>
            <a:r>
              <a:t>type — ask about spinach, not your bank.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10:55. H-cards. Go through the "never" pile together (answer key).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11:10. Settings → Account → Two-step verification. Settings → Privacy → Groups, Profile</a:t>
            </a:r>
          </a:p>
          <a:p>
            <a:r>
              <a:t>photo, About, Last seen → My contacts. Block and report. No-phone learners use the paper phone.</a:t>
            </a:r>
          </a:p>
          <a:p>
            <a:r>
              <a:t>Say twice: nobody real ever asks for the code.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11:30. First play the fake voice note (Day 0 recording, a facilitator's voice). Then</a:t>
            </a:r>
          </a:p>
          <a:p>
            <a:r>
              <a:t>the warning signs: hurry, secret, money/airtime/code, too good to be true, a link, a fee for a</a:t>
            </a:r>
          </a:p>
          <a:p>
            <a:r>
              <a:t>job, grant or loan.</a:t>
            </a:r>
          </a:p>
          <a:p/>
          <a:p>
            <a:r>
              <a:t>Poster: A-P10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11:40. S-cards, 15 min + 5 min key. Spend time on S-06 (real) and S-09 (grant with a</a:t>
            </a:r>
          </a:p>
          <a:p>
            <a:r>
              <a:t>fee) and S-10 (check via the number on your own card).</a:t>
            </a:r>
          </a:p>
          <a:p/>
          <a:p>
            <a:r>
              <a:t>Poster: A-P10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12:00. Ask how you can tell; point the four callouts. Don't try to be a pixel detective</a:t>
            </a:r>
          </a:p>
          <a:p>
            <a:r>
              <a:t>— money, secrets or codes mean stop.</a:t>
            </a:r>
          </a:p>
          <a:p/>
          <a:p>
            <a:r>
              <a:t>Poster: A-P11</a:t>
            </a:r>
          </a:p>
          <a:p>
            <a:r>
              <a:t>Also: A-ANI-03</a:t>
            </a:r>
          </a:p>
          <a:p>
            <a:r>
              <a:t>Clip A-ANI-03: public/course-media/ai-literacy/A-ANI-03.mp4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12:07. Swap once. Debrief at 12:15; hand out Scam Stop cards (K-09).</a:t>
            </a:r>
          </a:p>
          <a:p/>
          <a:p>
            <a:r>
              <a:t>Poster: A-P11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13:15. Energiser: read the four D-00 messages; stand = machine, sit = person.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13:20. CVs, funding requests and reports carry your name. Never send what isn't true.</a:t>
            </a:r>
          </a:p>
          <a:p>
            <a:r>
              <a:t>Be honest if asked whether you had help.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[PAPER], 13:28. AI chat with the Question Hand, or printed drafts D-01…D-04. Made-up</a:t>
            </a:r>
          </a:p>
          <a:p>
            <a:r>
              <a:t>names only in CVs. Fix, rewrite, two groups read aloud.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[APP], 13:28. Flat slip, good light, whole slip. The reader takes the total, a short</a:t>
            </a:r>
          </a:p>
          <a:p>
            <a:r>
              <a:t>description and the shop name. Is it the grand total, not the change or cash paid? Fix before</a:t>
            </a:r>
          </a:p>
          <a:p>
            <a:r>
              <a:t>saving. App-off warm-up: D-05.</a:t>
            </a:r>
          </a:p>
          <a:p/>
          <a:p>
            <a:r>
              <a:t>Poster: A-P12</a:t>
            </a:r>
          </a:p>
          <a:p>
            <a:r>
              <a:t>Also: A-IMG-09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[APP], 13:43. Anything not measured, too positive, or a crop you don't grow. Correct in</a:t>
            </a:r>
          </a:p>
          <a:p>
            <a:r>
              <a:t>the app where it allows; otherwise on paper and tell the mentor. Then a Lima draft (task A or B)</a:t>
            </a:r>
          </a:p>
          <a:p>
            <a:r>
              <a:t>if time.</a:t>
            </a:r>
          </a:p>
          <a:p/>
          <a:p>
            <a:r>
              <a:t>Poster: A-P12</a:t>
            </a:r>
          </a:p>
          <a:p>
            <a:r>
              <a:t>Also: A-IMG-10, A-ANI-07</a:t>
            </a:r>
          </a:p>
          <a:p>
            <a:r>
              <a:t>Clip A-ANI-07: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14:08. Hands up / hands down: can AI see your soil, replace a soil test or scale, know</a:t>
            </a:r>
          </a:p>
          <a:p>
            <a:r>
              <a:t>your rain or today's market price, know your gogo's knowledge, replace your mentor, sign for you?</a:t>
            </a:r>
          </a:p>
          <a:p>
            <a:r>
              <a:t>Each group adds one thing only people can do. Debrief at 14:23.</a:t>
            </a:r>
          </a:p>
          <a:p/>
          <a:p>
            <a:r>
              <a:t>Poster: A-P13</a:t>
            </a:r>
          </a:p>
          <a:p>
            <a:r>
              <a:t>Also: A-IMG-04, A-ANI-06</a:t>
            </a:r>
          </a:p>
          <a:p>
            <a:r>
              <a:t>Clip A-ANI-06: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A-D2-S4, 14:45. Show yesterday's voice-typing tally. AI learned mostly from English and richer</a:t>
            </a:r>
          </a:p>
          <a:p>
            <a:r>
              <a:t>countries: may picture a man with a tractor and northern seasons; can repeat unfair ideas.</a:t>
            </a:r>
          </a:p>
          <a:p>
            <a:r>
              <a:t>Big computer buildings use electricity and water — use AI when it helps.</a:t>
            </a:r>
          </a:p>
          <a:p/>
          <a:p>
            <a:r>
              <a:t>Poster: A-P13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A-D2-S4, 14:55. K-06 sheet, words or drawings, 8 min; pairs 7 min. Never write the code word.</a:t>
            </a:r>
          </a:p>
          <a:p>
            <a:r>
              <a:t>15:10 end quiz (same corners as Day 1); 15:18 evaluation (forms.md §6, adapted).</a:t>
            </a:r>
          </a:p>
          <a:p/>
          <a:p>
            <a:r>
              <a:t>Poster: A-P14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A-D2-SC, 15:30. One word; one action per group; Question Tree; certificates with the full</a:t>
            </a:r>
          </a:p>
          <a:p>
            <a:r>
              <a:t>ceremony (forms.md §8) — photos only with consent. Kit back. After: delete the fake voice note,</a:t>
            </a:r>
          </a:p>
          <a:p>
            <a:r>
              <a:t>sign spare phones out, log data, daily report with quiz totals.</a:t>
            </a:r>
          </a:p>
          <a:p/>
          <a:p>
            <a:r>
              <a:t>Poster: A-P14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A-D2-01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Welcome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Day 2 of 2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Check before you trust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Two truths and an AI lie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Learning together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group of five learners on plastic chairs under a big shade tree near a small community garden: a gogo, an older man in a hat, two young women, a young man. One phone is shared between the gogo and a young woman; the young woman points at the screen, the gogo laughs. The others lean in. A poster on a fence behind (plain shapes, no text).…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A-D2-02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Check before you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"Plant cabbage 5 cm apart."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Would you do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A-D2-03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The Check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Makes sense here? · Ask again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Second source · Ask a person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Try it small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A-P07 · The Check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wooden ladder leaning against a water tank, five rungs. A farmer (woman, 40s, headscarf, gumboots) climbs it holding a phone. Beside each rung, a small picture: bottom rung — the farmer's own garden with the sun in the north (does it make sense here?); second — a circular arrow around a speech bubble (ask again); third — a seed packet and a product…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A-D2-04   ·   Poster A-P08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How bad if it's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Green: try small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Orange: check a second source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Red: always ask a person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A-P08 · Green · Orange · Red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stacked panels like a traffic light, each also marked with a shape so it works in black and white: **green circle** panel — a pot of food cooking and a seed packet (low harm); **orange triangle** panel — a bed of wilting seedlings and a coin (could cost a crop or money); **red square** panel — a spray bottle, a medicine bottle, a goat lying down,…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A-D2-05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Find the mistakes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4 AI answer cards per group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Circle the mistake · give a colour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Who would you ask?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A-D2-06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Check my own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Yesterday's card: makes sense here?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What colour now?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Write who you will 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A-P07 · The Check Ladder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wooden ladder leaning against a water tank, five rungs. A farmer (woman, 40s, headscarf, gumboots) climbs it holding a phone. Beside each rung, a small picture: bottom rung — the farmer's own garden with the sun in the north (does it make sense here?); second — a circular arrow around a speech bubble (ask again); third — a seed packet and a product…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A-D2-07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Keep yourself 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Your phone is your wallet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A-P09 · Keep it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an open wallet/purse. Inside it, six items each with a closed padlock: ① an ID book/card (green SA-style ID shape, no text, no crest), ② a bank card with a keypad beside it, ③ a phone screen showing six blank boxes (a code), ④ a plain grant card (no logo), ⑤ a framed photo of two children (faces drawn as simple shapes, turned away), ⑥ a…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A-D2-08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Never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ID · bank card &amp; PIN · codes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Grant details · children's faces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Where you are — with strangers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A-P09 · Keep it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an open wallet/purse. Inside it, six items each with a closed padlock: ① an ID book/card (green SA-style ID shape, no text, no crest), ② a bank card with a keypad beside it, ③ a phone screen showing six blank boxes (a code), ④ a plain grant card (no logo), ⑤ a framed photo of two children (faces drawn as simple shapes, turned away), ⑥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A-D2-09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Share or not?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16 cards, 3 piles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Fine · trusted face to face · never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10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Share or not — three piles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Top-down view of a reed mat with three sheets: one with a green circle, one with an orange triangle, one with a red square. Hands of different ages place small cards (blank faces with small icons: an ID shape, a leaf, a padlock, a pin) onto the piles. No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A-D2-10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Lock your WhatsApp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Two-step verification: on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Groups and photo: My contacts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Never send the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Lock your chats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Close-up of two hands (an elder's and a youth's) around an entry-level phone. On the screen: a large padlock over six empty PIN dots, and a toggle switched on. Background soft-focus garden. No real app interface or logo.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A-D2-11   ·   Poster A-P10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Stop · Check ·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STOP — don't click, pay, send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CHECK — call the number you know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ASK — someone you 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A-P10 · Stop · Check ·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big panels side by side, like three steps on a path. ① STOP: a hand held up flat in front of a phone showing a message bubble with an exclamation mark and a clock (hurry). ② CHECK: the same person (young man, cap) phoning on a different, older contact — a phone book page with a familiar face drawn on it. ③ ASK: the young man talking with an older…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A-D2-12   ·   Poster A-P10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Scam or real?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10 message cards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Scam · Real · Not sure — check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Name the warning 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A-P10-ART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A-P10 · Stop · Check ·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big panels side by side, like three steps on a path. ① STOP: a hand held up flat in front of a phone showing a message bubble with an exclamation mark and a clock (hurry). ② CHECK: the same person (young man, cap) phoning on a different, older contact — a phone book page with a familiar face drawn on it. ③ ASK: the young man talking with an older…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A-D2-13   ·   Poster A-P11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Voices and videos can lie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A voice can be copied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A famous face can be faked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Check the message, not the picture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A-P11 · Fake voices, fake 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Left: a phone playing a voice note (sound wave), and behind the phone a shadowy copying-machine shape producing a second identical sound wave. Centre: a video frame of a smiling man in a suit (generic, not a real person) with a pile of banknotes; the edge of his face slightly pixel-broken to hint "fake". Right: a family at home — a mother on the phone…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A-D2-14   ·   Poster A-P11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Family code word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Pairs: one "in trouble", one asks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Agree it face to face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Never write it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family code 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Split scene: left, a mother in her kitchen listening to a voice note, eyebrow raised, finger to chin (thinking); right, the same mother and her adult son face to face on the stoep, both smiling, the son whispering something in her ear (agreeing the code word in person). A thin dotted line joins the two halves.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A-D2-15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AI at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Human or machine?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A-P12 · AI drafts, you own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woman at a table under a shade-net, a phone propped up showing a page of text-lines (lines, not words), a printed page in front of her that she is correcting with a red pen — crossing out one line, writing above it. Beside her, her own harvest book and a crate of spinach bunches with a price tag (blank). Four callouts: ① the red pen on a number,…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A-D2-16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AI drafts. You own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Facts true? Sounds like me?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Nothing private?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Would I sign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A-P12 · AI drafts, you own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woman at a table under a shade-net, a phone propped up showing a page of text-lines (lines, not words), a printed page in front of her that she is correcting with a red pen — crossing out one line, writing above it. Beside her, her own harvest book and a crate of spinach bunches with a price tag (blank). Four callouts: ① the red pen on a number,…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A-D2-17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Draft it, fix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A: selling message · B: price list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C: CV · D: funding request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Red pen: the four checks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Red pen on the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16:9, top-down. A table with: a printed page of lines (no words) with two lines crossed out in red and new squiggles written above; a phone showing a chat bubble; a till slip beside it with a finger tracing a line on the slip; an exercise-book money record open; a red pen. Hands of a young woman.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A-D2-18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Scan a till slip — then check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Records → Spent → scan a slip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Check total, item, shop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The slip wins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A-PHO-05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till slip read in Records → Spent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Side-by-side: a photo of a real till slip (an invented or blurred shop name, no card numbers) and the Records → Spent entry after "scan a till slip" showing total, item and shop. If possible use an example where the reader made a small mistake (e.g. read the change as the total) — mark it with a red circle added on the slide, not in the screenshot.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A-D2-19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Read the report before it goes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Generate a report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Underline anything not true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Correct it before it's sent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A-PHO-06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an AI-written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Screenshot of a Reports page generated for a demo garden. Crop to one paragraph and one chart. No real names or locations.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A-D2-20   ·   Poster A-P13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Only people can do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Feel your soil · measure the rain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Elders' knowledge · your mentor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Our languages: double-check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A-P13 · What AI can't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warm farm scene with a phone lying small on a fence post, screen dark. Around the scene: ① a farmer squeezing a handful of soil and smelling it; ② a rain gauge (a cut 2 ℓ bottle) on a post, with a farmer reading it; ③ a gogo teaching a child to sort seed from a gourd; ④ a mentor and a farmer walking a bed together, talking; ⑤ two people with different…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A-D2-21   ·   Poster A-P13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Fair and green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Weaker in our languages — double-check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Tell it who you are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One good question beats 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Fair and green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Foreground: a small homestead garden with a woman holding a phone, two speech bubbles above her — one full (English-shaped scribbles), one half-empty (her own language). Far background, on the horizon: a large windowless grey building with cooling fans, power lines running to it and a water tower beside it (the data centre). A thin dotted…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A-D2-22   ·   Poster A-P14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My AI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Use AI for · always ask a person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My data rule · my safety step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One person I will teach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A-P14 · My AI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man and a gogo sit together on a bench outside a home, both holding plan sheets (blank lines). Between them, a phone and a small open notebook. Behind them, a flourishing garden bed, a water tank, a hen. Five small picture callouts floating above: ① a seedling in a speech bubble (use AI for ideas); ② two people talking (always ask a person); ③ a…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A-D2-23   ·   Poster A-P14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Well done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Use it to think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Ask a person to decide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Check before you 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Certificate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shakes hands with a proud gogo holding a certificate (blank paper with a simple border and a seal shape, no text); a youth beside her claps; other learners in a semicircle holding their own. Posters on the wall behind (shapes only).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