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A-D1-S0. Register and consent happen at the door before this slide. Greet in the local</a:t>
            </a:r>
          </a:p>
          <a:p>
            <a:r>
              <a:t>language. Agree the call and response ("Buza!" — "Hlola!": ask, then check). Run the start quiz</a:t>
            </a:r>
          </a:p>
          <a:p>
            <a:r>
              <a:t>in the A/B/C corners (README). Don't correct answers today. End with the day promise.</a:t>
            </a:r>
          </a:p>
          <a:p/>
          <a:p>
            <a:r>
              <a:t>Poster: A-P01</a:t>
            </a:r>
          </a:p>
          <a:p>
            <a:r>
              <a:t>Picture A-IMG-01 (coming) — Learning together under a tree: Landscape 16:9. A group of five learners on plastic chairs under a big shade tree near a small community garden: a gogo, an older man in a hat, two young women, a young man. One phone is shared between the gogo and a young woman; the young woman points at the screen, the gogo laughs. The others lean in. A poster on a fence behind (plain shapes, no text). Midday light, sun high in the north; soft shade. Leave the left third calm (Paper-coloured sky and wall) for the slide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A-D1-S1, 09:30. Make groups of 5 first; every group has a phone. Materials person is also the</a:t>
            </a:r>
          </a:p>
          <a:p>
            <a:r>
              <a:t>Phone Keeper. Groups add one rule each. Read the four phone rules. Thumbs up.</a:t>
            </a:r>
          </a:p>
          <a:p/>
          <a:p>
            <a:r>
              <a:t>Poster: A-P01</a:t>
            </a:r>
          </a:p>
          <a:p>
            <a:r>
              <a:t>Picture A-P01-ART (coming) — Artwork for A-P01 · Our class and phone agreement: A circle of eight seated learners of mixed ages and genders under a tree — a gogo with a headscarf, a young man in a cap, a young woman, an older man with a walking stick. Two pairs lean over one shared phone together, smiling. A third phone lies face-down on a knee (silent). One young woman holds up a hand to a person with a phone camera, palm out, polite ("ask first"). A small padlock floats above one phone. Four numbered callout circles: ① on the face-down phone, ② on a shared screen, ③ on the raised hand, ④ on the padlock. Lower third of the poster left empty (paper colour) for the group's own rules written on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A-D1-S1, 09:45. Switch to the room: the Guessing Machine role-play is done live, not on the</a:t>
            </a:r>
          </a:p>
          <a:p>
            <a:r>
              <a:t>screen. Put this slide up while the co-facilitator tallies on flipchart.</a:t>
            </a:r>
          </a:p>
          <a:p/>
          <a:p>
            <a:r>
              <a:t>Poster: A-P02</a:t>
            </a:r>
          </a:p>
          <a:p>
            <a:r>
              <a:t>Picture A-IMG-05 (coming) — The AI desk (facilitator plays the machine): Landscape 16:9. A facilitator (woman, 30s) sits on a chair at the side of a hall wearing a large card on a string round her neck — the card shows a simple drawn phone with a question mark (a drawing, not words). She holds a small stack of cards and reads one in a deadpan, confident way. A group Reporter (young man) stands in front of her with a notebook; two learners behind him grin. Playful, warm.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A-D1-S1. Three sentence starts; tally; put on the AI sign; answer the most common word; the</a:t>
            </a:r>
          </a:p>
          <a:p>
            <a:r>
              <a:t>coughing goat (confident, unsafe); maize "April" (northern seasons). Take the sign off:</a:t>
            </a:r>
          </a:p>
          <a:p>
            <a:r>
              <a:t>"Now I'm me again." The clip is optional — show after the role-play, never instead of it.</a:t>
            </a:r>
          </a:p>
          <a:p/>
          <a:p>
            <a:r>
              <a:t>Poster: A-P02</a:t>
            </a:r>
          </a:p>
          <a:p>
            <a:r>
              <a:t>Clip A-ANI-01: public/course-media/ai-literacy/A-ANI-01.mp4</a:t>
            </a:r>
          </a:p>
          <a:p>
            <a:r>
              <a:t>Picture A-ANI-01 (coming) — The guessing machine: Picture-only sentence game. 0–4 s: many small picture tiles (cups of tea, coffee mugs, water glasses, bowls of amahewu — tea cups most numerous) stream from the left into a simple phone-shaped machine. 4–8 s: a half-sentence picture appears (a sunrise + a person + a cup outline with a question mark). 8–11 s: the machine "thinks" (bubble pulses) and outputs the most common tile — a teacup — with a confident bounce. 11–14 s: beside it, a learner figure holds a different drink (amahewu); a small question mark appears between them. 14–16 s: fade back to the start.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A-D1-S1. Point to the four callouts. Ask: "What doesn't it know about your farm?"</a:t>
            </a:r>
          </a:p>
          <a:p/>
          <a:p>
            <a:r>
              <a:t>Poster: A-P02</a:t>
            </a:r>
          </a:p>
          <a:p>
            <a:r>
              <a:t>Picture A-P02-ART (coming) — Artwork for A-P02 · AI is a guessing machine: Centre: a friendly, simple machine made of a phone shape with a big thought bubble. Left side feeding into it: a tall stream of many small paper pages, books and photographs flying in (the training). Right side coming out: three speech bubbles; the top one has a big tick shape, the middle one a tick, the bottom one a cross — but all three bubbles look equally bold and confident. Below the machine, a small homestead garden (beds, a goat, a water tank) sits behind a closed gate — the machine can't see into it. A farmer (middle-aged woman, gumboots) stands at the gate holding a phone, about to "show" the garden. Callouts: ① on the stream of pages, ② on the machine's thought bubble, ③ on the confident bubble with the cross, ④ on the closed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A-D1-S1, 10:00. Read the 8 statements from the day file one by one; ask one stander and one</a:t>
            </a:r>
          </a:p>
          <a:p>
            <a:r>
              <a:t>sitter "why?"; give the one-line answer. Cut 6 and 8 if short.</a:t>
            </a:r>
          </a:p>
          <a:p/>
          <a:p>
            <a:r>
              <a:t>Poster: A-P02</a:t>
            </a:r>
          </a:p>
          <a:p>
            <a:r>
              <a:t>Picture A-P02-ART (coming) — Artwork for A-P02 · AI is a guessing machine: Centre: a friendly, simple machine made of a phone shape with a big thought bubble. Left side feeding into it: a tall stream of many small paper pages, books and photographs flying in (the training). Right side coming out: three speech bubbles; the top one has a big tick shape, the middle one a tick, the bottom one a cross — but all three bubbles look equally bold and confident. Below the machine, a small homestead garden (beds, a goat, a water tank) sits behind a closed gate — the machine can't see into it. A farmer (middle-aged woman, gumboots) stands at the gate holding a phone, about to "show" the garden. Callouts: ① on the stream of pages, ② on the machine's thought bubble, ③ on the confident bubble with the cross, ④ on the closed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A-D1-S1, 10:10. Groups with a phone find three places; everyone types "Good m…" and watches the</a:t>
            </a:r>
          </a:p>
          <a:p>
            <a:r>
              <a:t>keyboard guess. Picture cards K-02 for sorting. Language time, then take home: show someone the</a:t>
            </a:r>
          </a:p>
          <a:p>
            <a:r>
              <a:t>keyboard guessing.</a:t>
            </a:r>
          </a:p>
          <a:p/>
          <a:p>
            <a:r>
              <a:t>Poster: A-P03</a:t>
            </a:r>
          </a:p>
          <a:p>
            <a:r>
              <a:t>Also: A-IMG-02</a:t>
            </a:r>
          </a:p>
          <a:p>
            <a:r>
              <a:t>Picture A-P03-ART (coming) — Artwork for A-P03 · Where you already meet AI: One large phone in the centre, drawn slightly tilted, held in a youth's hand. Around it, six icon "islands" joined to the phone by dotted lines: a keyboard with three suggestion bubbles above it; a microphone; a chat bubble with a small round ring icon; a camera frame over a leaf; two overlapping speech bubbles (translation); a small seedling in a circle (the garden app's helper). An elder sits beside the youth, looking on, pointing at the keyboard island. Callouts ①–⑥ on the six islands.</a:t>
            </a:r>
          </a:p>
          <a:p>
            <a:r>
              <a:t>Picture A-IMG-02 (coming) — Where AI hides — picture set: Eight square icons (each 800 × 800 px, plus one sheet with all eight): 1. keyboard with three blank suggestion bubbles above; 2. keyboard with a microphone key highlighted; 3. a chat screen with a plain ring icon; 4. phone camera frame over a leaf; 5. two overlapping speech bubbles with different scribble-scripts; 6. a video feed with a thumb scrolling; 7. incoming-call screen with a warning triangle; 8. a phone with a garden-app screen and a help strip along the bottom showing a seedling. Flat, bold, readable at A6. No real logos.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A-D1-S2, 10:50. Hook: "What did you spend on data last week?"</a:t>
            </a:r>
          </a:p>
          <a:p/>
          <a:p>
            <a:r>
              <a:t>Poster: A-P04</a:t>
            </a:r>
          </a:p>
          <a:p>
            <a:r>
              <a:t>Picture A-P04-ART (coming) — Artwork for A-P04 · Save your data: A phone drawn as a clay water pot (a data "pot") with a small tap at the bottom; a few drops fall from it. Around it: ① a photo/video icon with a pause symbol (auto-download off), ② a small photo next to a big photo, the small one ticked (standard quality), ③ a gauge/dial turned to low (data saver), ④ a Wi-Fi fan-shape over a download arrow (updates on Wi-Fi only), ⑤ a voice-note waveform next to a video icon, the waveform smaller. A young woman holds the phone-pot carefully with two hands. Water blue only for the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A-D1-S2, 10:55. Connect to course Wi-Fi. Learners tap it themselves; talk them through. Menus</a:t>
            </a:r>
          </a:p>
          <a:p>
            <a:r>
              <a:t>differ by phone — use the search box in Settings.</a:t>
            </a:r>
          </a:p>
          <a:p/>
          <a:p>
            <a:r>
              <a:t>Poster: A-P04</a:t>
            </a:r>
          </a:p>
          <a:p>
            <a:r>
              <a:t>Picture A-P04-ART (coming) — Artwork for A-P04 · Save your data: A phone drawn as a clay water pot (a data "pot") with a small tap at the bottom; a few drops fall from it. Around it: ① a photo/video icon with a pause symbol (auto-download off), ② a small photo next to a big photo, the small one ticked (standard quality), ③ a gauge/dial turned to low (data saver), ④ a Wi-Fi fan-shape over a download arrow (updates on Wi-Fi only), ⑤ a voice-note waveform next to a video icon, the waveform smaller. A young woman holds the phone-pot carefully with two hands. Water blue only for the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A-D1-S2. Never take a learner's phone. Walk round. Five minutes left at 11:10.</a:t>
            </a:r>
          </a:p>
          <a:p/>
          <a:p>
            <a:r>
              <a:t>Poster: A-P04</a:t>
            </a:r>
          </a:p>
          <a:p>
            <a:r>
              <a:t>Picture A-P04-ART (coming) — Artwork for A-P04 · Save your data: A phone drawn as a clay water pot (a data "pot") with a small tap at the bottom; a few drops fall from it. Around it: ① a photo/video icon with a pause symbol (auto-download off), ② a small photo next to a big photo, the small one ticked (standard quality), ③ a gauge/dial turned to low (data saver), ④ a Wi-Fi fan-shape over a download arrow (updates on Wi-Fi only), ⑤ a voice-note waveform next to a video icon, the waveform smaller. A young woman holds the phone-pot carefully with two hands. Water blue only for the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A-D1-S2, 11:15. First do the AI-desk demo: "Spinach?" → B-00 (useless). Then the five fingers.</a:t>
            </a:r>
          </a:p>
          <a:p>
            <a:r>
              <a:t>Then the full question → B-01 (useful). Ask: which helped more?</a:t>
            </a:r>
          </a:p>
          <a:p/>
          <a:p>
            <a:r>
              <a:t>Poster: A-P05</a:t>
            </a:r>
          </a:p>
          <a:p>
            <a:r>
              <a:t>Picture A-P05-ART (coming) — Artwork for A-P05 · The Question Hand: One big open right hand, palm facing the viewer, brown skin, a farm- worker's hand (a little soil on the fingertips). Beside each finger a small picture: thumb — a simple farmer figure pointing at herself (who I am); pointer — a bed with plants and a water drum (what I have); middle — a target with a seedling in the centre (what I want); ring — three short stacked bars like steps, and a speech bubble (how to answer); little finger — a circular arrow (ask again). Callouts ①–⑤ on the fingers from thumb to little finger.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A-D1-S2. Pairs say the five fingers to each other in their own language (3 minutes).</a:t>
            </a:r>
          </a:p>
          <a:p/>
          <a:p>
            <a:r>
              <a:t>Poster: A-P05</a:t>
            </a:r>
          </a:p>
          <a:p>
            <a:r>
              <a:t>Picture A-P05-ART (coming) — Artwork for A-P05 · The Question Hand: One big open right hand, palm facing the viewer, brown skin, a farm- worker's hand (a little soil on the fingertips). Beside each finger a small picture: thumb — a simple farmer figure pointing at herself (who I am); pointer — a bed with plants and a water drum (what I have); middle — a target with a seedling in the centre (what I want); ring — three short stacked bars like steps, and a speech bubble (how to answer); little finger — a circular arrow (ask again). Callouts ①–⑤ on the fingers from thumb to little finger.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A-D1-S2, 11:30. [PAPER]: an AI chat learners already have (e.g. Meta AI in WhatsApp, where it</a:t>
            </a:r>
          </a:p>
          <a:p>
            <a:r>
              <a:t>shows) — or the AI desk, where the co-facilitator reads the B-cards. A different learner asks</a:t>
            </a:r>
          </a:p>
          <a:p>
            <a:r>
              <a:t>each card. 12:00: round 2 — ask again: shorter; in isiZulu (is the language good?); "what else</a:t>
            </a:r>
          </a:p>
          <a:p>
            <a:r>
              <a:t>do you need to know?" Debrief at 12:15; hand out Question Hand cards.</a:t>
            </a:r>
          </a:p>
          <a:p/>
          <a:p>
            <a:r>
              <a:t>Poster: A-P05</a:t>
            </a:r>
          </a:p>
          <a:p>
            <a:r>
              <a:t>Picture A-IMG-05 (coming) — The AI desk (facilitator plays the machine): Landscape 16:9. A facilitator (woman, 30s) sits on a chair at the side of a hall wearing a large card on a string round her neck — the card shows a simple drawn phone with a question mark (a drawing, not words). She holds a small stack of cards and reads one in a deadpan, confident way. A group Reporter (young man) stands in front of her with a notebook; two learners behind him grin. Playful, warm.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A-D1-S2 [APP], 11:30. Show your own phone first (1 min). Lima is the app's AI helper — it can</a:t>
            </a:r>
          </a:p>
          <a:p>
            <a:r>
              <a:t>still be wrong. Same recording as the [PAPER] track: 3 main points and one "?".</a:t>
            </a:r>
          </a:p>
          <a:p/>
          <a:p>
            <a:r>
              <a:t>Poster: A-P05</a:t>
            </a:r>
          </a:p>
          <a:p>
            <a:r>
              <a:t>Picture A-PHO-01 (coming) — Screen: the Lima help strip: Screenshot captured on Day 0 from a **sample/demo account** (no real farmer data): ImbewuField Home with the Lima help strip at the bottom, then Lima answering a Question-Hand question about spinach holes. Crop to the phone frame. Recapture before each course if the screen has changed. Blur anything personal.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A-D1-S3, 13:15. Energiser first: Broken Telephone. Then voice typing in pairs — English, then</a:t>
            </a:r>
          </a:p>
          <a:p>
            <a:r>
              <a:t>first language; read back and fix. Tally: did our language work?</a:t>
            </a:r>
          </a:p>
          <a:p/>
          <a:p>
            <a:r>
              <a:t>Poster: A-P06</a:t>
            </a:r>
          </a:p>
          <a:p>
            <a:r>
              <a:t>Picture A-P06-ART (coming) — Artwork for A-P06 · Ask with your voice and a photo: Top half: an older man speaking into a phone held near his mouth, a sound-wave shape flowing into the phone; a small keyboard with a microphone key glows. Bottom half: a young woman crouched by a bed, photographing a single leaf with holes. Sun behind her in the **north** (upper part of the sky, compass rose in the corner showing N up), her shadow falling away from the sun, not on the leaf. Beside the leaf, her other hand spread flat for size. Five callouts on the bottom half: ① the sun behind her, ② the phone close to the leaf, ③ both her hands steady, ④ one single leaf, ⑤ the hand for size. One callout ⑥ on the talking 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A-D1-S3, 13:35. Show two photos: blurry vs clear. Point the five callouts. Add: both sides of a</a:t>
            </a:r>
          </a:p>
          <a:p>
            <a:r>
              <a:t>sick leaf, and the whole plant.</a:t>
            </a:r>
          </a:p>
          <a:p/>
          <a:p>
            <a:r>
              <a:t>Poster: A-P06</a:t>
            </a:r>
          </a:p>
          <a:p>
            <a:r>
              <a:t>Also: A-P06-ART</a:t>
            </a:r>
          </a:p>
          <a:p>
            <a:r>
              <a:t>Clip A-ANI-02: public/course-media/ai-literacy/A-ANI-02.mp4</a:t>
            </a:r>
          </a:p>
          <a:p>
            <a:r>
              <a:t>Picture A-ANI-02 (coming) — Good photo, bad photo: Phone camera view of a leaf with holes. 0–3 s: dark, blurry, far away, sun flaring in the lens. 3–6 s: the photographer turns so the sun (north, top of sky) is behind her — flare gone. 6–9 s: phone moves close; leaf fills the frame. 9–11 s: a finger taps the leaf — it snaps sharp. 11–13 s: a flat hand slides in beside the leaf for size; a tick appears. 13–14 s: hold.</a:t>
            </a:r>
          </a:p>
          <a:p>
            <a:r>
              <a:t>Picture A-P06-ART (coming) — Artwork for A-P06 · Ask with your voice and a photo: Top half: an older man speaking into a phone held near his mouth, a sound-wave shape flowing into the phone; a small keyboard with a microphone key glows. Bottom half: a young woman crouched by a bed, photographing a single leaf with holes. Sun behind her in the **north** (upper part of the sky, compass rose in the corner showing N up), her shadow falling away from the sun, not on the leaf. Beside the leaf, her other hand spread flat for size. Five callouts on the bottom half: ① the sun behind her, ② the phone close to the leaf, ③ both her hands steady, ④ one single leaf, ⑤ the hand for size. One callout ⑥ on the talking 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A-D1-S3 [PAPER], 13:42. Google Lens or a chat photo; no-phone groups use the plant photo cards</a:t>
            </a:r>
          </a:p>
          <a:p>
            <a:r>
              <a:t>(K-04) at the AI desk. Weigh station: AI guess vs the scale. Tree: ask the elders. Fill the</a:t>
            </a:r>
          </a:p>
          <a:p>
            <a:r>
              <a:t>Photo check sheet (K-03). Rotate on "Buza!".</a:t>
            </a:r>
          </a:p>
          <a:p/>
          <a:p>
            <a:r>
              <a:t>Poster: A-P06</a:t>
            </a:r>
          </a:p>
          <a:p>
            <a:r>
              <a:t>Picture A-IMG-03 (coming) — Weigh it to check it: Landscape 16:9. At a table outside, a young man photographs a bag of carrots and potatoes with a 2 ℓ plastic water bottle beside it for size. Next to him, an older woman places the same bag on a simple kitchen scale; the dial pointer is visible (no numbers readable). The two look at each other, comparing. Station feel: other groups in the background at a bed and a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A-D1-S3 [APP]. Lima Vision gives a crop, rough kg, weeks to harvest and a confidence label.</a:t>
            </a:r>
          </a:p>
          <a:p>
            <a:r>
              <a:t>Weigh my harvest: photo with a 2 litre bottle beside the produce — then weigh on the scale and</a:t>
            </a:r>
          </a:p>
          <a:p>
            <a:r>
              <a:t>compare. Tree ID: whole tree, leaves, trunk if asked; check the name with the elders. "Protected"</a:t>
            </a:r>
          </a:p>
          <a:p>
            <a:r>
              <a:t>or "invasive" = a lead to check with the extension officer, not a final answer.</a:t>
            </a:r>
          </a:p>
          <a:p/>
          <a:p>
            <a:r>
              <a:t>Poster: A-P06</a:t>
            </a:r>
          </a:p>
          <a:p>
            <a:r>
              <a:t>Also: A-PHO-04</a:t>
            </a:r>
          </a:p>
          <a:p>
            <a:r>
              <a:t>Picture A-PHO-03 (coming) — Screen: Lima Vision result: Two screenshots from a demo account: "What's growing" result (crop, rough kg, weeks to harvest, confidence pill) and "Weigh my harvest" result (estimated kg, confidence pill). Use a real test photo of a bed and of produce beside a 2 ℓ bottle.</a:t>
            </a:r>
          </a:p>
          <a:p>
            <a:r>
              <a:t>Picture A-PHO-04 (coming) — Screen: Tree ID result: Screenshot of a Tree ID result for a common tree (demo account), showing the confidence number and the note. Choose an example where the confidence is **not** 100% — it teaches that confidence varies.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A-D1-S3, 14:22. Three-question debrief. Each station's last group reports.</a:t>
            </a:r>
          </a:p>
          <a:p/>
          <a:p>
            <a:r>
              <a:t>Poster: A-P06</a:t>
            </a:r>
          </a:p>
          <a:p>
            <a:r>
              <a:t>Picture A-IMG-03 (coming) — Weigh it to check it: Landscape 16:9. At a table outside, a young man photographs a bag of carrots and potatoes with a 2 ℓ plastic water bottle beside it for size. Next to him, an older woman places the same bag on a simple kitchen scale; the dial pointer is visible (no numbers readable). The two look at each other, comparing. Station feel: other groups in the background at a bed and a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A-D1-S4, 14:45. Learners use My AI answer cards (K-05). Group phone rotates; AI desk for</a:t>
            </a:r>
          </a:p>
          <a:p>
            <a:r>
              <a:t>no-phone learners. 15:25: green/orange/red dot. Pin cards on "To check tomorrow" (or keep them —</a:t>
            </a:r>
          </a:p>
          <a:p>
            <a:r>
              <a:t>private questions stay private). Medical or animal emergency: stop, help them call now.</a:t>
            </a:r>
          </a:p>
          <a:p/>
          <a:p>
            <a:r>
              <a:t>Poster: A-P05</a:t>
            </a:r>
          </a:p>
          <a:p>
            <a:r>
              <a:t>Picture A-P05-ART (coming) — Artwork for A-P05 · The Question Hand: One big open right hand, palm facing the viewer, brown skin, a farm- worker's hand (a little soil on the fingertips). Beside each finger a small picture: thumb — a simple farmer figure pointing at herself (who I am); pointer — a bed with plants and a water drum (what I have); middle — a target with a seedling in the centre (what I want); ring — three short stacked bars like steps, and a speech bubble (how to answer); little finger — a circular arrow (ask again). Callouts ①–⑤ on the fingers from thumb to little finger.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A-D1-SC, 15:40. One word; group take-home actions; Question Tree; phones, power banks and card</a:t>
            </a:r>
          </a:p>
          <a:p>
            <a:r>
              <a:t>sets back. After: log data used, PM register, daily report, pick 3 answer cards for tomorrow.</a:t>
            </a:r>
          </a:p>
          <a:p/>
          <a:p>
            <a:r>
              <a:t>Poster: A-P05</a:t>
            </a:r>
          </a:p>
          <a:p>
            <a:r>
              <a:t>Picture A-IMG-01 (coming) — Learning together under a tree: Landscape 16:9. A group of five learners on plastic chairs under a big shade tree near a small community garden: a gogo, an older man in a hat, two young women, a young man. One phone is shared between the gogo and a young woman; the young woman points at the screen, the gogo laughs. The others lean in. A poster on a fence behind (plain shapes, no text). Midday light, sun high in the north; soft shade. Leave the left third calm (Paper-coloured sky and wall) for the slide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Siyanamukela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Ukuqonda i-AI (AI Literacy)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Ukusebenzisa i-AI ngokuphepha nangendlela ewusizo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Usuku 1 kwezingu-2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Learning together under a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A-IMG-01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Sifunda ndawonye, namaselula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Thulisa iselula, ungayifihli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Nikanani ithuba; celani ngaphambi kokuthwebula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Okuyimfihlo kuhlala kuyimfihlo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A-P01 · Our class and phone agreement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A-P01-ART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9176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433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690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47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204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60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717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974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231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488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176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433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690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47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2040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460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717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974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231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9176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433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690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9472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2040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460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717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974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176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433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6904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9472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2040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460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717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9176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4336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6904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9472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2040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460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91768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4336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6904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9472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2040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7C948"/>
                </a:solidFill>
                <a:latin typeface="Verdana"/>
              </a:rPr>
              <a:t>IPHOSTA A-P02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AI Literacy  ·  A-D1-03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3 / 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09E45"/>
                </a:solidFill>
                <a:latin typeface="Verdana"/>
              </a:rPr>
              <a:t>USUKU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7C948"/>
                </a:solidFill>
                <a:latin typeface="Impact"/>
              </a:rPr>
              <a:t>Iyini i-AI?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Iyini i-AI?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Masidlale kuqala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71232" y="1033272"/>
            <a:ext cx="4114800" cy="4206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The AI desk (facilitator plays the machine)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A-IMG-05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4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Umshini Oqagelayo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Qedani umusho — memezani!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Umshini ukhetha okuvame kakhulu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09752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Umshini uqinisile ngani?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82000" y="2996184"/>
            <a:ext cx="822960" cy="822960"/>
          </a:xfrm>
          <a:prstGeom prst="ellipse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The guessing machine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IVIDIYO · A-ANI-01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I-AI iqagela ngokushesha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Ifunde emagameni nasezithombeni eziningi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Izwakala iqinisekile — noma iphazama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Yazi kuphela lokho oyikhombisa kona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A-P02 · AI is a guessing machine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A-P02-ART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6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9448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111111"/>
                </a:solidFill>
                <a:latin typeface="Impact"/>
              </a:rPr>
              <a:t>Kuyiqiniso noma amanga? Sukumani noma hlalani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01472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42620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38048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8048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42620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Sukuma = kuyiqiniso · Hlala = amanga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42188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37616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7616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42188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Imisho engu-8 nge-AI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2407920"/>
            <a:ext cx="5608320" cy="365455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2289048"/>
            <a:ext cx="5608320" cy="365455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82000" y="315620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2000" y="315620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16204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A-P02 · AI is a guessing machine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A-P02-ART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I-AI isivele ikhona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I-keyboard, imakrofoni, ikhamera, i-chat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Ukuhumusha, amavidiyo, izexwayiso ze-spam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Umsizi we-app yengadi (Lima)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A-P03 · Where you already meet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A-P03-ART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9176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433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690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47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204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60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717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974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231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488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176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433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690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47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2040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460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717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974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231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9176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433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690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9472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2040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460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717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974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176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433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6904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9472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2040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460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717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9176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4336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6904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9472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2040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460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91768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4336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6904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9472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2040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7C948"/>
                </a:solidFill>
                <a:latin typeface="Verdana"/>
              </a:rPr>
              <a:t>IPHOSTA A-P04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AI Literacy  ·  A-D1-08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8 / 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09E45"/>
                </a:solidFill>
                <a:latin typeface="Verdana"/>
              </a:rPr>
              <a:t>USUKU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7C948"/>
                </a:solidFill>
                <a:latin typeface="Impact"/>
              </a:rPr>
              <a:t>Buza kahle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Iselula ilungile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Bese kuba yiSandla Semibuzo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71232" y="1033272"/>
            <a:ext cx="4114800" cy="4206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A-P04 · Save your data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A-P04-ART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Yonga idatha yakho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WhatsApp auto-download: vala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Izithombe: Standard · Data saver: vula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Ama-update nge-Wi-Fi kuphela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A-P04 · Save your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A-P04-ART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10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Iselula ilungile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1530096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11111"/>
                </a:solidFill>
                <a:latin typeface="Verdana"/>
              </a:rPr>
              <a:t>Wonke amaselula: izilungiselelo ezi-4, imizuzu eyi-15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727704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681984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81984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27704"/>
            <a:ext cx="4160520" cy="8473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11111"/>
                </a:solidFill>
                <a:latin typeface="Verdana"/>
              </a:rPr>
              <a:t>Nina nichofoza, iqembu liyafunda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66648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62076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2076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66488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11111"/>
                </a:solidFill>
                <a:latin typeface="Verdana"/>
              </a:rPr>
              <a:t>Ninenkinga? I-Help Desk ngesikhathi sesidlo sasemini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A-P04 · Save your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A-P04-ART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Buza ngesandla sonke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Ngingubani · Nginani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Ngifunani · Iphendule kanjani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Buza futhi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A-P05 · The Question 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A-P05-ART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111111"/>
                </a:solidFill>
                <a:latin typeface="Impact"/>
              </a:rPr>
              <a:t>Igama elilodwa noma iminwe emihlanu?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8590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"Isipinashi?" → impendulo ende, engasizi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Iminwe emihlanu → izinyathelo ezi-3 eziwusizo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879092"/>
            <a:ext cx="5608320" cy="41833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760220"/>
            <a:ext cx="5608320" cy="418338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9179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89763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A-P05 · The Question 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A-P05-ART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13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Buzani umbuzo ngensimu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11111"/>
                </a:solidFill>
                <a:latin typeface="Verdana"/>
              </a:rPr>
              <a:t>Amakhadi emibuzo ama-4 eqenjini ngalinye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8632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34060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406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386328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11111"/>
                </a:solidFill>
                <a:latin typeface="Verdana"/>
              </a:rPr>
              <a:t>Bhalani iminwe emihlanu, bese nibuza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66648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62076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2076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66488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11111"/>
                </a:solidFill>
                <a:latin typeface="Verdana"/>
              </a:rPr>
              <a:t>Umbhali: amaphuzu amakhulu ama-3 + "?" elilodwa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The AI desk (facilitator plays the machine)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A-IMG-05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14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00360" y="457200"/>
            <a:ext cx="1143000" cy="32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solidFill>
            <a:srgbClr val="D6336C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Verdana"/>
              </a:rPr>
              <a:t>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960120"/>
            <a:ext cx="958596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Buzani ku-Lima e-app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Vulani ImbewuField · chofozani umugqa wosizo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471672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Buzani ngesandla sonke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467352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46735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Yifundeni ngezwi olimini lwethu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Screen: the Lima help strip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A-PHO-01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9176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6433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690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47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204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608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7176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9744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2312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48800" y="228600"/>
            <a:ext cx="146304" cy="146304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176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433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690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947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2040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4608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7176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9744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23120" y="502920"/>
            <a:ext cx="126187" cy="126187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9176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433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690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9472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2040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4608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7176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97440" y="777240"/>
            <a:ext cx="106070" cy="10607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9176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6433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6904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9472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2040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4608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71760" y="1051560"/>
            <a:ext cx="85953" cy="85953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9176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64336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6904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09472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2040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46080" y="1325880"/>
            <a:ext cx="65836" cy="65836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91768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4336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6904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09472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20400" y="1600200"/>
            <a:ext cx="45720" cy="45720"/>
          </a:xfrm>
          <a:prstGeom prst="ellipse">
            <a:avLst/>
          </a:prstGeom>
          <a:solidFill>
            <a:srgbClr val="1FA3C8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7C948"/>
                </a:solidFill>
                <a:latin typeface="Verdana"/>
              </a:rPr>
              <a:t>IPHOSTA A-P06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AI Literacy  ·  A-D1-15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F8543"/>
                </a:solidFill>
                <a:latin typeface="Verdana"/>
              </a:rPr>
              <a:t>15 / 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09E45"/>
                </a:solidFill>
                <a:latin typeface="Verdana"/>
              </a:rPr>
              <a:t>USUKU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7C948"/>
                </a:solidFill>
                <a:latin typeface="Impact"/>
              </a:rPr>
              <a:t>Khuluma. Khombisa.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6B046"/>
                </a:solidFill>
                <a:latin typeface="Verdana"/>
              </a:rPr>
              <a:t>Izwi lakho nesithombe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71232" y="1033272"/>
            <a:ext cx="4114800" cy="4206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A-P06 · Ask with your voice and a photo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A-P06-ART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Isithombe esicacile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Ukukhanya ngemuva kwakho · eduze · ungazamazami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Into eyodwa · khombisa ubukhulu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Cela uma kukhona umuntu esithombeni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Good photo, bad photo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IVIDIYO · A-ANI-02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17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Iziteshi zezithombe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1530096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11111"/>
                </a:solidFill>
                <a:latin typeface="Verdana"/>
              </a:rPr>
              <a:t>Isitshalo · Ukukala · Isihlahla — imizuzu eyi-12 ngasinye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727704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681984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81984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27704"/>
            <a:ext cx="4160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11111"/>
                </a:solidFill>
                <a:latin typeface="Verdana"/>
              </a:rPr>
              <a:t>I-AI ithini? Iqiniseke kangakanani?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007864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962144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962144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007864"/>
            <a:ext cx="4160520" cy="84734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400" b="1">
                <a:solidFill>
                  <a:srgbClr val="111111"/>
                </a:solidFill>
                <a:latin typeface="Verdana"/>
              </a:rPr>
              <a:t>Nihlole kanjani? Kulungile?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Weigh it to check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A-IMG-03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18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00360" y="457200"/>
            <a:ext cx="1143000" cy="32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solidFill>
            <a:srgbClr val="D6336C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Verdana"/>
              </a:rPr>
              <a:t>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960120"/>
            <a:ext cx="958596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Lima Vision ne-Tree 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106168"/>
            <a:ext cx="4160520" cy="164388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What's growing? (Kukhulani?) · Weigh my harvest (Kala isivuno)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841496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795776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9577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841496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Tree ID esihlahleni esilapha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837176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4791456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9145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837176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Low confidence = ukuqagela nje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Screen: Lima Vision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A-PHO-03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19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Sifundeni ezithombeni?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I-AI ilungise kuphi? Iphazame kuphi?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Sihlole kanjani?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Isikali siyawina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Weigh it to check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A-IMG-03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A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4572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20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2920"/>
            <a:ext cx="1213866" cy="34671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Umbuzo wami weqiniso ngensimu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694688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10616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Wakheni ngeminwe emihlanu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10184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Wubuzeni — ngezwi noma ngokubhala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097528"/>
            <a:ext cx="566928" cy="56692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1FA3C8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Impac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9752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11111"/>
                </a:solidFill>
                <a:latin typeface="Verdana"/>
              </a:rPr>
              <a:t>Kubi kangakanani uma kungalungile? Wufakeni umbala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087880"/>
            <a:ext cx="5608320" cy="397459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Artwork for A-P05 · The Question Hand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POSTER ART · A-P05-ART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633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D6336C"/>
                </a:solidFill>
                <a:latin typeface="Verdana"/>
              </a:rPr>
              <a:t>IPHOSTA A-P05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AI Literacy  ·  A-D1-21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21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A3C8"/>
                </a:solidFill>
                <a:latin typeface="Verdana"/>
              </a:rPr>
              <a:t>USUKU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11111"/>
                </a:solidFill>
                <a:latin typeface="Impact"/>
              </a:rPr>
              <a:t>Isiyingi sokuvala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463040" cy="109728"/>
          </a:xfrm>
          <a:prstGeom prst="rect">
            <a:avLst/>
          </a:prstGeom>
          <a:solidFill>
            <a:srgbClr val="D63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Igama elilodwa ngalolu suku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Hambani nakho: buzani ngesandla sonke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1FA3C8"/>
                </a:solidFill>
                <a:latin typeface="Verdana"/>
              </a:rPr>
              <a:t>■  </a:t>
            </a:r>
            <a:r>
              <a:rPr sz="2600" b="0">
                <a:solidFill>
                  <a:srgbClr val="111111"/>
                </a:solidFill>
                <a:latin typeface="Verdana"/>
              </a:rPr>
              <a:t>Kusasa: hlola ngaphambi kokukholwa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2" y="1932432"/>
            <a:ext cx="5608320" cy="4130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571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6DC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4CB5D3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53535"/>
                </a:solidFill>
                <a:latin typeface="Impact"/>
              </a:rPr>
              <a:t>Learning together under a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C7C7C"/>
                </a:solidFill>
                <a:latin typeface="Verdana"/>
              </a:rPr>
              <a:t>ISITHOMBE · A-IMG-01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