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A-D1-S0. Register and consent happen at the door before this slide. Greet in the local</a:t>
            </a:r>
          </a:p>
          <a:p>
            <a:r>
              <a:t>language. Agree the call and response ("Buza!" — "Hlola!": ask, then check). Run the start quiz</a:t>
            </a:r>
          </a:p>
          <a:p>
            <a:r>
              <a:t>in the A/B/C corners (README). Don't correct answers today. End with the day promise.</a:t>
            </a:r>
          </a:p>
          <a:p/>
          <a:p>
            <a:r>
              <a:t>Poster: A-P01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A-D1-S1, 09:30. Make groups of 5 first; every group has a phone. Materials person is also the</a:t>
            </a:r>
          </a:p>
          <a:p>
            <a:r>
              <a:t>Phone Keeper. Groups add one rule each. Read the four phone rules. Thumbs up.</a:t>
            </a:r>
          </a:p>
          <a:p/>
          <a:p>
            <a:r>
              <a:t>Poster: A-P01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A-D1-S1, 09:45. Switch to the room: the Guessing Machine role-play is done live, not on the</a:t>
            </a:r>
          </a:p>
          <a:p>
            <a:r>
              <a:t>screen. Put this slide up while the co-facilitator tallies on flipchart.</a:t>
            </a:r>
          </a:p>
          <a:p/>
          <a:p>
            <a:r>
              <a:t>Poster: A-P02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A-D1-S1. Three sentence starts; tally; put on the AI sign; answer the most common word; the</a:t>
            </a:r>
          </a:p>
          <a:p>
            <a:r>
              <a:t>coughing goat (confident, unsafe); maize "April" (northern seasons). Take the sign off:</a:t>
            </a:r>
          </a:p>
          <a:p>
            <a:r>
              <a:t>"Now I'm me again." The clip is optional — show after the role-play, never instead of it.</a:t>
            </a:r>
          </a:p>
          <a:p/>
          <a:p>
            <a:r>
              <a:t>Poster: A-P02</a:t>
            </a:r>
          </a:p>
          <a:p>
            <a:r>
              <a:t>Clip A-ANI-01: public/course-media/ai-literacy/A-ANI-01.mp4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A-D1-S1. Point to the four callouts. Ask: "What doesn't it know about your farm?"</a:t>
            </a:r>
          </a:p>
          <a:p/>
          <a:p>
            <a:r>
              <a:t>Poster: A-P02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A-D1-S1, 10:00. Read the 8 statements from the day file one by one; ask one stander and one</a:t>
            </a:r>
          </a:p>
          <a:p>
            <a:r>
              <a:t>sitter "why?"; give the one-line answer. Cut 6 and 8 if short.</a:t>
            </a:r>
          </a:p>
          <a:p/>
          <a:p>
            <a:r>
              <a:t>Poster: A-P02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A-D1-S1, 10:10. Groups with a phone find three places; everyone types "Good m…" and watches the</a:t>
            </a:r>
          </a:p>
          <a:p>
            <a:r>
              <a:t>keyboard guess. Picture cards K-02 for sorting. Language time, then take home: show someone the</a:t>
            </a:r>
          </a:p>
          <a:p>
            <a:r>
              <a:t>keyboard guessing.</a:t>
            </a:r>
          </a:p>
          <a:p/>
          <a:p>
            <a:r>
              <a:t>Poster: A-P03</a:t>
            </a:r>
          </a:p>
          <a:p>
            <a:r>
              <a:t>Also: A-IMG-02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A-D1-S2, 10:50. Hook: "What did you spend on data last week?"</a:t>
            </a:r>
          </a:p>
          <a:p/>
          <a:p>
            <a:r>
              <a:t>Poster: A-P04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A-D1-S2, 10:55. Connect to course Wi-Fi. Learners tap it themselves; talk them through. Menus</a:t>
            </a:r>
          </a:p>
          <a:p>
            <a:r>
              <a:t>differ by phone — use the search box in Settings.</a:t>
            </a:r>
          </a:p>
          <a:p/>
          <a:p>
            <a:r>
              <a:t>Poster: A-P04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A-D1-S2. Never take a learner's phone. Walk round. Five minutes left at 11:10.</a:t>
            </a:r>
          </a:p>
          <a:p/>
          <a:p>
            <a:r>
              <a:t>Poster: A-P04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A-D1-S2, 11:15. First do the AI-desk demo: "Spinach?" → B-00 (useless). Then the five fingers.</a:t>
            </a:r>
          </a:p>
          <a:p>
            <a:r>
              <a:t>Then the full question → B-01 (useful). Ask: which helped more?</a:t>
            </a:r>
          </a:p>
          <a:p/>
          <a:p>
            <a:r>
              <a:t>Poster: A-P05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A-D1-S2. Pairs say the five fingers to each other in their own language (3 minutes).</a:t>
            </a:r>
          </a:p>
          <a:p/>
          <a:p>
            <a:r>
              <a:t>Poster: A-P05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A-D1-S2, 11:30. [PAPER]: an AI chat learners already have (e.g. Meta AI in WhatsApp, where it</a:t>
            </a:r>
          </a:p>
          <a:p>
            <a:r>
              <a:t>shows) — or the AI desk, where the co-facilitator reads the B-cards. A different learner asks</a:t>
            </a:r>
          </a:p>
          <a:p>
            <a:r>
              <a:t>each card. 12:00: round 2 — ask again: shorter; in isiZulu (is the language good?); "what else</a:t>
            </a:r>
          </a:p>
          <a:p>
            <a:r>
              <a:t>do you need to know?" Debrief at 12:15; hand out Question Hand cards.</a:t>
            </a:r>
          </a:p>
          <a:p/>
          <a:p>
            <a:r>
              <a:t>Poster: A-P05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A-D1-S2 [APP], 11:30. Show your own phone first (1 min). Lima is the app's AI helper — it can</a:t>
            </a:r>
          </a:p>
          <a:p>
            <a:r>
              <a:t>still be wrong. Same recording as the [PAPER] track: 3 main points and one "?".</a:t>
            </a:r>
          </a:p>
          <a:p/>
          <a:p>
            <a:r>
              <a:t>Poster: A-P05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A-D1-S3, 13:15. Energiser first: Broken Telephone. Then voice typing in pairs — English, then</a:t>
            </a:r>
          </a:p>
          <a:p>
            <a:r>
              <a:t>first language; read back and fix. Tally: did our language work?</a:t>
            </a:r>
          </a:p>
          <a:p/>
          <a:p>
            <a:r>
              <a:t>Poster: A-P06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A-D1-S3, 13:35. Show two photos: blurry vs clear. Point the five callouts. Add: both sides of a</a:t>
            </a:r>
          </a:p>
          <a:p>
            <a:r>
              <a:t>sick leaf, and the whole plant.</a:t>
            </a:r>
          </a:p>
          <a:p/>
          <a:p>
            <a:r>
              <a:t>Poster: A-P06</a:t>
            </a:r>
          </a:p>
          <a:p>
            <a:r>
              <a:t>Also: A-P06-ART</a:t>
            </a:r>
          </a:p>
          <a:p>
            <a:r>
              <a:t>Clip A-ANI-02: public/course-media/ai-literacy/A-ANI-02.mp4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A-D1-S3 [PAPER], 13:42. Google Lens or a chat photo; no-phone groups use the plant photo cards</a:t>
            </a:r>
          </a:p>
          <a:p>
            <a:r>
              <a:t>(K-04) at the AI desk. Weigh station: AI guess vs the scale. Tree: ask the elders. Fill the</a:t>
            </a:r>
          </a:p>
          <a:p>
            <a:r>
              <a:t>Photo check sheet (K-03). Rotate on "Buza!".</a:t>
            </a:r>
          </a:p>
          <a:p/>
          <a:p>
            <a:r>
              <a:t>Poster: A-P06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A-D1-S3 [APP]. Lima Vision gives a crop, rough kg, weeks to harvest and a confidence label.</a:t>
            </a:r>
          </a:p>
          <a:p>
            <a:r>
              <a:t>Weigh my harvest: photo with a 2 litre bottle beside the produce — then weigh on the scale and</a:t>
            </a:r>
          </a:p>
          <a:p>
            <a:r>
              <a:t>compare. Tree ID: whole tree, leaves, trunk if asked; check the name with the elders. "Protected"</a:t>
            </a:r>
          </a:p>
          <a:p>
            <a:r>
              <a:t>or "invasive" = a lead to check with the extension officer, not a final answer.</a:t>
            </a:r>
          </a:p>
          <a:p/>
          <a:p>
            <a:r>
              <a:t>Poster: A-P06</a:t>
            </a:r>
          </a:p>
          <a:p>
            <a:r>
              <a:t>Also: A-PHO-04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A-D1-S3, 14:22. Three-question debrief. Each station's last group reports.</a:t>
            </a:r>
          </a:p>
          <a:p/>
          <a:p>
            <a:r>
              <a:t>Poster: A-P06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A-D1-S4, 14:45. Learners use My AI answer cards (K-05). Group phone rotates; AI desk for</a:t>
            </a:r>
          </a:p>
          <a:p>
            <a:r>
              <a:t>no-phone learners. 15:25: green/orange/red dot. Pin cards on "To check tomorrow" (or keep them —</a:t>
            </a:r>
          </a:p>
          <a:p>
            <a:r>
              <a:t>private questions stay private). Medical or animal emergency: stop, help them call now.</a:t>
            </a:r>
          </a:p>
          <a:p/>
          <a:p>
            <a:r>
              <a:t>Poster: A-P05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A-D1-SC, 15:40. One word; group take-home actions; Question Tree; phones, power banks and card</a:t>
            </a:r>
          </a:p>
          <a:p>
            <a:r>
              <a:t>sets back. After: log data used, PM register, daily report, pick 3 answer cards for tomorrow.</a:t>
            </a:r>
          </a:p>
          <a:p/>
          <a:p>
            <a:r>
              <a:t>Poster: A-P05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A-D1-01   ·   Poster A-P01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Siyanamukela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Ukuqonda i-AI (AI Literacy)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Ukusebenzisa i-AI ngokuphepha nangendlela ewusizo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Usuku 1 kwezingu-2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IMAGE · A-IMG-01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Learning together under a tree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Landscape 16:9. A group of five learners on plastic chairs under a big shade tree near a small community garden: a gogo, an older man in a hat, two young women, a young man. One phone is shared between the gogo and a young woman; the young woman points at the screen, the gogo laughs. The others lean in. A poster on a fence behind (plain shapes, no text).…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A-D1-02   ·   Poster A-P01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Sifunda ndawonye, namaselula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Thulisa iselula, ungayifihli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Nikanani ithuba; celani ngaphambi kokuthwebula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Okuyimfihlo kuhlala kuyimfihlo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A-P01-ART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A-P01 · Our class and phone agreement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A circle of eight seated learners of mixed ages and genders under a tree — a gogo with a headscarf, a young man in a cap, a young woman, an older man with a walking stick. Two pairs lean over one shared phone together, smiling. A third phone lies face-down on a knee (silent). One young woman holds up a hand to a person with a phone camera, palm out,…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7C948"/>
                </a:solidFill>
                <a:latin typeface="Verdana"/>
              </a:rPr>
              <a:t>A-D1-03   ·   Poster A-P02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7C948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C948"/>
                </a:solidFill>
                <a:latin typeface="Impact"/>
              </a:rPr>
              <a:t>Iyini i-AI?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7C948"/>
                </a:solidFill>
                <a:latin typeface="Verdana"/>
              </a:rPr>
              <a:t>Iyini i-AI?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7C948"/>
                </a:solidFill>
                <a:latin typeface="Verdana"/>
              </a:rPr>
              <a:t>Masidlale kuqala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IMAGE · A-IMG-05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The AI desk (facilitator plays the machine)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Landscape 16:9. A facilitator (woman, 30s) sits on a chair at the side of a hall wearing a large card on a string round her neck — the card shows a simple drawn phone with a question mark (a drawing, not words). She holds a small stack of cards and reads one in a deadpan, confident way. A group Reporter (young man) stands in front of her with a notebook;…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A-D1-04   ·   Poster A-P02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Umshini Oqagelayo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Qedani umusho — memezani!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Umshini ukhetha okuvame kakhulu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Umshini uqinisile ngani?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ANIMATION · A-ANI-01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The guessing machine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Picture-only sentence game. 0–4 s: many small picture tiles (cups of tea, coffee mugs, water glasses, bowls of amahewu — tea cups most numerous) stream from the left into a simple phone-shaped machine. 4–8 s: a half-sentence picture appears (a sunrise + a person + a cup outline with a question mark). 8–11 s: the machine "thinks" (bubble pulses) and…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A-D1-05   ·   Poster A-P02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I-AI iqagela ngokushesha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Ifunde emagameni nasezithombeni eziningi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Izwakala iqinisekile — noma iphazama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Yazi kuphela lokho oyikhombisa kona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A-P02-ART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A-P02 · AI is a guessing machine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Centre: a friendly, simple machine made of a phone shape with a big thought bubble. Left side feeding into it: a tall stream of many small paper pages, books and photographs flying in (the training). Right side coming out: three speech bubbles; the top one has a big tick shape, the middle one a tick, the bottom one a cross — but all three bubbles look…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A-D1-06   ·   Poster A-P02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Kuyiqiniso noma amanga? Sukumani noma hlalani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Sukuma = kuyiqiniso · Hlala = amanga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Imisho engu-8 nge-AI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A-P02-ART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A-P02 · AI is a guessing machine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Centre: a friendly, simple machine made of a phone shape with a big thought bubble. Left side feeding into it: a tall stream of many small paper pages, books and photographs flying in (the training). Right side coming out: three speech bubbles; the top one has a big tick shape, the middle one a tick, the bottom one a cross — but all three bubbles look…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A-D1-07   ·   Poster A-P03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I-AI isivele ikhona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I-keyboard, imakrofoni, ikhamera, i-chat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Ukuhumusha, amavidiyo, izexwayiso ze-spam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Umsizi we-app yengadi (Lima)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A-P03-ART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A-P03 · Where you already meet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One large phone in the centre, drawn slightly tilted, held in a youth's hand. Around it, six icon "islands" joined to the phone by dotted lines: a keyboard with three suggestion bubbles above it; a microphone; a chat bubble with a small round ring icon; a camera frame over a leaf; two overlapping speech bubbles (translation); a small seedling in a circle…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7C948"/>
                </a:solidFill>
                <a:latin typeface="Verdana"/>
              </a:rPr>
              <a:t>A-D1-08   ·   Poster A-P04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7C948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C948"/>
                </a:solidFill>
                <a:latin typeface="Impact"/>
              </a:rPr>
              <a:t>Buza kahle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7C948"/>
                </a:solidFill>
                <a:latin typeface="Verdana"/>
              </a:rPr>
              <a:t>Iselula ilungile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7C948"/>
                </a:solidFill>
                <a:latin typeface="Verdana"/>
              </a:rPr>
              <a:t>Bese kuba yiSandla Semibuzo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A-P04-ART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A-P04 · Save your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A phone drawn as a clay water pot (a data "pot") with a small tap at the bottom; a few drops fall from it. Around it: ① a photo/video icon with a pause symbol (auto-download off), ② a small photo next to a big photo, the small one ticked (standard quality), ③ a gauge/dial turned to low (data saver), ④ a Wi-Fi fan-shape over a download arrow (updates on…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A-D1-09   ·   Poster A-P04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Yonga idatha yakho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WhatsApp auto-download: vala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Izithombe: Standard · Data saver: vula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Ama-update nge-Wi-Fi kuphela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A-P04-ART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A-P04 · Save your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A phone drawn as a clay water pot (a data "pot") with a small tap at the bottom; a few drops fall from it. Around it: ① a photo/video icon with a pause symbol (auto-download off), ② a small photo next to a big photo, the small one ticked (standard quality), ③ a gauge/dial turned to low (data saver), ④ a Wi-Fi fan-shape over a download arrow (updates on…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A-D1-10   ·   Poster A-P04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Iselula ilungile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Wonke amaselula: izilungiselelo ezi-4, imizuzu eyi-15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Nina nichofoza, iqembu liyafunda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Ninenkinga? I-Help Desk ngesikhathi sesidlo sasemini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A-P04-ART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A-P04 · Save your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A phone drawn as a clay water pot (a data "pot") with a small tap at the bottom; a few drops fall from it. Around it: ① a photo/video icon with a pause symbol (auto-download off), ② a small photo next to a big photo, the small one ticked (standard quality), ③ a gauge/dial turned to low (data saver), ④ a Wi-Fi fan-shape over a download arrow (updates on…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A-D1-11   ·   Poster A-P05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Buza ngesandla sonke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11111"/>
                </a:solidFill>
                <a:latin typeface="Verdana"/>
              </a:rPr>
              <a:t>•  Ngingubani · Nginani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11111"/>
                </a:solidFill>
                <a:latin typeface="Verdana"/>
              </a:rPr>
              <a:t>•  Ngifunani · Iphendule kanjani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11111"/>
                </a:solidFill>
                <a:latin typeface="Verdana"/>
              </a:rPr>
              <a:t>•  Buza futhi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A-P05-ART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A-P05 · The Question Hand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One big open right hand, palm facing the viewer, brown skin, a farm- worker's hand (a little soil on the fingertips). Beside each finger a small picture: thumb — a simple farmer figure pointing at herself (who I am); pointer — a bed with plants and a water drum (what I have); middle — a target with a seedling in the centre (what I want); ring — three…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A-D1-12   ·   Poster A-P05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Igama elilodwa noma iminwe emihlanu?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"Isipinashi?" → impendulo ende, engasizi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Iminwe emihlanu → izinyathelo ezi-3 eziwusizo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A-P05-ART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A-P05 · The Question Hand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One big open right hand, palm facing the viewer, brown skin, a farm- worker's hand (a little soil on the fingertips). Beside each finger a small picture: thumb — a simple farmer figure pointing at herself (who I am); pointer — a bed with plants and a water drum (what I have); middle — a target with a seedling in the centre (what I want); ring — three…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A-D1-13   ·   Poster A-P05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Buzani umbuzo ngensimu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Amakhadi emibuzo ama-4 eqenjini ngalinye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Bhalani iminwe emihlanu, bese nibuza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Umbhali: amaphuzu amakhulu ama-3 + "?" elilodwa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IMAGE · A-IMG-05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The AI desk (facilitator plays the machine)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Landscape 16:9. A facilitator (woman, 30s) sits on a chair at the side of a hall wearing a large card on a string round her neck — the card shows a simple drawn phone with a question mark (a drawing, not words). She holds a small stack of cards and reads one in a deadpan, confident way. A group Reporter (young man) stands in front of her with a notebook;…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A-D1-14   ·   Poster A-P05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FFFFF"/>
                </a:solidFill>
                <a:latin typeface="Verdana"/>
              </a:rPr>
              <a:t>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SEBENZANI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Buzani ku-Lima e-app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Vulani ImbewuField · chofozani umugqa wosizo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Buzani ngesandla sonke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Yifundeni ngezwi olimini lwethu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PHOTO · A-PHO-01 · coming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Screen: the Lima help strip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Screenshot captured on Day 0 from a **sample/demo account** (no real farmer data): ImbewuField Home with the Lima help strip at the bottom, then Lima answering a Question-Hand question about spinach holes. Crop to the phone frame. Recapture before each course if the screen has changed. Blur anything personal.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7C948"/>
                </a:solidFill>
                <a:latin typeface="Verdana"/>
              </a:rPr>
              <a:t>A-D1-15   ·   Poster A-P06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7C948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C948"/>
                </a:solidFill>
                <a:latin typeface="Impact"/>
              </a:rPr>
              <a:t>Khuluma. Khombisa.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7C948"/>
                </a:solidFill>
                <a:latin typeface="Verdana"/>
              </a:rPr>
              <a:t>Izwi lakho nesithombe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A-P06-ART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A-P06 · Ask with your voice and a photo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Top half: an older man speaking into a phone held near his mouth, a sound-wave shape flowing into the phone; a small keyboard with a microphone key glows. Bottom half: a young woman crouched by a bed, photographing a single leaf with holes. Sun behind her in the **north** (upper part of the sky, compass rose in the corner showing N up), her shadow…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A-D1-16   ·   Poster A-P06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Isithombe esicacile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Ukukhanya ngemuva kwakho · eduze · ungazamazami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Into eyodwa · khombisa ubukhulu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Cela uma kukhona umuntu esithombeni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ANIMATION · A-ANI-02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Good photo, bad photo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Phone camera view of a leaf with holes. 0–3 s: dark, blurry, far away, sun flaring in the lens. 3–6 s: the photographer turns so the sun (north, top of sky) is behind her — flare gone. 6–9 s: phone moves close; leaf fills the frame. 9–11 s: a finger taps the leaf — it snaps sharp. 11–13 s: a flat hand slides in beside the leaf for size; a tick appears.…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A-D1-17   ·   Poster A-P06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Iziteshi zezithombe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Isitshalo · Ukukala · Isihlahla — imizuzu eyi-12 ngasinye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I-AI ithini? Iqiniseke kangakanani?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Nihlole kanjani? Kulungile?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IMAGE · A-IMG-03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Weigh it to check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Landscape 16:9. At a table outside, a young man photographs a bag of carrots and potatoes with a 2 ℓ plastic water bottle beside it for size. Next to him, an older woman places the same bag on a simple kitchen scale; the dial pointer is visible (no numbers readable). The two look at each other, comparing. Station feel: other groups in the background at a…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A-D1-18   ·   Poster A-P06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FFFFF"/>
                </a:solidFill>
                <a:latin typeface="Verdana"/>
              </a:rPr>
              <a:t>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SEBENZANI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Lima Vision ne-Tree ID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What's growing? (Kukhulani?) · Weigh my harvest (Kala isivuno)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Tree ID esihlahleni esilapha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Low confidence = ukuqagela nje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PHOTO · A-PHO-03 · coming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Screen: Lima Vision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Two screenshots from a demo account: "What's growing" result (crop, rough kg, weeks to harvest, confidence pill) and "Weigh my harvest" result (estimated kg, confidence pill). Use a real test photo of a bed and of produce beside a 2 ℓ bottle.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A-D1-19   ·   Poster A-P06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Sifundeni ezithombeni?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I-AI ilungise kuphi? Iphazame kuphi?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Sihlole kanjani?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Isikali siyawina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IMAGE · A-IMG-03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Weigh it to check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Landscape 16:9. At a table outside, a young man photographs a bag of carrots and potatoes with a 2 ℓ plastic water bottle beside it for size. Next to him, an older woman places the same bag on a simple kitchen scale; the dial pointer is visible (no numbers readable). The two look at each other, comparing. Station feel: other groups in the background at a…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A-D1-20   ·   Poster A-P05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1FA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Umbuzo wami weqiniso ngensimu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Wakheni ngeminwe emihlanu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Wubuzeni — ngezwi noma ngokubhala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11111"/>
                </a:solidFill>
                <a:latin typeface="Verdana"/>
              </a:rPr>
              <a:t>•  Kubi kangakanani uma kungalungile? Wufakeni umbala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POSTER ART · A-P05-ART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Artwork for A-P05 · The Question Hand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One big open right hand, palm facing the viewer, brown skin, a farm- worker's hand (a little soil on the fingertips). Beside each finger a small picture: thumb — a simple farmer figure pointing at herself (who I am); pointer — a bed with plants and a water drum (what I have); middle — a target with a seedling in the centre (what I want); ring — three…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A-D1-21   ·   Poster A-P05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11111"/>
                </a:solidFill>
                <a:latin typeface="Verdana"/>
              </a:rPr>
              <a:t>AI Literacy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11111"/>
                </a:solidFill>
                <a:latin typeface="Impact"/>
              </a:rPr>
              <a:t>Isiyingi sokuvala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Igama elilodwa ngalolu suku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Hambani nakho: buzani ngesandla sonke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11111"/>
                </a:solidFill>
                <a:latin typeface="Verdana"/>
              </a:rPr>
              <a:t>•  Kusasa: hlola ngaphambi kokukholwa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D63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1FA3C8"/>
                </a:solidFill>
                <a:latin typeface="Verdana"/>
              </a:rPr>
              <a:t>IMAGE · A-IMG-01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Impact"/>
              </a:rPr>
              <a:t>Learning together under a tree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11111"/>
                </a:solidFill>
                <a:latin typeface="Verdana"/>
              </a:rPr>
              <a:t>Landscape 16:9. A group of five learners on plastic chairs under a big shade tree near a small community garden: a gogo, an older man in a hat, two young women, a young man. One phone is shared between the gogo and a young woman; the young woman points at the screen, the gogo laughs. The others lean in. A poster on a fence behind (plain shapes, no text).…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